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Lst>
  <p:sldSz cy="6858000" cx="12191675"/>
  <p:notesSz cx="6858000" cy="12191675"/>
  <p:embeddedFontLst>
    <p:embeddedFont>
      <p:font typeface="Cabin"/>
      <p:regular r:id="rId75"/>
      <p:bold r:id="rId76"/>
      <p:italic r:id="rId77"/>
      <p:boldItalic r:id="rId78"/>
    </p:embeddedFont>
    <p:embeddedFont>
      <p:font typeface="Unbounded Light"/>
      <p:regular r:id="rId79"/>
      <p:bold r:id="rId80"/>
    </p:embeddedFont>
    <p:embeddedFont>
      <p:font typeface="Unbounded"/>
      <p:bold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F727DA-F923-405E-B322-1FDDD4D9E247}">
  <a:tblStyle styleId="{07F727DA-F923-405E-B322-1FDDD4D9E24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UnboundedLight-bold.fntdata"/><Relationship Id="rId81" Type="http://schemas.openxmlformats.org/officeDocument/2006/relationships/font" Target="fonts/Unbounde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Cabin-regular.fntdata"/><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Cabin-italic.fntdata"/><Relationship Id="rId32" Type="http://schemas.openxmlformats.org/officeDocument/2006/relationships/slide" Target="slides/slide27.xml"/><Relationship Id="rId76" Type="http://schemas.openxmlformats.org/officeDocument/2006/relationships/font" Target="fonts/Cabin-bold.fntdata"/><Relationship Id="rId35" Type="http://schemas.openxmlformats.org/officeDocument/2006/relationships/slide" Target="slides/slide30.xml"/><Relationship Id="rId79" Type="http://schemas.openxmlformats.org/officeDocument/2006/relationships/font" Target="fonts/UnboundedLight-regular.fntdata"/><Relationship Id="rId34" Type="http://schemas.openxmlformats.org/officeDocument/2006/relationships/slide" Target="slides/slide29.xml"/><Relationship Id="rId78" Type="http://schemas.openxmlformats.org/officeDocument/2006/relationships/font" Target="fonts/Cabin-bold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8c2d6fc09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8c2d6fc09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3f8c2d6fc09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8c2d6fc09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8c2d6fc09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f8c2d6fc09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8c2d6fc09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f8c2d6fc09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f8c2d6fc09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8c2d6fc09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8c2d6fc09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f8c2d6fc09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0" name="Google Shape;750;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5" name="Google Shape;805;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 name="Google Shape;827;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3" name="Google Shape;913;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4" name="Google Shape;914;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2191695" cy="6858000"/>
          </a:xfrm>
          <a:prstGeom prst="rect">
            <a:avLst/>
          </a:prstGeom>
          <a:noFill/>
          <a:ln>
            <a:noFill/>
          </a:ln>
        </p:spPr>
      </p:pic>
      <p:sp>
        <p:nvSpPr>
          <p:cNvPr id="12" name="Google Shape;12;p2"/>
          <p:cNvSpPr/>
          <p:nvPr/>
        </p:nvSpPr>
        <p:spPr>
          <a:xfrm>
            <a:off x="0" y="0"/>
            <a:ext cx="12191695" cy="68580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4" name="Google Shape;14;p2"/>
          <p:cNvSpPr/>
          <p:nvPr/>
        </p:nvSpPr>
        <p:spPr>
          <a:xfrm>
            <a:off x="0" y="0"/>
            <a:ext cx="12191695" cy="6858000"/>
          </a:xfrm>
          <a:prstGeom prst="rect">
            <a:avLst/>
          </a:prstGeom>
          <a:solidFill>
            <a:srgbClr val="112836">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2">
  <p:cSld name="Slide master 2">
    <p:bg>
      <p:bgPr>
        <a:solidFill>
          <a:srgbClr val="000000"/>
        </a:solidFill>
      </p:bgPr>
    </p:bg>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2">
            <a:alphaModFix/>
          </a:blip>
          <a:srcRect b="0" l="0" r="0" t="0"/>
          <a:stretch/>
        </p:blipFill>
        <p:spPr>
          <a:xfrm>
            <a:off x="0" y="0"/>
            <a:ext cx="12191695" cy="6858000"/>
          </a:xfrm>
          <a:prstGeom prst="rect">
            <a:avLst/>
          </a:prstGeom>
          <a:noFill/>
          <a:ln>
            <a:noFill/>
          </a:ln>
        </p:spPr>
      </p:pic>
      <p:sp>
        <p:nvSpPr>
          <p:cNvPr id="17" name="Google Shape;17;p3"/>
          <p:cNvSpPr/>
          <p:nvPr/>
        </p:nvSpPr>
        <p:spPr>
          <a:xfrm>
            <a:off x="0" y="0"/>
            <a:ext cx="12191695" cy="68580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image" Target="../media/image19.png"/><Relationship Id="rId6" Type="http://schemas.openxmlformats.org/officeDocument/2006/relationships/image" Target="../media/image23.png"/><Relationship Id="rId7"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5.png"/><Relationship Id="rId4" Type="http://schemas.openxmlformats.org/officeDocument/2006/relationships/image" Target="../media/image30.png"/><Relationship Id="rId5" Type="http://schemas.openxmlformats.org/officeDocument/2006/relationships/image" Target="../media/image24.png"/><Relationship Id="rId6"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2.png"/><Relationship Id="rId4" Type="http://schemas.openxmlformats.org/officeDocument/2006/relationships/image" Target="../media/image36.png"/><Relationship Id="rId5" Type="http://schemas.openxmlformats.org/officeDocument/2006/relationships/image" Target="../media/image40.png"/><Relationship Id="rId6"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4.png"/><Relationship Id="rId4" Type="http://schemas.openxmlformats.org/officeDocument/2006/relationships/image" Target="../media/image31.png"/><Relationship Id="rId10" Type="http://schemas.openxmlformats.org/officeDocument/2006/relationships/image" Target="../media/image46.png"/><Relationship Id="rId9" Type="http://schemas.openxmlformats.org/officeDocument/2006/relationships/image" Target="../media/image39.png"/><Relationship Id="rId5" Type="http://schemas.openxmlformats.org/officeDocument/2006/relationships/image" Target="../media/image33.png"/><Relationship Id="rId6" Type="http://schemas.openxmlformats.org/officeDocument/2006/relationships/image" Target="../media/image45.png"/><Relationship Id="rId7" Type="http://schemas.openxmlformats.org/officeDocument/2006/relationships/image" Target="../media/image34.png"/><Relationship Id="rId8"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9.png"/><Relationship Id="rId4" Type="http://schemas.openxmlformats.org/officeDocument/2006/relationships/image" Target="../media/image41.jpg"/><Relationship Id="rId5" Type="http://schemas.openxmlformats.org/officeDocument/2006/relationships/image" Target="../media/image57.png"/><Relationship Id="rId6" Type="http://schemas.openxmlformats.org/officeDocument/2006/relationships/image" Target="../media/image5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3.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8.png"/><Relationship Id="rId4" Type="http://schemas.openxmlformats.org/officeDocument/2006/relationships/image" Target="../media/image53.png"/><Relationship Id="rId5" Type="http://schemas.openxmlformats.org/officeDocument/2006/relationships/image" Target="../media/image60.png"/><Relationship Id="rId6" Type="http://schemas.openxmlformats.org/officeDocument/2006/relationships/image" Target="../media/image62.png"/><Relationship Id="rId7" Type="http://schemas.openxmlformats.org/officeDocument/2006/relationships/image" Target="../media/image54.png"/><Relationship Id="rId8" Type="http://schemas.openxmlformats.org/officeDocument/2006/relationships/image" Target="../media/image6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8.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5.png"/><Relationship Id="rId7" Type="http://schemas.openxmlformats.org/officeDocument/2006/relationships/image" Target="../media/image72.png"/><Relationship Id="rId8" Type="http://schemas.openxmlformats.org/officeDocument/2006/relationships/image" Target="../media/image9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9.png"/><Relationship Id="rId4" Type="http://schemas.openxmlformats.org/officeDocument/2006/relationships/image" Target="../media/image61.png"/><Relationship Id="rId9" Type="http://schemas.openxmlformats.org/officeDocument/2006/relationships/image" Target="../media/image94.png"/><Relationship Id="rId5" Type="http://schemas.openxmlformats.org/officeDocument/2006/relationships/image" Target="../media/image71.png"/><Relationship Id="rId6" Type="http://schemas.openxmlformats.org/officeDocument/2006/relationships/image" Target="../media/image70.png"/><Relationship Id="rId7" Type="http://schemas.openxmlformats.org/officeDocument/2006/relationships/image" Target="../media/image67.png"/><Relationship Id="rId8" Type="http://schemas.openxmlformats.org/officeDocument/2006/relationships/image" Target="../media/image7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7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7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8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8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8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7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7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8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7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7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74.jpg"/><Relationship Id="rId4" Type="http://schemas.openxmlformats.org/officeDocument/2006/relationships/image" Target="../media/image80.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8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85.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9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88.png"/><Relationship Id="rId4" Type="http://schemas.openxmlformats.org/officeDocument/2006/relationships/image" Target="../media/image91.png"/><Relationship Id="rId5" Type="http://schemas.openxmlformats.org/officeDocument/2006/relationships/image" Target="../media/image8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9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8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9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96.png"/><Relationship Id="rId4" Type="http://schemas.openxmlformats.org/officeDocument/2006/relationships/image" Target="../media/image90.png"/><Relationship Id="rId5" Type="http://schemas.openxmlformats.org/officeDocument/2006/relationships/image" Target="../media/image9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hyperlink" Target="https://github.com/francesco-raimondo/iiot-drone-coordinator-rust-dock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5"/>
          <p:cNvSpPr/>
          <p:nvPr/>
        </p:nvSpPr>
        <p:spPr>
          <a:xfrm>
            <a:off x="698086" y="2235101"/>
            <a:ext cx="10795524" cy="161925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5100"/>
              <a:buFont typeface="Unbounded"/>
              <a:buNone/>
            </a:pPr>
            <a:r>
              <a:rPr b="1" i="0" lang="en-US" sz="5100" u="none" cap="none" strike="noStrike">
                <a:solidFill>
                  <a:srgbClr val="FFFFFF"/>
                </a:solidFill>
                <a:latin typeface="Unbounded"/>
                <a:ea typeface="Unbounded"/>
                <a:cs typeface="Unbounded"/>
                <a:sym typeface="Unbounded"/>
              </a:rPr>
              <a:t>Resilient Multi-Agent Drone Coordinator</a:t>
            </a:r>
            <a:endParaRPr b="0" i="0" sz="5100" u="none" cap="none" strike="noStrike">
              <a:solidFill>
                <a:schemeClr val="dk1"/>
              </a:solidFill>
              <a:latin typeface="Calibri"/>
              <a:ea typeface="Calibri"/>
              <a:cs typeface="Calibri"/>
              <a:sym typeface="Calibri"/>
            </a:endParaRPr>
          </a:p>
        </p:txBody>
      </p:sp>
      <p:sp>
        <p:nvSpPr>
          <p:cNvPr id="25" name="Google Shape;25;p5"/>
          <p:cNvSpPr/>
          <p:nvPr/>
        </p:nvSpPr>
        <p:spPr>
          <a:xfrm>
            <a:off x="698086" y="4153495"/>
            <a:ext cx="10795524" cy="469404"/>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2950"/>
              <a:buFont typeface="Unbounded"/>
              <a:buNone/>
            </a:pPr>
            <a:r>
              <a:rPr b="0" i="0" lang="en-US" sz="2950" u="none" cap="none" strike="noStrike">
                <a:solidFill>
                  <a:srgbClr val="FFFFFF"/>
                </a:solidFill>
                <a:latin typeface="Unbounded"/>
                <a:ea typeface="Unbounded"/>
                <a:cs typeface="Unbounded"/>
                <a:sym typeface="Unbounded"/>
              </a:rPr>
              <a:t>in Rust with Docker-Based Deployment</a:t>
            </a:r>
            <a:endParaRPr b="0" i="0" sz="2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pic>
        <p:nvPicPr>
          <p:cNvPr descr="preencoded.png" id="31" name="Google Shape;31;p6"/>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32" name="Google Shape;32;p6"/>
          <p:cNvSpPr/>
          <p:nvPr/>
        </p:nvSpPr>
        <p:spPr>
          <a:xfrm>
            <a:off x="5269971" y="574873"/>
            <a:ext cx="6223638"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Project Overview</a:t>
            </a:r>
            <a:endParaRPr b="0" i="0" sz="3650" u="none" cap="none" strike="noStrike">
              <a:solidFill>
                <a:schemeClr val="dk1"/>
              </a:solidFill>
              <a:latin typeface="Calibri"/>
              <a:ea typeface="Calibri"/>
              <a:cs typeface="Calibri"/>
              <a:sym typeface="Calibri"/>
            </a:endParaRPr>
          </a:p>
        </p:txBody>
      </p:sp>
      <p:sp>
        <p:nvSpPr>
          <p:cNvPr id="33" name="Google Shape;33;p6"/>
          <p:cNvSpPr/>
          <p:nvPr/>
        </p:nvSpPr>
        <p:spPr>
          <a:xfrm>
            <a:off x="5269971" y="1460698"/>
            <a:ext cx="6223638" cy="48224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Our core objective is to develop a </a:t>
            </a:r>
            <a:r>
              <a:rPr b="1" i="0" lang="en-US" sz="1550" u="none" cap="none" strike="noStrike">
                <a:solidFill>
                  <a:srgbClr val="CAD6DE"/>
                </a:solidFill>
                <a:latin typeface="Cabin"/>
                <a:ea typeface="Cabin"/>
                <a:cs typeface="Cabin"/>
                <a:sym typeface="Cabin"/>
              </a:rPr>
              <a:t>fault-tolerant coordination system</a:t>
            </a:r>
            <a:r>
              <a:rPr b="0" i="0" lang="en-US" sz="1550" u="none" cap="none" strike="noStrike">
                <a:solidFill>
                  <a:srgbClr val="CAD6DE"/>
                </a:solidFill>
                <a:latin typeface="Cabin"/>
                <a:ea typeface="Cabin"/>
                <a:cs typeface="Cabin"/>
                <a:sym typeface="Cabin"/>
              </a:rPr>
              <a:t> for a drone swarm. This system leverages </a:t>
            </a:r>
            <a:r>
              <a:rPr b="1" i="0" lang="en-US" sz="1550" u="none" cap="none" strike="noStrike">
                <a:solidFill>
                  <a:srgbClr val="CAD6DE"/>
                </a:solidFill>
                <a:latin typeface="Cabin"/>
                <a:ea typeface="Cabin"/>
                <a:cs typeface="Cabin"/>
                <a:sym typeface="Cabin"/>
              </a:rPr>
              <a:t>ROS2</a:t>
            </a:r>
            <a:r>
              <a:rPr b="0" i="0" lang="en-US" sz="1550" u="none" cap="none" strike="noStrike">
                <a:solidFill>
                  <a:srgbClr val="CAD6DE"/>
                </a:solidFill>
                <a:latin typeface="Cabin"/>
                <a:ea typeface="Cabin"/>
                <a:cs typeface="Cabin"/>
                <a:sym typeface="Cabin"/>
              </a:rPr>
              <a:t> and </a:t>
            </a:r>
            <a:r>
              <a:rPr b="1" i="0" lang="en-US" sz="1550" u="none" cap="none" strike="noStrike">
                <a:solidFill>
                  <a:srgbClr val="CAD6DE"/>
                </a:solidFill>
                <a:latin typeface="Cabin"/>
                <a:ea typeface="Cabin"/>
                <a:cs typeface="Cabin"/>
                <a:sym typeface="Cabin"/>
              </a:rPr>
              <a:t>Gazebo</a:t>
            </a:r>
            <a:r>
              <a:rPr b="0" i="0" lang="en-US" sz="1550" u="none" cap="none" strike="noStrike">
                <a:solidFill>
                  <a:srgbClr val="CAD6DE"/>
                </a:solidFill>
                <a:latin typeface="Cabin"/>
                <a:ea typeface="Cabin"/>
                <a:cs typeface="Cabin"/>
                <a:sym typeface="Cabin"/>
              </a:rPr>
              <a:t> for simulation and control, with its underlying logic implemented using a Rust actor-based runtime.</a:t>
            </a:r>
            <a:endParaRPr b="0" i="0" sz="1550" u="none" cap="none" strike="noStrike">
              <a:solidFill>
                <a:schemeClr val="dk1"/>
              </a:solidFill>
              <a:latin typeface="Calibri"/>
              <a:ea typeface="Calibri"/>
              <a:cs typeface="Calibri"/>
              <a:sym typeface="Calibri"/>
            </a:endParaRPr>
          </a:p>
          <a:p>
            <a:pPr indent="0" lvl="0" marL="0" marR="0" rtl="0" algn="l">
              <a:lnSpc>
                <a:spcPct val="133000"/>
              </a:lnSpc>
              <a:spcBef>
                <a:spcPts val="175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Our key technical approach relies on </a:t>
            </a:r>
            <a:r>
              <a:rPr b="1" i="0" lang="en-US" sz="1550" u="none" cap="none" strike="noStrike">
                <a:solidFill>
                  <a:srgbClr val="CAD6DE"/>
                </a:solidFill>
                <a:latin typeface="Cabin"/>
                <a:ea typeface="Cabin"/>
                <a:cs typeface="Cabin"/>
                <a:sym typeface="Cabin"/>
              </a:rPr>
              <a:t>asynchronous message</a:t>
            </a:r>
            <a:r>
              <a:rPr b="0" i="0" lang="en-US" sz="1550" u="none" cap="none" strike="noStrike">
                <a:solidFill>
                  <a:srgbClr val="CAD6DE"/>
                </a:solidFill>
                <a:latin typeface="Cabin"/>
                <a:ea typeface="Cabin"/>
                <a:cs typeface="Cabin"/>
                <a:sym typeface="Cabin"/>
              </a:rPr>
              <a:t> passing for robust inter-drone communication and a </a:t>
            </a:r>
            <a:r>
              <a:rPr b="1" i="0" lang="en-US" sz="1550" u="none" cap="none" strike="noStrike">
                <a:solidFill>
                  <a:srgbClr val="CAD6DE"/>
                </a:solidFill>
                <a:latin typeface="Cabin"/>
                <a:ea typeface="Cabin"/>
                <a:cs typeface="Cabin"/>
                <a:sym typeface="Cabin"/>
              </a:rPr>
              <a:t>leader election</a:t>
            </a:r>
            <a:r>
              <a:rPr b="0" i="0" lang="en-US" sz="1550" u="none" cap="none" strike="noStrike">
                <a:solidFill>
                  <a:srgbClr val="CAD6DE"/>
                </a:solidFill>
                <a:latin typeface="Cabin"/>
                <a:ea typeface="Cabin"/>
                <a:cs typeface="Cabin"/>
                <a:sym typeface="Cabin"/>
              </a:rPr>
              <a:t> mechanism to ensure fault tolerance and </a:t>
            </a:r>
            <a:r>
              <a:rPr b="1" i="0" lang="en-US" sz="1550" u="none" cap="none" strike="noStrike">
                <a:solidFill>
                  <a:srgbClr val="CAD6DE"/>
                </a:solidFill>
                <a:latin typeface="Cabin"/>
                <a:ea typeface="Cabin"/>
                <a:cs typeface="Cabin"/>
                <a:sym typeface="Cabin"/>
              </a:rPr>
              <a:t>system stability</a:t>
            </a:r>
            <a:r>
              <a:rPr b="0" i="0" lang="en-US" sz="1550" u="none" cap="none" strike="noStrike">
                <a:solidFill>
                  <a:srgbClr val="CAD6DE"/>
                </a:solidFill>
                <a:latin typeface="Cabin"/>
                <a:ea typeface="Cabin"/>
                <a:cs typeface="Cabin"/>
                <a:sym typeface="Cabin"/>
              </a:rPr>
              <a:t>.</a:t>
            </a:r>
            <a:endParaRPr b="0" i="0" sz="1550" u="none" cap="none" strike="noStrike">
              <a:solidFill>
                <a:schemeClr val="dk1"/>
              </a:solidFill>
              <a:latin typeface="Calibri"/>
              <a:ea typeface="Calibri"/>
              <a:cs typeface="Calibri"/>
              <a:sym typeface="Calibri"/>
            </a:endParaRPr>
          </a:p>
          <a:p>
            <a:pPr indent="0" lvl="0" marL="0" marR="0" rtl="0" algn="l">
              <a:lnSpc>
                <a:spcPct val="133000"/>
              </a:lnSpc>
              <a:spcBef>
                <a:spcPts val="175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The deployment architecture utilizes </a:t>
            </a:r>
            <a:r>
              <a:rPr b="1" i="0" lang="en-US" sz="1550" u="none" cap="none" strike="noStrike">
                <a:solidFill>
                  <a:srgbClr val="CAD6DE"/>
                </a:solidFill>
                <a:latin typeface="Cabin"/>
                <a:ea typeface="Cabin"/>
                <a:cs typeface="Cabin"/>
                <a:sym typeface="Cabin"/>
              </a:rPr>
              <a:t>Docker containers </a:t>
            </a:r>
            <a:r>
              <a:rPr b="0" i="0" lang="en-US" sz="1550" u="none" cap="none" strike="noStrike">
                <a:solidFill>
                  <a:srgbClr val="CAD6DE"/>
                </a:solidFill>
                <a:latin typeface="Cabin"/>
                <a:ea typeface="Cabin"/>
                <a:cs typeface="Cabin"/>
                <a:sym typeface="Cabin"/>
              </a:rPr>
              <a:t>for each component, ensuring isolated, scalable, and reproducible environments across the drone swarm.</a:t>
            </a:r>
            <a:endParaRPr b="0" i="0" sz="1550" u="none" cap="none" strike="noStrike">
              <a:solidFill>
                <a:schemeClr val="dk1"/>
              </a:solidFill>
              <a:latin typeface="Calibri"/>
              <a:ea typeface="Calibri"/>
              <a:cs typeface="Calibri"/>
              <a:sym typeface="Calibri"/>
            </a:endParaRPr>
          </a:p>
          <a:p>
            <a:pPr indent="0" lvl="0" marL="0" marR="0" rtl="0" algn="l">
              <a:lnSpc>
                <a:spcPct val="133000"/>
              </a:lnSpc>
              <a:spcBef>
                <a:spcPts val="175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For observability and control, the system includes a </a:t>
            </a:r>
            <a:r>
              <a:rPr b="1" i="0" lang="en-US" sz="1550" u="none" cap="none" strike="noStrike">
                <a:solidFill>
                  <a:srgbClr val="CAD6DE"/>
                </a:solidFill>
                <a:latin typeface="Cabin"/>
                <a:ea typeface="Cabin"/>
                <a:cs typeface="Cabin"/>
                <a:sym typeface="Cabin"/>
              </a:rPr>
              <a:t>FastAPI backend</a:t>
            </a:r>
            <a:r>
              <a:rPr b="0" i="0" lang="en-US" sz="1550" u="none" cap="none" strike="noStrike">
                <a:solidFill>
                  <a:srgbClr val="CAD6DE"/>
                </a:solidFill>
                <a:latin typeface="Cabin"/>
                <a:ea typeface="Cabin"/>
                <a:cs typeface="Cabin"/>
                <a:sym typeface="Cabin"/>
              </a:rPr>
              <a:t>, providing a REST interface for monitoring drone status, managing tasks, and receiving system alerts.</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7"/>
          <p:cNvSpPr/>
          <p:nvPr/>
        </p:nvSpPr>
        <p:spPr>
          <a:xfrm>
            <a:off x="698086" y="762695"/>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Expected Deliverables</a:t>
            </a:r>
            <a:endParaRPr b="0" i="0" sz="3650" u="none" cap="none" strike="noStrike">
              <a:solidFill>
                <a:schemeClr val="dk1"/>
              </a:solidFill>
              <a:latin typeface="Calibri"/>
              <a:ea typeface="Calibri"/>
              <a:cs typeface="Calibri"/>
              <a:sym typeface="Calibri"/>
            </a:endParaRPr>
          </a:p>
        </p:txBody>
      </p:sp>
      <p:sp>
        <p:nvSpPr>
          <p:cNvPr id="40" name="Google Shape;40;p7"/>
          <p:cNvSpPr/>
          <p:nvPr/>
        </p:nvSpPr>
        <p:spPr>
          <a:xfrm>
            <a:off x="698086" y="1754485"/>
            <a:ext cx="99712" cy="99715"/>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a:off x="997223" y="1648520"/>
            <a:ext cx="10496387"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Rust based coordinator</a:t>
            </a:r>
            <a:endParaRPr b="0" i="0" sz="1800" u="none" cap="none" strike="noStrike">
              <a:solidFill>
                <a:schemeClr val="dk1"/>
              </a:solidFill>
              <a:latin typeface="Calibri"/>
              <a:ea typeface="Calibri"/>
              <a:cs typeface="Calibri"/>
              <a:sym typeface="Calibri"/>
            </a:endParaRPr>
          </a:p>
        </p:txBody>
      </p:sp>
      <p:sp>
        <p:nvSpPr>
          <p:cNvPr id="42" name="Google Shape;42;p7"/>
          <p:cNvSpPr/>
          <p:nvPr/>
        </p:nvSpPr>
        <p:spPr>
          <a:xfrm>
            <a:off x="698086" y="2446734"/>
            <a:ext cx="99712" cy="99715"/>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p:nvPr/>
        </p:nvSpPr>
        <p:spPr>
          <a:xfrm>
            <a:off x="997223" y="2340769"/>
            <a:ext cx="10496387"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ROS2 node wrappers for each drone agent</a:t>
            </a:r>
            <a:endParaRPr b="0" i="0" sz="1800" u="none" cap="none" strike="noStrike">
              <a:solidFill>
                <a:schemeClr val="dk1"/>
              </a:solidFill>
              <a:latin typeface="Calibri"/>
              <a:ea typeface="Calibri"/>
              <a:cs typeface="Calibri"/>
              <a:sym typeface="Calibri"/>
            </a:endParaRPr>
          </a:p>
        </p:txBody>
      </p:sp>
      <p:sp>
        <p:nvSpPr>
          <p:cNvPr id="44" name="Google Shape;44;p7"/>
          <p:cNvSpPr/>
          <p:nvPr/>
        </p:nvSpPr>
        <p:spPr>
          <a:xfrm>
            <a:off x="698086" y="3138984"/>
            <a:ext cx="99712" cy="99715"/>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7"/>
          <p:cNvSpPr/>
          <p:nvPr/>
        </p:nvSpPr>
        <p:spPr>
          <a:xfrm>
            <a:off x="997223" y="3033018"/>
            <a:ext cx="10496387"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Gazebo simulation scenario</a:t>
            </a:r>
            <a:endParaRPr b="0" i="0" sz="1800" u="none" cap="none" strike="noStrike">
              <a:solidFill>
                <a:schemeClr val="dk1"/>
              </a:solidFill>
              <a:latin typeface="Calibri"/>
              <a:ea typeface="Calibri"/>
              <a:cs typeface="Calibri"/>
              <a:sym typeface="Calibri"/>
            </a:endParaRPr>
          </a:p>
        </p:txBody>
      </p:sp>
      <p:sp>
        <p:nvSpPr>
          <p:cNvPr id="46" name="Google Shape;46;p7"/>
          <p:cNvSpPr/>
          <p:nvPr/>
        </p:nvSpPr>
        <p:spPr>
          <a:xfrm>
            <a:off x="698086" y="3831233"/>
            <a:ext cx="99712" cy="99715"/>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7"/>
          <p:cNvSpPr/>
          <p:nvPr/>
        </p:nvSpPr>
        <p:spPr>
          <a:xfrm>
            <a:off x="997223" y="3725267"/>
            <a:ext cx="10496387"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Docker Compose deployment</a:t>
            </a:r>
            <a:endParaRPr b="0" i="0" sz="1800" u="none" cap="none" strike="noStrike">
              <a:solidFill>
                <a:schemeClr val="dk1"/>
              </a:solidFill>
              <a:latin typeface="Calibri"/>
              <a:ea typeface="Calibri"/>
              <a:cs typeface="Calibri"/>
              <a:sym typeface="Calibri"/>
            </a:endParaRPr>
          </a:p>
        </p:txBody>
      </p:sp>
      <p:sp>
        <p:nvSpPr>
          <p:cNvPr id="48" name="Google Shape;48;p7"/>
          <p:cNvSpPr/>
          <p:nvPr/>
        </p:nvSpPr>
        <p:spPr>
          <a:xfrm>
            <a:off x="698086" y="4523482"/>
            <a:ext cx="99712" cy="99715"/>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p:nvPr/>
        </p:nvSpPr>
        <p:spPr>
          <a:xfrm>
            <a:off x="997223" y="4417516"/>
            <a:ext cx="10496387"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FastAPI observability backend</a:t>
            </a:r>
            <a:endParaRPr b="0" i="0" sz="1800" u="none" cap="none" strike="noStrike">
              <a:solidFill>
                <a:schemeClr val="dk1"/>
              </a:solidFill>
              <a:latin typeface="Calibri"/>
              <a:ea typeface="Calibri"/>
              <a:cs typeface="Calibri"/>
              <a:sym typeface="Calibri"/>
            </a:endParaRPr>
          </a:p>
        </p:txBody>
      </p:sp>
      <p:sp>
        <p:nvSpPr>
          <p:cNvPr id="50" name="Google Shape;50;p7"/>
          <p:cNvSpPr/>
          <p:nvPr/>
        </p:nvSpPr>
        <p:spPr>
          <a:xfrm>
            <a:off x="698086" y="5215731"/>
            <a:ext cx="99712" cy="99715"/>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a:off x="997223" y="5109766"/>
            <a:ext cx="10496387"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Formal model of the FSM </a:t>
            </a:r>
            <a:endParaRPr b="0" i="0" sz="1800" u="none" cap="none" strike="noStrike">
              <a:solidFill>
                <a:schemeClr val="dk1"/>
              </a:solidFill>
              <a:latin typeface="Calibri"/>
              <a:ea typeface="Calibri"/>
              <a:cs typeface="Calibri"/>
              <a:sym typeface="Calibri"/>
            </a:endParaRPr>
          </a:p>
        </p:txBody>
      </p:sp>
      <p:sp>
        <p:nvSpPr>
          <p:cNvPr id="52" name="Google Shape;52;p7"/>
          <p:cNvSpPr/>
          <p:nvPr/>
        </p:nvSpPr>
        <p:spPr>
          <a:xfrm>
            <a:off x="698086" y="5907980"/>
            <a:ext cx="99712" cy="99715"/>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p:nvPr/>
        </p:nvSpPr>
        <p:spPr>
          <a:xfrm>
            <a:off x="997223" y="5802015"/>
            <a:ext cx="10496387"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Public GitHub repository with documentation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8"/>
          <p:cNvSpPr/>
          <p:nvPr/>
        </p:nvSpPr>
        <p:spPr>
          <a:xfrm>
            <a:off x="698086" y="549970"/>
            <a:ext cx="10795524" cy="66675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4150"/>
              <a:buFont typeface="Unbounded"/>
              <a:buNone/>
            </a:pPr>
            <a:r>
              <a:rPr b="0" i="0" lang="en-US" sz="4150" u="none" cap="none" strike="noStrike">
                <a:solidFill>
                  <a:srgbClr val="FFFFFF"/>
                </a:solidFill>
                <a:latin typeface="Unbounded"/>
                <a:ea typeface="Unbounded"/>
                <a:cs typeface="Unbounded"/>
                <a:sym typeface="Unbounded"/>
              </a:rPr>
              <a:t>Architecture:</a:t>
            </a:r>
            <a:endParaRPr b="0" i="0" sz="4150" u="none" cap="none" strike="noStrike">
              <a:solidFill>
                <a:schemeClr val="dk1"/>
              </a:solidFill>
              <a:latin typeface="Calibri"/>
              <a:ea typeface="Calibri"/>
              <a:cs typeface="Calibri"/>
              <a:sym typeface="Calibri"/>
            </a:endParaRPr>
          </a:p>
        </p:txBody>
      </p:sp>
      <p:pic>
        <p:nvPicPr>
          <p:cNvPr id="60" name="Google Shape;60;p8"/>
          <p:cNvPicPr preferRelativeResize="0"/>
          <p:nvPr/>
        </p:nvPicPr>
        <p:blipFill>
          <a:blip r:embed="rId3">
            <a:alphaModFix/>
          </a:blip>
          <a:stretch>
            <a:fillRect/>
          </a:stretch>
        </p:blipFill>
        <p:spPr>
          <a:xfrm>
            <a:off x="945313" y="1282670"/>
            <a:ext cx="10301048" cy="533647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descr="preencoded.png" id="66" name="Google Shape;66;p9"/>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67" name="Google Shape;67;p9"/>
          <p:cNvSpPr/>
          <p:nvPr/>
        </p:nvSpPr>
        <p:spPr>
          <a:xfrm>
            <a:off x="5269971" y="1816497"/>
            <a:ext cx="6223638" cy="176004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DDS and Communication Architecture</a:t>
            </a:r>
            <a:endParaRPr b="0" i="0" sz="3650" u="none" cap="none" strike="noStrike">
              <a:solidFill>
                <a:schemeClr val="dk1"/>
              </a:solidFill>
              <a:latin typeface="Calibri"/>
              <a:ea typeface="Calibri"/>
              <a:cs typeface="Calibri"/>
              <a:sym typeface="Calibri"/>
            </a:endParaRPr>
          </a:p>
        </p:txBody>
      </p:sp>
      <p:sp>
        <p:nvSpPr>
          <p:cNvPr id="68" name="Google Shape;68;p9"/>
          <p:cNvSpPr/>
          <p:nvPr/>
        </p:nvSpPr>
        <p:spPr>
          <a:xfrm>
            <a:off x="5269971" y="3875683"/>
            <a:ext cx="6223638"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A988B"/>
              </a:buClr>
              <a:buSzPts val="1550"/>
              <a:buFont typeface="Cabin"/>
              <a:buNone/>
            </a:pPr>
            <a:r>
              <a:rPr b="0" i="0" lang="en-US" sz="1550" u="none" cap="none" strike="noStrike">
                <a:solidFill>
                  <a:srgbClr val="0A988B"/>
                </a:solidFill>
                <a:latin typeface="Cabin"/>
                <a:ea typeface="Cabin"/>
                <a:cs typeface="Cabin"/>
                <a:sym typeface="Cabin"/>
              </a:rPr>
              <a:t>Swarm of drones Coordinator</a:t>
            </a:r>
            <a:r>
              <a:rPr b="0" i="0" lang="en-US" sz="1550" u="none" cap="none" strike="noStrike">
                <a:solidFill>
                  <a:srgbClr val="CAD6DE"/>
                </a:solidFill>
                <a:latin typeface="Cabin"/>
                <a:ea typeface="Cabin"/>
                <a:cs typeface="Cabin"/>
                <a:sym typeface="Cabin"/>
              </a:rPr>
              <a:t> — Data Distribution Service for real-time distributed systems</a:t>
            </a:r>
            <a:endParaRPr b="0" i="0" sz="1550" u="none" cap="none" strike="noStrike">
              <a:solidFill>
                <a:schemeClr val="dk1"/>
              </a:solidFill>
              <a:latin typeface="Calibri"/>
              <a:ea typeface="Calibri"/>
              <a:cs typeface="Calibri"/>
              <a:sym typeface="Calibri"/>
            </a:endParaRPr>
          </a:p>
        </p:txBody>
      </p:sp>
      <p:sp>
        <p:nvSpPr>
          <p:cNvPr id="69" name="Google Shape;69;p9"/>
          <p:cNvSpPr/>
          <p:nvPr/>
        </p:nvSpPr>
        <p:spPr>
          <a:xfrm>
            <a:off x="5269971" y="4738390"/>
            <a:ext cx="1437941" cy="303113"/>
          </a:xfrm>
          <a:prstGeom prst="roundRect">
            <a:avLst>
              <a:gd fmla="val 7897"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9"/>
          <p:cNvSpPr/>
          <p:nvPr/>
        </p:nvSpPr>
        <p:spPr>
          <a:xfrm>
            <a:off x="5389626" y="4798219"/>
            <a:ext cx="1808216"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OMG STANDARD</a:t>
            </a:r>
            <a:endParaRPr b="0" i="0" sz="1250" u="none" cap="none" strike="noStrike">
              <a:solidFill>
                <a:schemeClr val="dk1"/>
              </a:solidFill>
              <a:latin typeface="Calibri"/>
              <a:ea typeface="Calibri"/>
              <a:cs typeface="Calibri"/>
              <a:sym typeface="Calibri"/>
            </a:endParaRPr>
          </a:p>
        </p:txBody>
      </p:sp>
      <p:sp>
        <p:nvSpPr>
          <p:cNvPr id="71" name="Google Shape;71;p9"/>
          <p:cNvSpPr/>
          <p:nvPr/>
        </p:nvSpPr>
        <p:spPr>
          <a:xfrm>
            <a:off x="6807625" y="4738390"/>
            <a:ext cx="1704734" cy="303113"/>
          </a:xfrm>
          <a:prstGeom prst="roundRect">
            <a:avLst>
              <a:gd fmla="val 7897" name="adj"/>
            </a:avLst>
          </a:prstGeom>
          <a:noFill/>
          <a:ln cap="flat" cmpd="sng" w="9525">
            <a:solidFill>
              <a:srgbClr val="0A98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9"/>
          <p:cNvSpPr/>
          <p:nvPr/>
        </p:nvSpPr>
        <p:spPr>
          <a:xfrm>
            <a:off x="6927280" y="4798219"/>
            <a:ext cx="2075009"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0A988B"/>
              </a:buClr>
              <a:buSzPts val="1250"/>
              <a:buFont typeface="Cabin"/>
              <a:buNone/>
            </a:pPr>
            <a:r>
              <a:rPr b="0" i="0" lang="en-US" sz="1250" u="none" cap="none" strike="noStrike">
                <a:solidFill>
                  <a:srgbClr val="0A988B"/>
                </a:solidFill>
                <a:latin typeface="Cabin"/>
                <a:ea typeface="Cabin"/>
                <a:cs typeface="Cabin"/>
                <a:sym typeface="Cabin"/>
              </a:rPr>
              <a:t>REAL-TIME SYSTEMS</a:t>
            </a:r>
            <a:endParaRPr b="0" i="0" sz="1250" u="none" cap="none" strike="noStrike">
              <a:solidFill>
                <a:schemeClr val="dk1"/>
              </a:solidFill>
              <a:latin typeface="Calibri"/>
              <a:ea typeface="Calibri"/>
              <a:cs typeface="Calibri"/>
              <a:sym typeface="Calibri"/>
            </a:endParaRPr>
          </a:p>
        </p:txBody>
      </p:sp>
      <p:sp>
        <p:nvSpPr>
          <p:cNvPr id="73" name="Google Shape;73;p9"/>
          <p:cNvSpPr/>
          <p:nvPr/>
        </p:nvSpPr>
        <p:spPr>
          <a:xfrm>
            <a:off x="8612071" y="4738390"/>
            <a:ext cx="524755" cy="303113"/>
          </a:xfrm>
          <a:prstGeom prst="roundRect">
            <a:avLst>
              <a:gd fmla="val 7897" name="adj"/>
            </a:avLst>
          </a:prstGeom>
          <a:noFill/>
          <a:ln cap="flat" cmpd="sng" w="9525">
            <a:solidFill>
              <a:srgbClr val="0A98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9"/>
          <p:cNvSpPr/>
          <p:nvPr/>
        </p:nvSpPr>
        <p:spPr>
          <a:xfrm>
            <a:off x="8731726" y="4798219"/>
            <a:ext cx="895030"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0A988B"/>
              </a:buClr>
              <a:buSzPts val="1250"/>
              <a:buFont typeface="Cabin"/>
              <a:buNone/>
            </a:pPr>
            <a:r>
              <a:rPr b="0" i="0" lang="en-US" sz="1250" u="none" cap="none" strike="noStrike">
                <a:solidFill>
                  <a:srgbClr val="0A988B"/>
                </a:solidFill>
                <a:latin typeface="Cabin"/>
                <a:ea typeface="Cabin"/>
                <a:cs typeface="Cabin"/>
                <a:sym typeface="Cabin"/>
              </a:rPr>
              <a:t>IIOT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0"/>
          <p:cNvSpPr/>
          <p:nvPr/>
        </p:nvSpPr>
        <p:spPr>
          <a:xfrm>
            <a:off x="698086" y="1218803"/>
            <a:ext cx="1079552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Formal Definition</a:t>
            </a:r>
            <a:endParaRPr b="0" i="0" sz="1800" u="none" cap="none" strike="noStrike">
              <a:solidFill>
                <a:schemeClr val="dk1"/>
              </a:solidFill>
              <a:latin typeface="Calibri"/>
              <a:ea typeface="Calibri"/>
              <a:cs typeface="Calibri"/>
              <a:sym typeface="Calibri"/>
            </a:endParaRPr>
          </a:p>
        </p:txBody>
      </p:sp>
      <p:sp>
        <p:nvSpPr>
          <p:cNvPr id="81" name="Google Shape;81;p10"/>
          <p:cNvSpPr/>
          <p:nvPr/>
        </p:nvSpPr>
        <p:spPr>
          <a:xfrm>
            <a:off x="698086" y="1591866"/>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What is DDS?</a:t>
            </a:r>
            <a:endParaRPr b="0" i="0" sz="3650" u="none" cap="none" strike="noStrike">
              <a:solidFill>
                <a:schemeClr val="dk1"/>
              </a:solidFill>
              <a:latin typeface="Calibri"/>
              <a:ea typeface="Calibri"/>
              <a:cs typeface="Calibri"/>
              <a:sym typeface="Calibri"/>
            </a:endParaRPr>
          </a:p>
        </p:txBody>
      </p:sp>
      <p:sp>
        <p:nvSpPr>
          <p:cNvPr id="82" name="Google Shape;82;p10"/>
          <p:cNvSpPr/>
          <p:nvPr/>
        </p:nvSpPr>
        <p:spPr>
          <a:xfrm>
            <a:off x="698086" y="2477691"/>
            <a:ext cx="10795524" cy="118189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1" i="0" lang="en-US" sz="1550" u="none" cap="none" strike="noStrike">
                <a:solidFill>
                  <a:srgbClr val="CAD6DE"/>
                </a:solidFill>
                <a:latin typeface="Cabin"/>
                <a:ea typeface="Cabin"/>
                <a:cs typeface="Cabin"/>
                <a:sym typeface="Cabin"/>
              </a:rPr>
              <a:t>DDS (Data Distribution Service for Real-Time Systems)</a:t>
            </a:r>
            <a:r>
              <a:rPr b="0" i="0" lang="en-US" sz="1550" u="none" cap="none" strike="noStrike">
                <a:solidFill>
                  <a:srgbClr val="CAD6DE"/>
                </a:solidFill>
                <a:latin typeface="Cabin"/>
                <a:ea typeface="Cabin"/>
                <a:cs typeface="Cabin"/>
                <a:sym typeface="Cabin"/>
              </a:rPr>
              <a:t> is an OMG (Object Management Group) standard that defines a </a:t>
            </a:r>
            <a:r>
              <a:rPr b="1" i="0" lang="en-US" sz="1550" u="none" cap="none" strike="noStrike">
                <a:solidFill>
                  <a:srgbClr val="CAD6DE"/>
                </a:solidFill>
                <a:latin typeface="Cabin"/>
                <a:ea typeface="Cabin"/>
                <a:cs typeface="Cabin"/>
                <a:sym typeface="Cabin"/>
              </a:rPr>
              <a:t>data-centric publish/subscribe</a:t>
            </a:r>
            <a:r>
              <a:rPr b="0" i="0" lang="en-US" sz="1550" u="none" cap="none" strike="noStrike">
                <a:solidFill>
                  <a:srgbClr val="CAD6DE"/>
                </a:solidFill>
                <a:latin typeface="Cabin"/>
                <a:ea typeface="Cabin"/>
                <a:cs typeface="Cabin"/>
                <a:sym typeface="Cabin"/>
              </a:rPr>
              <a:t> communication middleware for real-time distributed systems.</a:t>
            </a:r>
            <a:endParaRPr b="0" i="0" sz="1550" u="none" cap="none" strike="noStrike">
              <a:solidFill>
                <a:schemeClr val="dk1"/>
              </a:solidFill>
              <a:latin typeface="Calibri"/>
              <a:ea typeface="Calibri"/>
              <a:cs typeface="Calibri"/>
              <a:sym typeface="Calibri"/>
            </a:endParaRPr>
          </a:p>
          <a:p>
            <a:pPr indent="0" lvl="0" marL="0" marR="0" rtl="0" algn="l">
              <a:lnSpc>
                <a:spcPct val="133000"/>
              </a:lnSpc>
              <a:spcBef>
                <a:spcPts val="175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There are nowadays several variants of this protocol, like the wired one (RTPS).</a:t>
            </a:r>
            <a:endParaRPr b="0" i="0" sz="1550" u="none" cap="none" strike="noStrike">
              <a:solidFill>
                <a:schemeClr val="dk1"/>
              </a:solidFill>
              <a:latin typeface="Calibri"/>
              <a:ea typeface="Calibri"/>
              <a:cs typeface="Calibri"/>
              <a:sym typeface="Calibri"/>
            </a:endParaRPr>
          </a:p>
        </p:txBody>
      </p:sp>
      <p:sp>
        <p:nvSpPr>
          <p:cNvPr id="83" name="Google Shape;83;p10"/>
          <p:cNvSpPr/>
          <p:nvPr/>
        </p:nvSpPr>
        <p:spPr>
          <a:xfrm>
            <a:off x="698086" y="3883918"/>
            <a:ext cx="10795524" cy="1755279"/>
          </a:xfrm>
          <a:prstGeom prst="roundRect">
            <a:avLst>
              <a:gd fmla="val 1705"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4" name="Google Shape;84;p10"/>
          <p:cNvPicPr preferRelativeResize="0"/>
          <p:nvPr/>
        </p:nvPicPr>
        <p:blipFill rotWithShape="1">
          <a:blip r:embed="rId3">
            <a:alphaModFix/>
          </a:blip>
          <a:srcRect b="0" l="0" r="0" t="0"/>
          <a:stretch/>
        </p:blipFill>
        <p:spPr>
          <a:xfrm>
            <a:off x="897510" y="4174530"/>
            <a:ext cx="249330" cy="199430"/>
          </a:xfrm>
          <a:prstGeom prst="rect">
            <a:avLst/>
          </a:prstGeom>
          <a:noFill/>
          <a:ln>
            <a:noFill/>
          </a:ln>
        </p:spPr>
      </p:pic>
      <p:sp>
        <p:nvSpPr>
          <p:cNvPr id="85" name="Google Shape;85;p10"/>
          <p:cNvSpPr/>
          <p:nvPr/>
        </p:nvSpPr>
        <p:spPr>
          <a:xfrm>
            <a:off x="1346266" y="4133155"/>
            <a:ext cx="9947919" cy="127674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550"/>
              <a:buFont typeface="Cabin"/>
              <a:buNone/>
            </a:pPr>
            <a:r>
              <a:rPr b="0" i="0" lang="en-US" sz="1550" u="none" cap="none" strike="noStrike">
                <a:solidFill>
                  <a:srgbClr val="FFFFFF"/>
                </a:solidFill>
                <a:latin typeface="Cabin"/>
                <a:ea typeface="Cabin"/>
                <a:cs typeface="Cabin"/>
                <a:sym typeface="Cabin"/>
              </a:rPr>
              <a:t>In this project we use </a:t>
            </a:r>
            <a:r>
              <a:rPr b="1" i="0" lang="en-US" sz="1550" u="none" cap="none" strike="noStrike">
                <a:solidFill>
                  <a:srgbClr val="FFFFFF"/>
                </a:solidFill>
                <a:latin typeface="Cabin"/>
                <a:ea typeface="Cabin"/>
                <a:cs typeface="Cabin"/>
                <a:sym typeface="Cabin"/>
              </a:rPr>
              <a:t>FastDDS based on eProsima</a:t>
            </a:r>
            <a:r>
              <a:rPr b="0" i="0" lang="en-US" sz="1550" u="none" cap="none" strike="noStrike">
                <a:solidFill>
                  <a:srgbClr val="FFFFFF"/>
                </a:solidFill>
                <a:latin typeface="Cabin"/>
                <a:ea typeface="Cabin"/>
                <a:cs typeface="Cabin"/>
                <a:sym typeface="Cabin"/>
              </a:rPr>
              <a:t>, an open-source C++ implementation of the DDS standard (Apache 2.0 license). It implements the RTPS wire protocol and is the default middleware for ROS 2. It provides configurable real-time publish-subscribe communication with shared memory transport, multiple discovery mechanisms, and high-performance data exchange.</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1"/>
          <p:cNvSpPr/>
          <p:nvPr/>
        </p:nvSpPr>
        <p:spPr>
          <a:xfrm>
            <a:off x="698086" y="676374"/>
            <a:ext cx="10795524"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450"/>
              <a:buFont typeface="Unbounded"/>
              <a:buNone/>
            </a:pPr>
            <a:r>
              <a:rPr b="0" i="0" lang="en-US" sz="1450" u="none" cap="none" strike="noStrike">
                <a:solidFill>
                  <a:srgbClr val="FFFFFF"/>
                </a:solidFill>
                <a:latin typeface="Unbounded"/>
                <a:ea typeface="Unbounded"/>
                <a:cs typeface="Unbounded"/>
                <a:sym typeface="Unbounded"/>
              </a:rPr>
              <a:t>History &amp; Adoption</a:t>
            </a:r>
            <a:endParaRPr b="0" i="0" sz="1450" u="none" cap="none" strike="noStrike">
              <a:solidFill>
                <a:schemeClr val="dk1"/>
              </a:solidFill>
              <a:latin typeface="Calibri"/>
              <a:ea typeface="Calibri"/>
              <a:cs typeface="Calibri"/>
              <a:sym typeface="Calibri"/>
            </a:endParaRPr>
          </a:p>
        </p:txBody>
      </p:sp>
      <p:sp>
        <p:nvSpPr>
          <p:cNvPr id="92" name="Google Shape;92;p11"/>
          <p:cNvSpPr/>
          <p:nvPr/>
        </p:nvSpPr>
        <p:spPr>
          <a:xfrm>
            <a:off x="698086" y="962025"/>
            <a:ext cx="10795524" cy="46940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b="0" i="0" lang="en-US" sz="2950" u="none" cap="none" strike="noStrike">
                <a:solidFill>
                  <a:srgbClr val="FFFFFF"/>
                </a:solidFill>
                <a:latin typeface="Unbounded"/>
                <a:ea typeface="Unbounded"/>
                <a:cs typeface="Unbounded"/>
                <a:sym typeface="Unbounded"/>
              </a:rPr>
              <a:t>From Military Protocol to Global Standard</a:t>
            </a:r>
            <a:endParaRPr b="0" i="0" sz="2950" u="none" cap="none" strike="noStrike">
              <a:solidFill>
                <a:schemeClr val="dk1"/>
              </a:solidFill>
              <a:latin typeface="Calibri"/>
              <a:ea typeface="Calibri"/>
              <a:cs typeface="Calibri"/>
              <a:sym typeface="Calibri"/>
            </a:endParaRPr>
          </a:p>
        </p:txBody>
      </p:sp>
      <p:pic>
        <p:nvPicPr>
          <p:cNvPr descr="preencoded.png" id="93" name="Google Shape;93;p11"/>
          <p:cNvPicPr preferRelativeResize="0"/>
          <p:nvPr/>
        </p:nvPicPr>
        <p:blipFill rotWithShape="1">
          <a:blip r:embed="rId3">
            <a:alphaModFix/>
          </a:blip>
          <a:srcRect b="0" l="0" r="0" t="0"/>
          <a:stretch/>
        </p:blipFill>
        <p:spPr>
          <a:xfrm>
            <a:off x="698086" y="1766491"/>
            <a:ext cx="4162420" cy="4162524"/>
          </a:xfrm>
          <a:prstGeom prst="rect">
            <a:avLst/>
          </a:prstGeom>
          <a:noFill/>
          <a:ln>
            <a:noFill/>
          </a:ln>
        </p:spPr>
      </p:pic>
      <p:sp>
        <p:nvSpPr>
          <p:cNvPr id="94" name="Google Shape;94;p11"/>
          <p:cNvSpPr/>
          <p:nvPr/>
        </p:nvSpPr>
        <p:spPr>
          <a:xfrm>
            <a:off x="6476342" y="1766491"/>
            <a:ext cx="19050" cy="4271466"/>
          </a:xfrm>
          <a:prstGeom prst="roundRect">
            <a:avLst>
              <a:gd fmla="val 49999" name="adj"/>
            </a:avLst>
          </a:prstGeom>
          <a:solidFill>
            <a:srgbClr val="4960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1"/>
          <p:cNvSpPr/>
          <p:nvPr/>
        </p:nvSpPr>
        <p:spPr>
          <a:xfrm>
            <a:off x="6636775" y="1936452"/>
            <a:ext cx="478718" cy="19050"/>
          </a:xfrm>
          <a:prstGeom prst="roundRect">
            <a:avLst>
              <a:gd fmla="val 49999" name="adj"/>
            </a:avLst>
          </a:prstGeom>
          <a:solidFill>
            <a:srgbClr val="4960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a:off x="6296860" y="1766491"/>
            <a:ext cx="358964" cy="358973"/>
          </a:xfrm>
          <a:prstGeom prst="roundRect">
            <a:avLst>
              <a:gd fmla="val 6668"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1"/>
          <p:cNvSpPr/>
          <p:nvPr/>
        </p:nvSpPr>
        <p:spPr>
          <a:xfrm>
            <a:off x="6363731" y="1805186"/>
            <a:ext cx="225221" cy="28158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1</a:t>
            </a:r>
            <a:endParaRPr b="0" i="0" sz="1750" u="none" cap="none" strike="noStrike">
              <a:solidFill>
                <a:schemeClr val="dk1"/>
              </a:solidFill>
              <a:latin typeface="Calibri"/>
              <a:ea typeface="Calibri"/>
              <a:cs typeface="Calibri"/>
              <a:sym typeface="Calibri"/>
            </a:endParaRPr>
          </a:p>
        </p:txBody>
      </p:sp>
      <p:sp>
        <p:nvSpPr>
          <p:cNvPr id="98" name="Google Shape;98;p11"/>
          <p:cNvSpPr/>
          <p:nvPr/>
        </p:nvSpPr>
        <p:spPr>
          <a:xfrm>
            <a:off x="7274239" y="1821259"/>
            <a:ext cx="4225720"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1990s</a:t>
            </a:r>
            <a:endParaRPr b="0" i="0" sz="1450" u="none" cap="none" strike="noStrike">
              <a:solidFill>
                <a:schemeClr val="dk1"/>
              </a:solidFill>
              <a:latin typeface="Calibri"/>
              <a:ea typeface="Calibri"/>
              <a:cs typeface="Calibri"/>
              <a:sym typeface="Calibri"/>
            </a:endParaRPr>
          </a:p>
        </p:txBody>
      </p:sp>
      <p:sp>
        <p:nvSpPr>
          <p:cNvPr id="99" name="Google Shape;99;p11"/>
          <p:cNvSpPr/>
          <p:nvPr/>
        </p:nvSpPr>
        <p:spPr>
          <a:xfrm>
            <a:off x="7274239" y="2183507"/>
            <a:ext cx="4225720" cy="45938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Military and aerospace systems with 15+ incompatible proprietary middleware solutions.</a:t>
            </a:r>
            <a:endParaRPr b="0" i="0" sz="1250" u="none" cap="none" strike="noStrike">
              <a:solidFill>
                <a:schemeClr val="dk1"/>
              </a:solidFill>
              <a:latin typeface="Calibri"/>
              <a:ea typeface="Calibri"/>
              <a:cs typeface="Calibri"/>
              <a:sym typeface="Calibri"/>
            </a:endParaRPr>
          </a:p>
        </p:txBody>
      </p:sp>
      <p:sp>
        <p:nvSpPr>
          <p:cNvPr id="100" name="Google Shape;100;p11"/>
          <p:cNvSpPr/>
          <p:nvPr/>
        </p:nvSpPr>
        <p:spPr>
          <a:xfrm>
            <a:off x="6636775" y="3068141"/>
            <a:ext cx="478718" cy="19050"/>
          </a:xfrm>
          <a:prstGeom prst="roundRect">
            <a:avLst>
              <a:gd fmla="val 49999" name="adj"/>
            </a:avLst>
          </a:prstGeom>
          <a:solidFill>
            <a:srgbClr val="4960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1"/>
          <p:cNvSpPr/>
          <p:nvPr/>
        </p:nvSpPr>
        <p:spPr>
          <a:xfrm>
            <a:off x="6296860" y="2898180"/>
            <a:ext cx="358964" cy="358973"/>
          </a:xfrm>
          <a:prstGeom prst="roundRect">
            <a:avLst>
              <a:gd fmla="val 6668"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
          <p:cNvSpPr/>
          <p:nvPr/>
        </p:nvSpPr>
        <p:spPr>
          <a:xfrm>
            <a:off x="6363731" y="2936875"/>
            <a:ext cx="225221" cy="28158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2</a:t>
            </a:r>
            <a:endParaRPr b="0" i="0" sz="1750" u="none" cap="none" strike="noStrike">
              <a:solidFill>
                <a:schemeClr val="dk1"/>
              </a:solidFill>
              <a:latin typeface="Calibri"/>
              <a:ea typeface="Calibri"/>
              <a:cs typeface="Calibri"/>
              <a:sym typeface="Calibri"/>
            </a:endParaRPr>
          </a:p>
        </p:txBody>
      </p:sp>
      <p:sp>
        <p:nvSpPr>
          <p:cNvPr id="103" name="Google Shape;103;p11"/>
          <p:cNvSpPr/>
          <p:nvPr/>
        </p:nvSpPr>
        <p:spPr>
          <a:xfrm>
            <a:off x="7274239" y="2952948"/>
            <a:ext cx="4225720"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2001–2003</a:t>
            </a:r>
            <a:endParaRPr b="0" i="0" sz="1450" u="none" cap="none" strike="noStrike">
              <a:solidFill>
                <a:schemeClr val="dk1"/>
              </a:solidFill>
              <a:latin typeface="Calibri"/>
              <a:ea typeface="Calibri"/>
              <a:cs typeface="Calibri"/>
              <a:sym typeface="Calibri"/>
            </a:endParaRPr>
          </a:p>
        </p:txBody>
      </p:sp>
      <p:sp>
        <p:nvSpPr>
          <p:cNvPr id="104" name="Google Shape;104;p11"/>
          <p:cNvSpPr/>
          <p:nvPr/>
        </p:nvSpPr>
        <p:spPr>
          <a:xfrm>
            <a:off x="7274239" y="3315196"/>
            <a:ext cx="4225720" cy="45938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OMG standardization. First DDS 1.0 specification published in 2003.</a:t>
            </a:r>
            <a:endParaRPr b="0" i="0" sz="1250" u="none" cap="none" strike="noStrike">
              <a:solidFill>
                <a:schemeClr val="dk1"/>
              </a:solidFill>
              <a:latin typeface="Calibri"/>
              <a:ea typeface="Calibri"/>
              <a:cs typeface="Calibri"/>
              <a:sym typeface="Calibri"/>
            </a:endParaRPr>
          </a:p>
        </p:txBody>
      </p:sp>
      <p:sp>
        <p:nvSpPr>
          <p:cNvPr id="105" name="Google Shape;105;p11"/>
          <p:cNvSpPr/>
          <p:nvPr/>
        </p:nvSpPr>
        <p:spPr>
          <a:xfrm>
            <a:off x="6636775" y="4199830"/>
            <a:ext cx="478718" cy="19050"/>
          </a:xfrm>
          <a:prstGeom prst="roundRect">
            <a:avLst>
              <a:gd fmla="val 49999" name="adj"/>
            </a:avLst>
          </a:prstGeom>
          <a:solidFill>
            <a:srgbClr val="4960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1"/>
          <p:cNvSpPr/>
          <p:nvPr/>
        </p:nvSpPr>
        <p:spPr>
          <a:xfrm>
            <a:off x="6296860" y="4029869"/>
            <a:ext cx="358964" cy="358973"/>
          </a:xfrm>
          <a:prstGeom prst="roundRect">
            <a:avLst>
              <a:gd fmla="val 6668"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1"/>
          <p:cNvSpPr/>
          <p:nvPr/>
        </p:nvSpPr>
        <p:spPr>
          <a:xfrm>
            <a:off x="6363731" y="4068564"/>
            <a:ext cx="225221" cy="28158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3</a:t>
            </a:r>
            <a:endParaRPr b="0" i="0" sz="1750" u="none" cap="none" strike="noStrike">
              <a:solidFill>
                <a:schemeClr val="dk1"/>
              </a:solidFill>
              <a:latin typeface="Calibri"/>
              <a:ea typeface="Calibri"/>
              <a:cs typeface="Calibri"/>
              <a:sym typeface="Calibri"/>
            </a:endParaRPr>
          </a:p>
        </p:txBody>
      </p:sp>
      <p:sp>
        <p:nvSpPr>
          <p:cNvPr id="108" name="Google Shape;108;p11"/>
          <p:cNvSpPr/>
          <p:nvPr/>
        </p:nvSpPr>
        <p:spPr>
          <a:xfrm>
            <a:off x="7274239" y="4084638"/>
            <a:ext cx="4225720"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Implementations</a:t>
            </a:r>
            <a:endParaRPr b="0" i="0" sz="1450" u="none" cap="none" strike="noStrike">
              <a:solidFill>
                <a:schemeClr val="dk1"/>
              </a:solidFill>
              <a:latin typeface="Calibri"/>
              <a:ea typeface="Calibri"/>
              <a:cs typeface="Calibri"/>
              <a:sym typeface="Calibri"/>
            </a:endParaRPr>
          </a:p>
        </p:txBody>
      </p:sp>
      <p:sp>
        <p:nvSpPr>
          <p:cNvPr id="109" name="Google Shape;109;p11"/>
          <p:cNvSpPr/>
          <p:nvPr/>
        </p:nvSpPr>
        <p:spPr>
          <a:xfrm>
            <a:off x="7274239" y="4446885"/>
            <a:ext cx="4225720" cy="45938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RTI Connext DDS (F-35), OpenSplice (defense), FastDDS (ROS2 default).</a:t>
            </a:r>
            <a:endParaRPr b="0" i="0" sz="1250" u="none" cap="none" strike="noStrike">
              <a:solidFill>
                <a:schemeClr val="dk1"/>
              </a:solidFill>
              <a:latin typeface="Calibri"/>
              <a:ea typeface="Calibri"/>
              <a:cs typeface="Calibri"/>
              <a:sym typeface="Calibri"/>
            </a:endParaRPr>
          </a:p>
        </p:txBody>
      </p:sp>
      <p:sp>
        <p:nvSpPr>
          <p:cNvPr id="110" name="Google Shape;110;p11"/>
          <p:cNvSpPr/>
          <p:nvPr/>
        </p:nvSpPr>
        <p:spPr>
          <a:xfrm>
            <a:off x="6636775" y="5331520"/>
            <a:ext cx="478718" cy="19050"/>
          </a:xfrm>
          <a:prstGeom prst="roundRect">
            <a:avLst>
              <a:gd fmla="val 49999" name="adj"/>
            </a:avLst>
          </a:prstGeom>
          <a:solidFill>
            <a:srgbClr val="4960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a:off x="6296860" y="5161558"/>
            <a:ext cx="358964" cy="358973"/>
          </a:xfrm>
          <a:prstGeom prst="roundRect">
            <a:avLst>
              <a:gd fmla="val 6668"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a:off x="6363731" y="5200253"/>
            <a:ext cx="225221" cy="28158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4</a:t>
            </a:r>
            <a:endParaRPr b="0" i="0" sz="1750" u="none" cap="none" strike="noStrike">
              <a:solidFill>
                <a:schemeClr val="dk1"/>
              </a:solidFill>
              <a:latin typeface="Calibri"/>
              <a:ea typeface="Calibri"/>
              <a:cs typeface="Calibri"/>
              <a:sym typeface="Calibri"/>
            </a:endParaRPr>
          </a:p>
        </p:txBody>
      </p:sp>
      <p:sp>
        <p:nvSpPr>
          <p:cNvPr id="113" name="Google Shape;113;p11"/>
          <p:cNvSpPr/>
          <p:nvPr/>
        </p:nvSpPr>
        <p:spPr>
          <a:xfrm>
            <a:off x="7274239" y="5216327"/>
            <a:ext cx="4225720"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Today</a:t>
            </a:r>
            <a:endParaRPr b="0" i="0" sz="1450" u="none" cap="none" strike="noStrike">
              <a:solidFill>
                <a:schemeClr val="dk1"/>
              </a:solidFill>
              <a:latin typeface="Calibri"/>
              <a:ea typeface="Calibri"/>
              <a:cs typeface="Calibri"/>
              <a:sym typeface="Calibri"/>
            </a:endParaRPr>
          </a:p>
        </p:txBody>
      </p:sp>
      <p:sp>
        <p:nvSpPr>
          <p:cNvPr id="114" name="Google Shape;114;p11"/>
          <p:cNvSpPr/>
          <p:nvPr/>
        </p:nvSpPr>
        <p:spPr>
          <a:xfrm>
            <a:off x="7274239" y="5578574"/>
            <a:ext cx="4225720" cy="45938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Aerospace, automotive (AUTOSAR Adaptive), robotics (ROS2), smart grid, healthcare.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p:nvPr/>
        </p:nvSpPr>
        <p:spPr>
          <a:xfrm>
            <a:off x="698086" y="577255"/>
            <a:ext cx="10795524" cy="105608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300"/>
              <a:buFont typeface="Unbounded"/>
              <a:buNone/>
            </a:pPr>
            <a:r>
              <a:rPr b="0" i="0" lang="en-US" sz="3300" u="none" cap="none" strike="noStrike">
                <a:solidFill>
                  <a:srgbClr val="FFFFFF"/>
                </a:solidFill>
                <a:latin typeface="Unbounded"/>
                <a:ea typeface="Unbounded"/>
                <a:cs typeface="Unbounded"/>
                <a:sym typeface="Unbounded"/>
              </a:rPr>
              <a:t>Client-Server Architecture: Request-Response Pattern</a:t>
            </a:r>
            <a:endParaRPr b="0" i="0" sz="3300" u="none" cap="none" strike="noStrike">
              <a:solidFill>
                <a:schemeClr val="dk1"/>
              </a:solidFill>
              <a:latin typeface="Calibri"/>
              <a:ea typeface="Calibri"/>
              <a:cs typeface="Calibri"/>
              <a:sym typeface="Calibri"/>
            </a:endParaRPr>
          </a:p>
        </p:txBody>
      </p:sp>
      <p:sp>
        <p:nvSpPr>
          <p:cNvPr id="121" name="Google Shape;121;p12"/>
          <p:cNvSpPr/>
          <p:nvPr/>
        </p:nvSpPr>
        <p:spPr>
          <a:xfrm>
            <a:off x="698086" y="1956495"/>
            <a:ext cx="10795524" cy="545505"/>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The client asks and the server responds. The pattern is synchronous request-response: every communication is actively initiated by whoever needs the data.</a:t>
            </a:r>
            <a:endParaRPr b="0" i="0" sz="1400" u="none" cap="none" strike="noStrike">
              <a:solidFill>
                <a:schemeClr val="dk1"/>
              </a:solidFill>
              <a:latin typeface="Calibri"/>
              <a:ea typeface="Calibri"/>
              <a:cs typeface="Calibri"/>
              <a:sym typeface="Calibri"/>
            </a:endParaRPr>
          </a:p>
        </p:txBody>
      </p:sp>
      <p:sp>
        <p:nvSpPr>
          <p:cNvPr id="122" name="Google Shape;122;p12"/>
          <p:cNvSpPr/>
          <p:nvPr/>
        </p:nvSpPr>
        <p:spPr>
          <a:xfrm>
            <a:off x="698086" y="4429522"/>
            <a:ext cx="10795524" cy="1000026"/>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The server is passive with respect to real data — it waits for someone to request it.</a:t>
            </a:r>
            <a:endParaRPr b="0" i="0" sz="1400" u="none" cap="none" strike="noStrike">
              <a:solidFill>
                <a:schemeClr val="dk1"/>
              </a:solidFill>
              <a:latin typeface="Calibri"/>
              <a:ea typeface="Calibri"/>
              <a:cs typeface="Calibri"/>
              <a:sym typeface="Calibri"/>
            </a:endParaRPr>
          </a:p>
          <a:p>
            <a:pPr indent="0" lvl="0" marL="0" marR="0" rtl="0" algn="l">
              <a:lnSpc>
                <a:spcPct val="127000"/>
              </a:lnSpc>
              <a:spcBef>
                <a:spcPts val="140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While variants like WebSocket/SSE (persistent channels) and MQTT-style brokers (centralized pub/sub) exist, the core characteristic of client-server remains that all communication flows through a central point.</a:t>
            </a:r>
            <a:endParaRPr b="0" i="0" sz="1400" u="none" cap="none" strike="noStrike">
              <a:solidFill>
                <a:schemeClr val="dk1"/>
              </a:solidFill>
              <a:latin typeface="Calibri"/>
              <a:ea typeface="Calibri"/>
              <a:cs typeface="Calibri"/>
              <a:sym typeface="Calibri"/>
            </a:endParaRPr>
          </a:p>
        </p:txBody>
      </p:sp>
      <p:sp>
        <p:nvSpPr>
          <p:cNvPr id="123" name="Google Shape;123;p12"/>
          <p:cNvSpPr/>
          <p:nvPr/>
        </p:nvSpPr>
        <p:spPr>
          <a:xfrm>
            <a:off x="698086" y="5611316"/>
            <a:ext cx="10795524" cy="669330"/>
          </a:xfrm>
          <a:prstGeom prst="roundRect">
            <a:avLst>
              <a:gd fmla="val 4023"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 name="Google Shape;124;p12"/>
          <p:cNvPicPr preferRelativeResize="0"/>
          <p:nvPr/>
        </p:nvPicPr>
        <p:blipFill rotWithShape="1">
          <a:blip r:embed="rId3">
            <a:alphaModFix/>
          </a:blip>
          <a:srcRect b="0" l="0" r="0" t="0"/>
          <a:stretch/>
        </p:blipFill>
        <p:spPr>
          <a:xfrm>
            <a:off x="877568" y="5838428"/>
            <a:ext cx="224328" cy="179487"/>
          </a:xfrm>
          <a:prstGeom prst="rect">
            <a:avLst/>
          </a:prstGeom>
          <a:noFill/>
          <a:ln>
            <a:noFill/>
          </a:ln>
        </p:spPr>
      </p:pic>
      <p:sp>
        <p:nvSpPr>
          <p:cNvPr id="125" name="Google Shape;125;p12"/>
          <p:cNvSpPr/>
          <p:nvPr/>
        </p:nvSpPr>
        <p:spPr>
          <a:xfrm>
            <a:off x="1281378" y="5817691"/>
            <a:ext cx="10642334" cy="272752"/>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FFFFFF"/>
              </a:buClr>
              <a:buSzPts val="1400"/>
              <a:buFont typeface="Cabin"/>
              <a:buNone/>
            </a:pPr>
            <a:r>
              <a:rPr b="0" i="0" lang="en-US" sz="1400" u="none" cap="none" strike="noStrike">
                <a:solidFill>
                  <a:srgbClr val="FFFFFF"/>
                </a:solidFill>
                <a:latin typeface="Cabin"/>
                <a:ea typeface="Cabin"/>
                <a:cs typeface="Cabin"/>
                <a:sym typeface="Cabin"/>
              </a:rPr>
              <a:t>The core limitation is that </a:t>
            </a:r>
            <a:r>
              <a:rPr b="1" i="0" lang="en-US" sz="1400" u="none" cap="none" strike="noStrike">
                <a:solidFill>
                  <a:srgbClr val="FFFFFF"/>
                </a:solidFill>
                <a:latin typeface="Cabin"/>
                <a:ea typeface="Cabin"/>
                <a:cs typeface="Cabin"/>
                <a:sym typeface="Cabin"/>
              </a:rPr>
              <a:t>all communication flows through a central point</a:t>
            </a:r>
            <a:r>
              <a:rPr b="0" i="0" lang="en-US" sz="1400" u="none" cap="none" strike="noStrike">
                <a:solidFill>
                  <a:srgbClr val="FFFFFF"/>
                </a:solidFill>
                <a:latin typeface="Cabin"/>
                <a:ea typeface="Cabin"/>
                <a:cs typeface="Cabin"/>
                <a:sym typeface="Cabin"/>
              </a:rPr>
              <a:t>.</a:t>
            </a:r>
            <a:endParaRPr b="0" i="0" sz="1400" u="none" cap="none" strike="noStrike">
              <a:solidFill>
                <a:schemeClr val="dk1"/>
              </a:solidFill>
              <a:latin typeface="Calibri"/>
              <a:ea typeface="Calibri"/>
              <a:cs typeface="Calibri"/>
              <a:sym typeface="Calibri"/>
            </a:endParaRPr>
          </a:p>
        </p:txBody>
      </p:sp>
      <p:pic>
        <p:nvPicPr>
          <p:cNvPr id="126" name="Google Shape;126;p12"/>
          <p:cNvPicPr preferRelativeResize="0"/>
          <p:nvPr/>
        </p:nvPicPr>
        <p:blipFill>
          <a:blip r:embed="rId4">
            <a:alphaModFix/>
          </a:blip>
          <a:stretch>
            <a:fillRect/>
          </a:stretch>
        </p:blipFill>
        <p:spPr>
          <a:xfrm>
            <a:off x="1776250" y="2733675"/>
            <a:ext cx="8639175" cy="1390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3"/>
          <p:cNvSpPr/>
          <p:nvPr/>
        </p:nvSpPr>
        <p:spPr>
          <a:xfrm>
            <a:off x="698086" y="680343"/>
            <a:ext cx="10795524" cy="46940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b="0" i="0" lang="en-US" sz="2950" u="none" cap="none" strike="noStrike">
                <a:solidFill>
                  <a:srgbClr val="FFFFFF"/>
                </a:solidFill>
                <a:latin typeface="Unbounded"/>
                <a:ea typeface="Unbounded"/>
                <a:cs typeface="Unbounded"/>
                <a:sym typeface="Unbounded"/>
              </a:rPr>
              <a:t>The 4 Main Limits of Client-Server Architecture</a:t>
            </a:r>
            <a:endParaRPr b="0" i="0" sz="2950" u="none" cap="none" strike="noStrike">
              <a:solidFill>
                <a:schemeClr val="dk1"/>
              </a:solidFill>
              <a:latin typeface="Calibri"/>
              <a:ea typeface="Calibri"/>
              <a:cs typeface="Calibri"/>
              <a:sym typeface="Calibri"/>
            </a:endParaRPr>
          </a:p>
        </p:txBody>
      </p:sp>
      <p:graphicFrame>
        <p:nvGraphicFramePr>
          <p:cNvPr id="133" name="Google Shape;133;p13"/>
          <p:cNvGraphicFramePr/>
          <p:nvPr/>
        </p:nvGraphicFramePr>
        <p:xfrm>
          <a:off x="698086" y="1341239"/>
          <a:ext cx="3000000" cy="3000000"/>
        </p:xfrm>
        <a:graphic>
          <a:graphicData uri="http://schemas.openxmlformats.org/drawingml/2006/table">
            <a:tbl>
              <a:tblPr>
                <a:noFill/>
                <a:tableStyleId>{07F727DA-F923-405E-B322-1FDDD4D9E247}</a:tableStyleId>
              </a:tblPr>
              <a:tblGrid>
                <a:gridCol w="5397750"/>
                <a:gridCol w="5397750"/>
              </a:tblGrid>
              <a:tr h="403700">
                <a:tc>
                  <a:txBody>
                    <a:bodyPr/>
                    <a:lstStyle/>
                    <a:p>
                      <a:pPr indent="0" lvl="0" marL="0" marR="0" rtl="0" algn="l">
                        <a:spcBef>
                          <a:spcPts val="0"/>
                        </a:spcBef>
                        <a:spcAft>
                          <a:spcPts val="0"/>
                        </a:spcAft>
                        <a:buClr>
                          <a:srgbClr val="CAD6DE"/>
                        </a:buClr>
                        <a:buSzPts val="1450"/>
                        <a:buFont typeface="Unbounded"/>
                        <a:buNone/>
                      </a:pPr>
                      <a:r>
                        <a:rPr b="1" lang="en-US" sz="1450" u="none" cap="none" strike="noStrike">
                          <a:solidFill>
                            <a:srgbClr val="CAD6DE"/>
                          </a:solidFill>
                          <a:latin typeface="Unbounded"/>
                          <a:ea typeface="Unbounded"/>
                          <a:cs typeface="Unbounded"/>
                          <a:sym typeface="Unbounded"/>
                        </a:rPr>
                        <a:t>Problem</a:t>
                      </a:r>
                      <a:endParaRPr sz="1450" u="none" cap="none" strike="noStrike">
                        <a:latin typeface="Unbounded"/>
                        <a:ea typeface="Unbounded"/>
                        <a:cs typeface="Unbounded"/>
                        <a:sym typeface="Unbounded"/>
                      </a:endParaRPr>
                    </a:p>
                  </a:txBody>
                  <a:tcPr marT="6350" marB="6350" marR="159575" marL="159575"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450"/>
                        <a:buFont typeface="Unbounded"/>
                        <a:buNone/>
                      </a:pPr>
                      <a:r>
                        <a:rPr b="1" lang="en-US" sz="1450" u="none" cap="none" strike="noStrike">
                          <a:solidFill>
                            <a:srgbClr val="CAD6DE"/>
                          </a:solidFill>
                          <a:latin typeface="Unbounded"/>
                          <a:ea typeface="Unbounded"/>
                          <a:cs typeface="Unbounded"/>
                          <a:sym typeface="Unbounded"/>
                        </a:rPr>
                        <a:t>DDS Solution</a:t>
                      </a:r>
                      <a:endParaRPr sz="1450" u="none" cap="none" strike="noStrike">
                        <a:latin typeface="Unbounded"/>
                        <a:ea typeface="Unbounded"/>
                        <a:cs typeface="Unbounded"/>
                        <a:sym typeface="Unbounded"/>
                      </a:endParaRPr>
                    </a:p>
                  </a:txBody>
                  <a:tcPr marT="6350" marB="6350" marR="159575" marL="159575"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1033925">
                <a:tc>
                  <a:txBody>
                    <a:bodyPr/>
                    <a:lstStyle/>
                    <a:p>
                      <a:pPr indent="0" lvl="0" marL="0" marR="0" rtl="0" algn="l">
                        <a:spcBef>
                          <a:spcPts val="0"/>
                        </a:spcBef>
                        <a:spcAft>
                          <a:spcPts val="0"/>
                        </a:spcAft>
                        <a:buClr>
                          <a:srgbClr val="CAD6DE"/>
                        </a:buClr>
                        <a:buSzPts val="1550"/>
                        <a:buFont typeface="Cabin"/>
                        <a:buNone/>
                      </a:pPr>
                      <a:r>
                        <a:rPr b="1" lang="en-US" sz="1550" u="none" cap="none" strike="noStrike">
                          <a:solidFill>
                            <a:srgbClr val="CAD6DE"/>
                          </a:solidFill>
                          <a:latin typeface="Cabin"/>
                          <a:ea typeface="Cabin"/>
                          <a:cs typeface="Cabin"/>
                          <a:sym typeface="Cabin"/>
                        </a:rPr>
                        <a:t>Single Point of FailureIf the Server/Broker crashes, the entire system stops instantly.</a:t>
                      </a:r>
                      <a:endParaRPr sz="1550" u="none" cap="none" strike="noStrike">
                        <a:latin typeface="Cabin"/>
                        <a:ea typeface="Cabin"/>
                        <a:cs typeface="Cabin"/>
                        <a:sym typeface="Cabin"/>
                      </a:endParaRPr>
                    </a:p>
                  </a:txBody>
                  <a:tcPr marT="6350" marB="6350" marR="159575" marL="159575"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550"/>
                        <a:buFont typeface="Cabin"/>
                        <a:buNone/>
                      </a:pPr>
                      <a:r>
                        <a:rPr b="1" lang="en-US" sz="1550" u="none" cap="none" strike="noStrike">
                          <a:solidFill>
                            <a:srgbClr val="CAD6DE"/>
                          </a:solidFill>
                          <a:latin typeface="Cabin"/>
                          <a:ea typeface="Cabin"/>
                          <a:cs typeface="Cabin"/>
                          <a:sym typeface="Cabin"/>
                        </a:rPr>
                        <a:t>Native Peer-to-Peer:There is no central node. If one node fails, the others continue communicating without any interruption.</a:t>
                      </a:r>
                      <a:endParaRPr sz="1550" u="none" cap="none" strike="noStrike">
                        <a:latin typeface="Cabin"/>
                        <a:ea typeface="Cabin"/>
                        <a:cs typeface="Cabin"/>
                        <a:sym typeface="Cabin"/>
                      </a:endParaRPr>
                    </a:p>
                  </a:txBody>
                  <a:tcPr marT="6350" marB="6350" marR="159575" marL="159575"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1033925">
                <a:tc>
                  <a:txBody>
                    <a:bodyPr/>
                    <a:lstStyle/>
                    <a:p>
                      <a:pPr indent="0" lvl="0" marL="0" marR="0" rtl="0" algn="l">
                        <a:spcBef>
                          <a:spcPts val="0"/>
                        </a:spcBef>
                        <a:spcAft>
                          <a:spcPts val="0"/>
                        </a:spcAft>
                        <a:buClr>
                          <a:srgbClr val="CAD6DE"/>
                        </a:buClr>
                        <a:buSzPts val="1550"/>
                        <a:buFont typeface="Cabin"/>
                        <a:buNone/>
                      </a:pPr>
                      <a:r>
                        <a:rPr b="1" lang="en-US" sz="1550" u="none" cap="none" strike="noStrike">
                          <a:solidFill>
                            <a:srgbClr val="CAD6DE"/>
                          </a:solidFill>
                          <a:latin typeface="Cabin"/>
                          <a:ea typeface="Cabin"/>
                          <a:cs typeface="Cabin"/>
                          <a:sym typeface="Cabin"/>
                        </a:rPr>
                        <a:t>Bottleneck (Latency and Bandwidth)All traffic must pass through the server. As data increases, the server struggles.</a:t>
                      </a:r>
                      <a:endParaRPr sz="1550" u="none" cap="none" strike="noStrike">
                        <a:latin typeface="Cabin"/>
                        <a:ea typeface="Cabin"/>
                        <a:cs typeface="Cabin"/>
                        <a:sym typeface="Cabin"/>
                      </a:endParaRPr>
                    </a:p>
                  </a:txBody>
                  <a:tcPr marT="6350" marB="6350" marR="159575" marL="159575"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550"/>
                        <a:buFont typeface="Cabin"/>
                        <a:buNone/>
                      </a:pPr>
                      <a:r>
                        <a:rPr b="1" lang="en-US" sz="1550" u="none" cap="none" strike="noStrike">
                          <a:solidFill>
                            <a:srgbClr val="CAD6DE"/>
                          </a:solidFill>
                          <a:latin typeface="Cabin"/>
                          <a:ea typeface="Cabin"/>
                          <a:cs typeface="Cabin"/>
                          <a:sym typeface="Cabin"/>
                        </a:rPr>
                        <a:t>Direct Communication:Data goes straight from the producer to the consumer. No intermediate steps, minimal latency, and high scalability.</a:t>
                      </a:r>
                      <a:endParaRPr sz="1550" u="none" cap="none" strike="noStrike">
                        <a:latin typeface="Cabin"/>
                        <a:ea typeface="Cabin"/>
                        <a:cs typeface="Cabin"/>
                        <a:sym typeface="Cabin"/>
                      </a:endParaRPr>
                    </a:p>
                  </a:txBody>
                  <a:tcPr marT="6350" marB="6350" marR="159575" marL="159575"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1321175">
                <a:tc>
                  <a:txBody>
                    <a:bodyPr/>
                    <a:lstStyle/>
                    <a:p>
                      <a:pPr indent="0" lvl="0" marL="0" marR="0" rtl="0" algn="l">
                        <a:spcBef>
                          <a:spcPts val="0"/>
                        </a:spcBef>
                        <a:spcAft>
                          <a:spcPts val="0"/>
                        </a:spcAft>
                        <a:buClr>
                          <a:srgbClr val="CAD6DE"/>
                        </a:buClr>
                        <a:buSzPts val="1550"/>
                        <a:buFont typeface="Cabin"/>
                        <a:buNone/>
                      </a:pPr>
                      <a:r>
                        <a:rPr b="1" lang="en-US" sz="1550" u="none" cap="none" strike="noStrike">
                          <a:solidFill>
                            <a:srgbClr val="CAD6DE"/>
                          </a:solidFill>
                          <a:latin typeface="Cabin"/>
                          <a:ea typeface="Cabin"/>
                          <a:cs typeface="Cabin"/>
                          <a:sym typeface="Cabin"/>
                        </a:rPr>
                        <a:t>Rigid CouplingThe Client must know the Server's IP/port to send or request data.</a:t>
                      </a:r>
                      <a:endParaRPr sz="1550" u="none" cap="none" strike="noStrike">
                        <a:latin typeface="Cabin"/>
                        <a:ea typeface="Cabin"/>
                        <a:cs typeface="Cabin"/>
                        <a:sym typeface="Cabin"/>
                      </a:endParaRPr>
                    </a:p>
                  </a:txBody>
                  <a:tcPr marT="6350" marB="6350" marR="159575" marL="159575"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550"/>
                        <a:buFont typeface="Cabin"/>
                        <a:buNone/>
                      </a:pPr>
                      <a:r>
                        <a:rPr b="1" lang="en-US" sz="1550" u="none" cap="none" strike="noStrike">
                          <a:solidFill>
                            <a:srgbClr val="CAD6DE"/>
                          </a:solidFill>
                          <a:latin typeface="Cabin"/>
                          <a:ea typeface="Cabin"/>
                          <a:cs typeface="Cabin"/>
                          <a:sym typeface="Cabin"/>
                        </a:rPr>
                        <a:t>Data-Centricity:Nodes don't ask "Who are you?", but rather "Who is interested in Topic X?". They publish and receive data without knowing each other's address.</a:t>
                      </a:r>
                      <a:endParaRPr sz="1550" u="none" cap="none" strike="noStrike">
                        <a:latin typeface="Cabin"/>
                        <a:ea typeface="Cabin"/>
                        <a:cs typeface="Cabin"/>
                        <a:sym typeface="Cabin"/>
                      </a:endParaRPr>
                    </a:p>
                  </a:txBody>
                  <a:tcPr marT="6350" marB="6350" marR="159575" marL="159575"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1030750">
                <a:tc>
                  <a:txBody>
                    <a:bodyPr/>
                    <a:lstStyle/>
                    <a:p>
                      <a:pPr indent="0" lvl="0" marL="0" marR="0" rtl="0" algn="l">
                        <a:spcBef>
                          <a:spcPts val="0"/>
                        </a:spcBef>
                        <a:spcAft>
                          <a:spcPts val="0"/>
                        </a:spcAft>
                        <a:buClr>
                          <a:srgbClr val="CAD6DE"/>
                        </a:buClr>
                        <a:buSzPts val="1550"/>
                        <a:buFont typeface="Cabin"/>
                        <a:buNone/>
                      </a:pPr>
                      <a:r>
                        <a:rPr b="1" lang="en-US" sz="1550" u="none" cap="none" strike="noStrike">
                          <a:solidFill>
                            <a:srgbClr val="CAD6DE"/>
                          </a:solidFill>
                          <a:latin typeface="Cabin"/>
                          <a:ea typeface="Cabin"/>
                          <a:cs typeface="Cabin"/>
                          <a:sym typeface="Cabin"/>
                        </a:rPr>
                        <a:t>"All or Nothing" Service ManagementIt is difficult to manage different requirements for different data on the same channel.</a:t>
                      </a:r>
                      <a:endParaRPr sz="1550" u="none" cap="none" strike="noStrike">
                        <a:latin typeface="Cabin"/>
                        <a:ea typeface="Cabin"/>
                        <a:cs typeface="Cabin"/>
                        <a:sym typeface="Cabin"/>
                      </a:endParaRPr>
                    </a:p>
                  </a:txBody>
                  <a:tcPr marT="6350" marB="6350" marR="159575" marL="159575"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550"/>
                        <a:buFont typeface="Cabin"/>
                        <a:buNone/>
                      </a:pPr>
                      <a:r>
                        <a:rPr b="1" lang="en-US" sz="1550" u="none" cap="none" strike="noStrike">
                          <a:solidFill>
                            <a:srgbClr val="CAD6DE"/>
                          </a:solidFill>
                          <a:latin typeface="Cabin"/>
                          <a:ea typeface="Cabin"/>
                          <a:cs typeface="Cabin"/>
                          <a:sym typeface="Cabin"/>
                        </a:rPr>
                        <a:t>Granular QoS (Quality of Service):You can define specific rules for each data stream (e.g., reliability, frequency, persistence).</a:t>
                      </a:r>
                      <a:endParaRPr sz="1550" u="none" cap="none" strike="noStrike">
                        <a:latin typeface="Cabin"/>
                        <a:ea typeface="Cabin"/>
                        <a:cs typeface="Cabin"/>
                        <a:sym typeface="Cabin"/>
                      </a:endParaRPr>
                    </a:p>
                  </a:txBody>
                  <a:tcPr marT="6350" marB="6350" marR="159575" marL="159575"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p:nvPr/>
        </p:nvSpPr>
        <p:spPr>
          <a:xfrm>
            <a:off x="698086" y="1044476"/>
            <a:ext cx="1079552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DDS Architecture</a:t>
            </a:r>
            <a:endParaRPr b="0" i="0" sz="1800" u="none" cap="none" strike="noStrike">
              <a:solidFill>
                <a:schemeClr val="dk1"/>
              </a:solidFill>
              <a:latin typeface="Calibri"/>
              <a:ea typeface="Calibri"/>
              <a:cs typeface="Calibri"/>
              <a:sym typeface="Calibri"/>
            </a:endParaRPr>
          </a:p>
        </p:txBody>
      </p:sp>
      <p:sp>
        <p:nvSpPr>
          <p:cNvPr id="140" name="Google Shape;140;p14"/>
          <p:cNvSpPr/>
          <p:nvPr/>
        </p:nvSpPr>
        <p:spPr>
          <a:xfrm>
            <a:off x="698086" y="1417538"/>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Domain &amp; DomainParticipant</a:t>
            </a:r>
            <a:endParaRPr b="0" i="0" sz="3650" u="none" cap="none" strike="noStrike">
              <a:solidFill>
                <a:schemeClr val="dk1"/>
              </a:solidFill>
              <a:latin typeface="Calibri"/>
              <a:ea typeface="Calibri"/>
              <a:cs typeface="Calibri"/>
              <a:sym typeface="Calibri"/>
            </a:endParaRPr>
          </a:p>
        </p:txBody>
      </p:sp>
      <p:sp>
        <p:nvSpPr>
          <p:cNvPr id="141" name="Google Shape;141;p14"/>
          <p:cNvSpPr/>
          <p:nvPr/>
        </p:nvSpPr>
        <p:spPr>
          <a:xfrm>
            <a:off x="698086" y="2502793"/>
            <a:ext cx="515448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Domain</a:t>
            </a:r>
            <a:endParaRPr b="0" i="0" sz="1800" u="none" cap="none" strike="noStrike">
              <a:solidFill>
                <a:schemeClr val="dk1"/>
              </a:solidFill>
              <a:latin typeface="Calibri"/>
              <a:ea typeface="Calibri"/>
              <a:cs typeface="Calibri"/>
              <a:sym typeface="Calibri"/>
            </a:endParaRPr>
          </a:p>
        </p:txBody>
      </p:sp>
      <p:sp>
        <p:nvSpPr>
          <p:cNvPr id="142" name="Google Shape;142;p14"/>
          <p:cNvSpPr/>
          <p:nvPr/>
        </p:nvSpPr>
        <p:spPr>
          <a:xfrm>
            <a:off x="698086" y="2995513"/>
            <a:ext cx="5154484"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A logical isolation channel identified by a </a:t>
            </a:r>
            <a:r>
              <a:rPr b="1" i="0" lang="en-US" sz="1550" u="none" cap="none" strike="noStrike">
                <a:solidFill>
                  <a:srgbClr val="CAD6DE"/>
                </a:solidFill>
                <a:latin typeface="Cabin"/>
                <a:ea typeface="Cabin"/>
                <a:cs typeface="Cabin"/>
                <a:sym typeface="Cabin"/>
              </a:rPr>
              <a:t>Domain ID</a:t>
            </a:r>
            <a:r>
              <a:rPr b="0" i="0" lang="en-US" sz="1550" u="none" cap="none" strike="noStrike">
                <a:solidFill>
                  <a:srgbClr val="CAD6DE"/>
                </a:solidFill>
                <a:latin typeface="Cabin"/>
                <a:ea typeface="Cabin"/>
                <a:cs typeface="Cabin"/>
                <a:sym typeface="Cabin"/>
              </a:rPr>
              <a:t>. Participants with the same ID form a communication "bubble" invisible to other domains.</a:t>
            </a:r>
            <a:endParaRPr b="0" i="0" sz="1550" u="none" cap="none" strike="noStrike">
              <a:solidFill>
                <a:schemeClr val="dk1"/>
              </a:solidFill>
              <a:latin typeface="Calibri"/>
              <a:ea typeface="Calibri"/>
              <a:cs typeface="Calibri"/>
              <a:sym typeface="Calibri"/>
            </a:endParaRPr>
          </a:p>
        </p:txBody>
      </p:sp>
      <p:sp>
        <p:nvSpPr>
          <p:cNvPr id="143" name="Google Shape;143;p14"/>
          <p:cNvSpPr/>
          <p:nvPr/>
        </p:nvSpPr>
        <p:spPr>
          <a:xfrm>
            <a:off x="6345476" y="2502793"/>
            <a:ext cx="515448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DomainParticipant</a:t>
            </a:r>
            <a:endParaRPr b="0" i="0" sz="1800" u="none" cap="none" strike="noStrike">
              <a:solidFill>
                <a:schemeClr val="dk1"/>
              </a:solidFill>
              <a:latin typeface="Calibri"/>
              <a:ea typeface="Calibri"/>
              <a:cs typeface="Calibri"/>
              <a:sym typeface="Calibri"/>
            </a:endParaRPr>
          </a:p>
        </p:txBody>
      </p:sp>
      <p:sp>
        <p:nvSpPr>
          <p:cNvPr id="144" name="Google Shape;144;p14"/>
          <p:cNvSpPr/>
          <p:nvPr/>
        </p:nvSpPr>
        <p:spPr>
          <a:xfrm>
            <a:off x="6345476" y="2995513"/>
            <a:ext cx="5154484"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It is the </a:t>
            </a:r>
            <a:r>
              <a:rPr b="1" i="0" lang="en-US" sz="1550" u="none" cap="none" strike="noStrike">
                <a:solidFill>
                  <a:srgbClr val="CAD6DE"/>
                </a:solidFill>
                <a:latin typeface="Cabin"/>
                <a:ea typeface="Cabin"/>
                <a:cs typeface="Cabin"/>
                <a:sym typeface="Cabin"/>
              </a:rPr>
              <a:t>root entity</a:t>
            </a:r>
            <a:r>
              <a:rPr b="0" i="0" lang="en-US" sz="1550" u="none" cap="none" strike="noStrike">
                <a:solidFill>
                  <a:srgbClr val="CAD6DE"/>
                </a:solidFill>
                <a:latin typeface="Cabin"/>
                <a:ea typeface="Cabin"/>
                <a:cs typeface="Cabin"/>
                <a:sym typeface="Cabin"/>
              </a:rPr>
              <a:t> of every DDS application. It represents an app's presence in the domain and acts as a factory for </a:t>
            </a:r>
            <a:r>
              <a:rPr b="1" i="0" lang="en-US" sz="1550" u="none" cap="none" strike="noStrike">
                <a:solidFill>
                  <a:srgbClr val="CAD6DE"/>
                </a:solidFill>
                <a:latin typeface="Cabin"/>
                <a:ea typeface="Cabin"/>
                <a:cs typeface="Cabin"/>
                <a:sym typeface="Cabin"/>
              </a:rPr>
              <a:t>Publishers</a:t>
            </a:r>
            <a:r>
              <a:rPr b="0" i="0" lang="en-US" sz="1550" u="none" cap="none" strike="noStrike">
                <a:solidFill>
                  <a:srgbClr val="CAD6DE"/>
                </a:solidFill>
                <a:latin typeface="Cabin"/>
                <a:ea typeface="Cabin"/>
                <a:cs typeface="Cabin"/>
                <a:sym typeface="Cabin"/>
              </a:rPr>
              <a:t>, </a:t>
            </a:r>
            <a:r>
              <a:rPr b="1" i="0" lang="en-US" sz="1550" u="none" cap="none" strike="noStrike">
                <a:solidFill>
                  <a:srgbClr val="CAD6DE"/>
                </a:solidFill>
                <a:latin typeface="Cabin"/>
                <a:ea typeface="Cabin"/>
                <a:cs typeface="Cabin"/>
                <a:sym typeface="Cabin"/>
              </a:rPr>
              <a:t>Subscribers</a:t>
            </a:r>
            <a:r>
              <a:rPr b="0" i="0" lang="en-US" sz="1550" u="none" cap="none" strike="noStrike">
                <a:solidFill>
                  <a:srgbClr val="CAD6DE"/>
                </a:solidFill>
                <a:latin typeface="Cabin"/>
                <a:ea typeface="Cabin"/>
                <a:cs typeface="Cabin"/>
                <a:sym typeface="Cabin"/>
              </a:rPr>
              <a:t>, and </a:t>
            </a:r>
            <a:r>
              <a:rPr b="1" i="0" lang="en-US" sz="1550" u="none" cap="none" strike="noStrike">
                <a:solidFill>
                  <a:srgbClr val="CAD6DE"/>
                </a:solidFill>
                <a:latin typeface="Cabin"/>
                <a:ea typeface="Cabin"/>
                <a:cs typeface="Cabin"/>
                <a:sym typeface="Cabin"/>
              </a:rPr>
              <a:t>Topics</a:t>
            </a:r>
            <a:r>
              <a:rPr b="0" i="0" lang="en-US" sz="1550" u="none" cap="none" strike="noStrike">
                <a:solidFill>
                  <a:srgbClr val="CAD6DE"/>
                </a:solidFill>
                <a:latin typeface="Cabin"/>
                <a:ea typeface="Cabin"/>
                <a:cs typeface="Cabin"/>
                <a:sym typeface="Cabin"/>
              </a:rPr>
              <a:t>.</a:t>
            </a:r>
            <a:endParaRPr b="0" i="0" sz="1550" u="none" cap="none" strike="noStrike">
              <a:solidFill>
                <a:schemeClr val="dk1"/>
              </a:solidFill>
              <a:latin typeface="Calibri"/>
              <a:ea typeface="Calibri"/>
              <a:cs typeface="Calibri"/>
              <a:sym typeface="Calibri"/>
            </a:endParaRPr>
          </a:p>
        </p:txBody>
      </p:sp>
      <p:sp>
        <p:nvSpPr>
          <p:cNvPr id="145" name="Google Shape;145;p14"/>
          <p:cNvSpPr/>
          <p:nvPr/>
        </p:nvSpPr>
        <p:spPr>
          <a:xfrm>
            <a:off x="698086" y="4356894"/>
            <a:ext cx="3465525" cy="1456531"/>
          </a:xfrm>
          <a:prstGeom prst="roundRect">
            <a:avLst>
              <a:gd fmla="val 2054"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897510" y="4556323"/>
            <a:ext cx="3066676"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Domain 0</a:t>
            </a:r>
            <a:endParaRPr b="0" i="0" sz="1800" u="none" cap="none" strike="noStrike">
              <a:solidFill>
                <a:schemeClr val="dk1"/>
              </a:solidFill>
              <a:latin typeface="Calibri"/>
              <a:ea typeface="Calibri"/>
              <a:cs typeface="Calibri"/>
              <a:sym typeface="Calibri"/>
            </a:endParaRPr>
          </a:p>
        </p:txBody>
      </p:sp>
      <p:sp>
        <p:nvSpPr>
          <p:cNvPr id="147" name="Google Shape;147;p14"/>
          <p:cNvSpPr/>
          <p:nvPr/>
        </p:nvSpPr>
        <p:spPr>
          <a:xfrm>
            <a:off x="897510" y="4969272"/>
            <a:ext cx="3066676" cy="64472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Smart City: Sensors </a:t>
            </a:r>
            <a:r>
              <a:rPr b="0" i="0" lang="en-US" sz="1550" u="none" cap="none" strike="noStrike">
                <a:solidFill>
                  <a:srgbClr val="000000"/>
                </a:solidFill>
                <a:latin typeface="Cabin"/>
                <a:ea typeface="Cabin"/>
                <a:cs typeface="Cabin"/>
                <a:sym typeface="Cabin"/>
              </a:rPr>
              <a:t>↔</a:t>
            </a:r>
            <a:r>
              <a:rPr b="0" i="0" lang="en-US" sz="1550" u="none" cap="none" strike="noStrike">
                <a:solidFill>
                  <a:srgbClr val="CAD6DE"/>
                </a:solidFill>
                <a:latin typeface="Cabin"/>
                <a:ea typeface="Cabin"/>
                <a:cs typeface="Cabin"/>
                <a:sym typeface="Cabin"/>
              </a:rPr>
              <a:t> Backend </a:t>
            </a:r>
            <a:r>
              <a:rPr b="0" i="0" lang="en-US" sz="1550" u="none" cap="none" strike="noStrike">
                <a:solidFill>
                  <a:srgbClr val="000000"/>
                </a:solidFill>
                <a:latin typeface="Cabin"/>
                <a:ea typeface="Cabin"/>
                <a:cs typeface="Cabin"/>
                <a:sym typeface="Cabin"/>
              </a:rPr>
              <a:t>↔</a:t>
            </a:r>
            <a:r>
              <a:rPr b="0" i="0" lang="en-US" sz="1550" u="none" cap="none" strike="noStrike">
                <a:solidFill>
                  <a:srgbClr val="CAD6DE"/>
                </a:solidFill>
                <a:latin typeface="Cabin"/>
                <a:ea typeface="Cabin"/>
                <a:cs typeface="Cabin"/>
                <a:sym typeface="Cabin"/>
              </a:rPr>
              <a:t> Traffic Lights</a:t>
            </a:r>
            <a:endParaRPr b="0" i="0" sz="1550" u="none" cap="none" strike="noStrike">
              <a:solidFill>
                <a:schemeClr val="dk1"/>
              </a:solidFill>
              <a:latin typeface="Calibri"/>
              <a:ea typeface="Calibri"/>
              <a:cs typeface="Calibri"/>
              <a:sym typeface="Calibri"/>
            </a:endParaRPr>
          </a:p>
        </p:txBody>
      </p:sp>
      <p:sp>
        <p:nvSpPr>
          <p:cNvPr id="148" name="Google Shape;148;p14"/>
          <p:cNvSpPr/>
          <p:nvPr/>
        </p:nvSpPr>
        <p:spPr>
          <a:xfrm>
            <a:off x="4363035" y="4356894"/>
            <a:ext cx="3465525" cy="1456531"/>
          </a:xfrm>
          <a:prstGeom prst="roundRect">
            <a:avLst>
              <a:gd fmla="val 2054"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4"/>
          <p:cNvSpPr/>
          <p:nvPr/>
        </p:nvSpPr>
        <p:spPr>
          <a:xfrm>
            <a:off x="4562460" y="4556323"/>
            <a:ext cx="3066676"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Domain 1</a:t>
            </a:r>
            <a:endParaRPr b="0" i="0" sz="1800" u="none" cap="none" strike="noStrike">
              <a:solidFill>
                <a:schemeClr val="dk1"/>
              </a:solidFill>
              <a:latin typeface="Calibri"/>
              <a:ea typeface="Calibri"/>
              <a:cs typeface="Calibri"/>
              <a:sym typeface="Calibri"/>
            </a:endParaRPr>
          </a:p>
        </p:txBody>
      </p:sp>
      <p:sp>
        <p:nvSpPr>
          <p:cNvPr id="150" name="Google Shape;150;p14"/>
          <p:cNvSpPr/>
          <p:nvPr/>
        </p:nvSpPr>
        <p:spPr>
          <a:xfrm>
            <a:off x="4562460" y="4969272"/>
            <a:ext cx="3066676" cy="64472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Maintenance: Technicians </a:t>
            </a:r>
            <a:r>
              <a:rPr b="0" i="0" lang="en-US" sz="1550" u="none" cap="none" strike="noStrike">
                <a:solidFill>
                  <a:srgbClr val="000000"/>
                </a:solidFill>
                <a:latin typeface="Cabin"/>
                <a:ea typeface="Cabin"/>
                <a:cs typeface="Cabin"/>
                <a:sym typeface="Cabin"/>
              </a:rPr>
              <a:t>↔</a:t>
            </a:r>
            <a:r>
              <a:rPr b="0" i="0" lang="en-US" sz="1550" u="none" cap="none" strike="noStrike">
                <a:solidFill>
                  <a:srgbClr val="CAD6DE"/>
                </a:solidFill>
                <a:latin typeface="Cabin"/>
                <a:ea typeface="Cabin"/>
                <a:cs typeface="Cabin"/>
                <a:sym typeface="Cabin"/>
              </a:rPr>
              <a:t> Diagnostics</a:t>
            </a:r>
            <a:endParaRPr b="0" i="0" sz="1550" u="none" cap="none" strike="noStrike">
              <a:solidFill>
                <a:schemeClr val="dk1"/>
              </a:solidFill>
              <a:latin typeface="Calibri"/>
              <a:ea typeface="Calibri"/>
              <a:cs typeface="Calibri"/>
              <a:sym typeface="Calibri"/>
            </a:endParaRPr>
          </a:p>
        </p:txBody>
      </p:sp>
      <p:sp>
        <p:nvSpPr>
          <p:cNvPr id="151" name="Google Shape;151;p14"/>
          <p:cNvSpPr/>
          <p:nvPr/>
        </p:nvSpPr>
        <p:spPr>
          <a:xfrm>
            <a:off x="8027985" y="4356894"/>
            <a:ext cx="3465624" cy="1456531"/>
          </a:xfrm>
          <a:prstGeom prst="roundRect">
            <a:avLst>
              <a:gd fmla="val 2054"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8227410" y="4556323"/>
            <a:ext cx="3066775"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Domain 2</a:t>
            </a:r>
            <a:endParaRPr b="0" i="0" sz="1800" u="none" cap="none" strike="noStrike">
              <a:solidFill>
                <a:schemeClr val="dk1"/>
              </a:solidFill>
              <a:latin typeface="Calibri"/>
              <a:ea typeface="Calibri"/>
              <a:cs typeface="Calibri"/>
              <a:sym typeface="Calibri"/>
            </a:endParaRPr>
          </a:p>
        </p:txBody>
      </p:sp>
      <p:sp>
        <p:nvSpPr>
          <p:cNvPr id="153" name="Google Shape;153;p14"/>
          <p:cNvSpPr/>
          <p:nvPr/>
        </p:nvSpPr>
        <p:spPr>
          <a:xfrm>
            <a:off x="8227410" y="4969272"/>
            <a:ext cx="3066775" cy="32553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Emergency: 112 </a:t>
            </a:r>
            <a:r>
              <a:rPr b="0" i="0" lang="en-US" sz="1550" u="none" cap="none" strike="noStrike">
                <a:solidFill>
                  <a:srgbClr val="000000"/>
                </a:solidFill>
                <a:latin typeface="Cabin"/>
                <a:ea typeface="Cabin"/>
                <a:cs typeface="Cabin"/>
                <a:sym typeface="Cabin"/>
              </a:rPr>
              <a:t>↔</a:t>
            </a:r>
            <a:r>
              <a:rPr b="0" i="0" lang="en-US" sz="1550" u="none" cap="none" strike="noStrike">
                <a:solidFill>
                  <a:srgbClr val="CAD6DE"/>
                </a:solidFill>
                <a:latin typeface="Cabin"/>
                <a:ea typeface="Cabin"/>
                <a:cs typeface="Cabin"/>
                <a:sym typeface="Cabin"/>
              </a:rPr>
              <a:t> Alerts</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p:nvPr/>
        </p:nvSpPr>
        <p:spPr>
          <a:xfrm>
            <a:off x="698086" y="1630561"/>
            <a:ext cx="1079552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DDS Architecture</a:t>
            </a:r>
            <a:endParaRPr b="0" i="0" sz="1800" u="none" cap="none" strike="noStrike">
              <a:solidFill>
                <a:schemeClr val="dk1"/>
              </a:solidFill>
              <a:latin typeface="Calibri"/>
              <a:ea typeface="Calibri"/>
              <a:cs typeface="Calibri"/>
              <a:sym typeface="Calibri"/>
            </a:endParaRPr>
          </a:p>
        </p:txBody>
      </p:sp>
      <p:sp>
        <p:nvSpPr>
          <p:cNvPr id="160" name="Google Shape;160;p15"/>
          <p:cNvSpPr/>
          <p:nvPr/>
        </p:nvSpPr>
        <p:spPr>
          <a:xfrm>
            <a:off x="698086" y="2003623"/>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Topic, Publisher &amp; Subscriber</a:t>
            </a:r>
            <a:endParaRPr b="0" i="0" sz="3650" u="none" cap="none" strike="noStrike">
              <a:solidFill>
                <a:schemeClr val="dk1"/>
              </a:solidFill>
              <a:latin typeface="Calibri"/>
              <a:ea typeface="Calibri"/>
              <a:cs typeface="Calibri"/>
              <a:sym typeface="Calibri"/>
            </a:endParaRPr>
          </a:p>
        </p:txBody>
      </p:sp>
      <p:pic>
        <p:nvPicPr>
          <p:cNvPr descr="preencoded.png" id="161" name="Google Shape;161;p15"/>
          <p:cNvPicPr preferRelativeResize="0"/>
          <p:nvPr/>
        </p:nvPicPr>
        <p:blipFill rotWithShape="1">
          <a:blip r:embed="rId3">
            <a:alphaModFix/>
          </a:blip>
          <a:srcRect b="0" l="0" r="0" t="0"/>
          <a:stretch/>
        </p:blipFill>
        <p:spPr>
          <a:xfrm>
            <a:off x="698086" y="2889448"/>
            <a:ext cx="398949" cy="398959"/>
          </a:xfrm>
          <a:prstGeom prst="rect">
            <a:avLst/>
          </a:prstGeom>
          <a:noFill/>
          <a:ln>
            <a:noFill/>
          </a:ln>
        </p:spPr>
      </p:pic>
      <p:sp>
        <p:nvSpPr>
          <p:cNvPr id="162" name="Google Shape;162;p15"/>
          <p:cNvSpPr/>
          <p:nvPr/>
        </p:nvSpPr>
        <p:spPr>
          <a:xfrm>
            <a:off x="698086" y="3537744"/>
            <a:ext cx="3432288"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Topic</a:t>
            </a:r>
            <a:endParaRPr b="0" i="0" sz="1800" u="none" cap="none" strike="noStrike">
              <a:solidFill>
                <a:schemeClr val="dk1"/>
              </a:solidFill>
              <a:latin typeface="Calibri"/>
              <a:ea typeface="Calibri"/>
              <a:cs typeface="Calibri"/>
              <a:sym typeface="Calibri"/>
            </a:endParaRPr>
          </a:p>
        </p:txBody>
      </p:sp>
      <p:sp>
        <p:nvSpPr>
          <p:cNvPr id="163" name="Google Shape;163;p15"/>
          <p:cNvSpPr/>
          <p:nvPr/>
        </p:nvSpPr>
        <p:spPr>
          <a:xfrm>
            <a:off x="698086" y="3950692"/>
            <a:ext cx="3432288" cy="127674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Three attributes: </a:t>
            </a:r>
            <a:r>
              <a:rPr b="1" i="0" lang="en-US" sz="1550" u="none" cap="none" strike="noStrike">
                <a:solidFill>
                  <a:srgbClr val="CAD6DE"/>
                </a:solidFill>
                <a:latin typeface="Cabin"/>
                <a:ea typeface="Cabin"/>
                <a:cs typeface="Cabin"/>
                <a:sym typeface="Cabin"/>
              </a:rPr>
              <a:t>Name</a:t>
            </a:r>
            <a:r>
              <a:rPr b="0" i="0" lang="en-US" sz="1550" u="none" cap="none" strike="noStrike">
                <a:solidFill>
                  <a:srgbClr val="CAD6DE"/>
                </a:solidFill>
                <a:latin typeface="Cabin"/>
                <a:ea typeface="Cabin"/>
                <a:cs typeface="Cabin"/>
                <a:sym typeface="Cabin"/>
              </a:rPr>
              <a:t> (unique within the domain), </a:t>
            </a:r>
            <a:r>
              <a:rPr b="1" i="0" lang="en-US" sz="1550" u="none" cap="none" strike="noStrike">
                <a:solidFill>
                  <a:srgbClr val="CAD6DE"/>
                </a:solidFill>
                <a:latin typeface="Cabin"/>
                <a:ea typeface="Cabin"/>
                <a:cs typeface="Cabin"/>
                <a:sym typeface="Cabin"/>
              </a:rPr>
              <a:t>Type</a:t>
            </a:r>
            <a:r>
              <a:rPr b="0" i="0" lang="en-US" sz="1550" u="none" cap="none" strike="noStrike">
                <a:solidFill>
                  <a:srgbClr val="CAD6DE"/>
                </a:solidFill>
                <a:latin typeface="Cabin"/>
                <a:ea typeface="Cabin"/>
                <a:cs typeface="Cabin"/>
                <a:sym typeface="Cabin"/>
              </a:rPr>
              <a:t> (data structure, type-safe), </a:t>
            </a:r>
            <a:r>
              <a:rPr b="1" i="0" lang="en-US" sz="1550" u="none" cap="none" strike="noStrike">
                <a:solidFill>
                  <a:srgbClr val="CAD6DE"/>
                </a:solidFill>
                <a:latin typeface="Cabin"/>
                <a:ea typeface="Cabin"/>
                <a:cs typeface="Cabin"/>
                <a:sym typeface="Cabin"/>
              </a:rPr>
              <a:t>QoS</a:t>
            </a:r>
            <a:r>
              <a:rPr b="0" i="0" lang="en-US" sz="1550" u="none" cap="none" strike="noStrike">
                <a:solidFill>
                  <a:srgbClr val="CAD6DE"/>
                </a:solidFill>
                <a:latin typeface="Cabin"/>
                <a:ea typeface="Cabin"/>
                <a:cs typeface="Cabin"/>
                <a:sym typeface="Cabin"/>
              </a:rPr>
              <a:t> (quality policies).</a:t>
            </a:r>
            <a:endParaRPr b="0" i="0" sz="1550" u="none" cap="none" strike="noStrike">
              <a:solidFill>
                <a:schemeClr val="dk1"/>
              </a:solidFill>
              <a:latin typeface="Calibri"/>
              <a:ea typeface="Calibri"/>
              <a:cs typeface="Calibri"/>
              <a:sym typeface="Calibri"/>
            </a:endParaRPr>
          </a:p>
        </p:txBody>
      </p:sp>
      <p:pic>
        <p:nvPicPr>
          <p:cNvPr descr="preencoded.png" id="164" name="Google Shape;164;p15"/>
          <p:cNvPicPr preferRelativeResize="0"/>
          <p:nvPr/>
        </p:nvPicPr>
        <p:blipFill rotWithShape="1">
          <a:blip r:embed="rId4">
            <a:alphaModFix/>
          </a:blip>
          <a:srcRect b="0" l="0" r="0" t="0"/>
          <a:stretch/>
        </p:blipFill>
        <p:spPr>
          <a:xfrm>
            <a:off x="4379704" y="2889448"/>
            <a:ext cx="398949" cy="398959"/>
          </a:xfrm>
          <a:prstGeom prst="rect">
            <a:avLst/>
          </a:prstGeom>
          <a:noFill/>
          <a:ln>
            <a:noFill/>
          </a:ln>
        </p:spPr>
      </p:pic>
      <p:sp>
        <p:nvSpPr>
          <p:cNvPr id="165" name="Google Shape;165;p15"/>
          <p:cNvSpPr/>
          <p:nvPr/>
        </p:nvSpPr>
        <p:spPr>
          <a:xfrm>
            <a:off x="4379704" y="3537744"/>
            <a:ext cx="3432288"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Publisher</a:t>
            </a:r>
            <a:endParaRPr b="0" i="0" sz="1800" u="none" cap="none" strike="noStrike">
              <a:solidFill>
                <a:schemeClr val="dk1"/>
              </a:solidFill>
              <a:latin typeface="Calibri"/>
              <a:ea typeface="Calibri"/>
              <a:cs typeface="Calibri"/>
              <a:sym typeface="Calibri"/>
            </a:endParaRPr>
          </a:p>
        </p:txBody>
      </p:sp>
      <p:sp>
        <p:nvSpPr>
          <p:cNvPr id="166" name="Google Shape;166;p15"/>
          <p:cNvSpPr/>
          <p:nvPr/>
        </p:nvSpPr>
        <p:spPr>
          <a:xfrm>
            <a:off x="4379704" y="3950692"/>
            <a:ext cx="3432288"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Grouping entity for DataWriters. Manages shared QoS. Can contain multiple DataWriters on different topics.</a:t>
            </a:r>
            <a:endParaRPr b="0" i="0" sz="1550" u="none" cap="none" strike="noStrike">
              <a:solidFill>
                <a:schemeClr val="dk1"/>
              </a:solidFill>
              <a:latin typeface="Calibri"/>
              <a:ea typeface="Calibri"/>
              <a:cs typeface="Calibri"/>
              <a:sym typeface="Calibri"/>
            </a:endParaRPr>
          </a:p>
        </p:txBody>
      </p:sp>
      <p:pic>
        <p:nvPicPr>
          <p:cNvPr descr="preencoded.png" id="167" name="Google Shape;167;p15"/>
          <p:cNvPicPr preferRelativeResize="0"/>
          <p:nvPr/>
        </p:nvPicPr>
        <p:blipFill rotWithShape="1">
          <a:blip r:embed="rId5">
            <a:alphaModFix/>
          </a:blip>
          <a:srcRect b="0" l="0" r="0" t="0"/>
          <a:stretch/>
        </p:blipFill>
        <p:spPr>
          <a:xfrm>
            <a:off x="8061322" y="2889448"/>
            <a:ext cx="398949" cy="398959"/>
          </a:xfrm>
          <a:prstGeom prst="rect">
            <a:avLst/>
          </a:prstGeom>
          <a:noFill/>
          <a:ln>
            <a:noFill/>
          </a:ln>
        </p:spPr>
      </p:pic>
      <p:sp>
        <p:nvSpPr>
          <p:cNvPr id="168" name="Google Shape;168;p15"/>
          <p:cNvSpPr/>
          <p:nvPr/>
        </p:nvSpPr>
        <p:spPr>
          <a:xfrm>
            <a:off x="8061322" y="3537744"/>
            <a:ext cx="3432288"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Subscriber</a:t>
            </a:r>
            <a:endParaRPr b="0" i="0" sz="1800" u="none" cap="none" strike="noStrike">
              <a:solidFill>
                <a:schemeClr val="dk1"/>
              </a:solidFill>
              <a:latin typeface="Calibri"/>
              <a:ea typeface="Calibri"/>
              <a:cs typeface="Calibri"/>
              <a:sym typeface="Calibri"/>
            </a:endParaRPr>
          </a:p>
        </p:txBody>
      </p:sp>
      <p:sp>
        <p:nvSpPr>
          <p:cNvPr id="169" name="Google Shape;169;p15"/>
          <p:cNvSpPr/>
          <p:nvPr/>
        </p:nvSpPr>
        <p:spPr>
          <a:xfrm>
            <a:off x="8061322" y="3950692"/>
            <a:ext cx="3432288"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Grouping entity for DataReaders. Analogously to the Publisher, it defines default QoS for child readers.</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p:nvPr/>
        </p:nvSpPr>
        <p:spPr>
          <a:xfrm>
            <a:off x="342711" y="381911"/>
            <a:ext cx="10795500" cy="293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DDS Architecture</a:t>
            </a:r>
            <a:endParaRPr b="0" i="0" sz="1800" u="none" cap="none" strike="noStrike">
              <a:solidFill>
                <a:schemeClr val="dk1"/>
              </a:solidFill>
              <a:latin typeface="Calibri"/>
              <a:ea typeface="Calibri"/>
              <a:cs typeface="Calibri"/>
              <a:sym typeface="Calibri"/>
            </a:endParaRPr>
          </a:p>
        </p:txBody>
      </p:sp>
      <p:sp>
        <p:nvSpPr>
          <p:cNvPr id="176" name="Google Shape;176;p16"/>
          <p:cNvSpPr/>
          <p:nvPr/>
        </p:nvSpPr>
        <p:spPr>
          <a:xfrm>
            <a:off x="342711" y="754973"/>
            <a:ext cx="10795500" cy="586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lang="en-US" sz="3650">
                <a:solidFill>
                  <a:srgbClr val="FFFFFF"/>
                </a:solidFill>
                <a:latin typeface="Unbounded"/>
                <a:ea typeface="Unbounded"/>
                <a:cs typeface="Unbounded"/>
                <a:sym typeface="Unbounded"/>
              </a:rPr>
              <a:t>Example - 3 nodes in the Network:</a:t>
            </a:r>
            <a:endParaRPr b="0" i="0" sz="3650" u="none" cap="none" strike="noStrike">
              <a:solidFill>
                <a:schemeClr val="dk1"/>
              </a:solidFill>
              <a:latin typeface="Calibri"/>
              <a:ea typeface="Calibri"/>
              <a:cs typeface="Calibri"/>
              <a:sym typeface="Calibri"/>
            </a:endParaRPr>
          </a:p>
        </p:txBody>
      </p:sp>
      <p:pic>
        <p:nvPicPr>
          <p:cNvPr id="177" name="Google Shape;177;p16"/>
          <p:cNvPicPr preferRelativeResize="0"/>
          <p:nvPr/>
        </p:nvPicPr>
        <p:blipFill>
          <a:blip r:embed="rId3">
            <a:alphaModFix/>
          </a:blip>
          <a:stretch>
            <a:fillRect/>
          </a:stretch>
        </p:blipFill>
        <p:spPr>
          <a:xfrm>
            <a:off x="1967225" y="1868775"/>
            <a:ext cx="7429651" cy="3913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p:nvPr/>
        </p:nvSpPr>
        <p:spPr>
          <a:xfrm>
            <a:off x="342711" y="381911"/>
            <a:ext cx="10795500" cy="293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DDS Architecture</a:t>
            </a:r>
            <a:endParaRPr b="0" i="0" sz="1800" u="none" cap="none" strike="noStrike">
              <a:solidFill>
                <a:schemeClr val="dk1"/>
              </a:solidFill>
              <a:latin typeface="Calibri"/>
              <a:ea typeface="Calibri"/>
              <a:cs typeface="Calibri"/>
              <a:sym typeface="Calibri"/>
            </a:endParaRPr>
          </a:p>
        </p:txBody>
      </p:sp>
      <p:sp>
        <p:nvSpPr>
          <p:cNvPr id="184" name="Google Shape;184;p17"/>
          <p:cNvSpPr/>
          <p:nvPr/>
        </p:nvSpPr>
        <p:spPr>
          <a:xfrm>
            <a:off x="342711" y="754973"/>
            <a:ext cx="10795500" cy="586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lang="en-US" sz="3650">
                <a:solidFill>
                  <a:srgbClr val="FFFFFF"/>
                </a:solidFill>
                <a:latin typeface="Unbounded"/>
                <a:ea typeface="Unbounded"/>
                <a:cs typeface="Unbounded"/>
                <a:sym typeface="Unbounded"/>
              </a:rPr>
              <a:t>Example - 3 nodes in the Network:</a:t>
            </a:r>
            <a:endParaRPr b="0" i="0" sz="3650" u="none" cap="none" strike="noStrike">
              <a:solidFill>
                <a:schemeClr val="dk1"/>
              </a:solidFill>
              <a:latin typeface="Calibri"/>
              <a:ea typeface="Calibri"/>
              <a:cs typeface="Calibri"/>
              <a:sym typeface="Calibri"/>
            </a:endParaRPr>
          </a:p>
        </p:txBody>
      </p:sp>
      <p:sp>
        <p:nvSpPr>
          <p:cNvPr id="185" name="Google Shape;185;p17"/>
          <p:cNvSpPr/>
          <p:nvPr/>
        </p:nvSpPr>
        <p:spPr>
          <a:xfrm>
            <a:off x="342700" y="1487750"/>
            <a:ext cx="11596500" cy="5868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lang="en-US" sz="1550">
                <a:solidFill>
                  <a:srgbClr val="CAD6DE"/>
                </a:solidFill>
                <a:latin typeface="Cabin"/>
                <a:ea typeface="Cabin"/>
                <a:cs typeface="Cabin"/>
                <a:sym typeface="Cabin"/>
              </a:rPr>
              <a:t>Discovery phase starts, each node needs to be aware of all the other nodes that want to join in the DDS network, nodes start to send Multicast UDP packets to declare their presence to other nodes</a:t>
            </a:r>
            <a:endParaRPr b="0" i="0" sz="1550" u="none" cap="none" strike="noStrike">
              <a:solidFill>
                <a:schemeClr val="dk1"/>
              </a:solidFill>
              <a:latin typeface="Calibri"/>
              <a:ea typeface="Calibri"/>
              <a:cs typeface="Calibri"/>
              <a:sym typeface="Calibri"/>
            </a:endParaRPr>
          </a:p>
        </p:txBody>
      </p:sp>
      <p:pic>
        <p:nvPicPr>
          <p:cNvPr id="186" name="Google Shape;186;p17"/>
          <p:cNvPicPr preferRelativeResize="0"/>
          <p:nvPr/>
        </p:nvPicPr>
        <p:blipFill>
          <a:blip r:embed="rId3">
            <a:alphaModFix/>
          </a:blip>
          <a:stretch>
            <a:fillRect/>
          </a:stretch>
        </p:blipFill>
        <p:spPr>
          <a:xfrm>
            <a:off x="1061175" y="2270850"/>
            <a:ext cx="9936575" cy="4197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p:nvPr/>
        </p:nvSpPr>
        <p:spPr>
          <a:xfrm>
            <a:off x="342711" y="381911"/>
            <a:ext cx="10795500" cy="293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DDS Architecture</a:t>
            </a:r>
            <a:endParaRPr b="0" i="0" sz="1800" u="none" cap="none" strike="noStrike">
              <a:solidFill>
                <a:schemeClr val="dk1"/>
              </a:solidFill>
              <a:latin typeface="Calibri"/>
              <a:ea typeface="Calibri"/>
              <a:cs typeface="Calibri"/>
              <a:sym typeface="Calibri"/>
            </a:endParaRPr>
          </a:p>
        </p:txBody>
      </p:sp>
      <p:sp>
        <p:nvSpPr>
          <p:cNvPr id="193" name="Google Shape;193;p18"/>
          <p:cNvSpPr/>
          <p:nvPr/>
        </p:nvSpPr>
        <p:spPr>
          <a:xfrm>
            <a:off x="342711" y="754973"/>
            <a:ext cx="10795500" cy="586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lang="en-US" sz="3650">
                <a:solidFill>
                  <a:srgbClr val="FFFFFF"/>
                </a:solidFill>
                <a:latin typeface="Unbounded"/>
                <a:ea typeface="Unbounded"/>
                <a:cs typeface="Unbounded"/>
                <a:sym typeface="Unbounded"/>
              </a:rPr>
              <a:t>Example - 3 nodes in the Network:</a:t>
            </a:r>
            <a:endParaRPr b="0" i="0" sz="3650" u="none" cap="none" strike="noStrike">
              <a:solidFill>
                <a:schemeClr val="dk1"/>
              </a:solidFill>
              <a:latin typeface="Calibri"/>
              <a:ea typeface="Calibri"/>
              <a:cs typeface="Calibri"/>
              <a:sym typeface="Calibri"/>
            </a:endParaRPr>
          </a:p>
        </p:txBody>
      </p:sp>
      <p:sp>
        <p:nvSpPr>
          <p:cNvPr id="194" name="Google Shape;194;p18"/>
          <p:cNvSpPr/>
          <p:nvPr/>
        </p:nvSpPr>
        <p:spPr>
          <a:xfrm>
            <a:off x="342700" y="1487750"/>
            <a:ext cx="11596500" cy="5868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lang="en-US" sz="1550">
                <a:solidFill>
                  <a:srgbClr val="CAD6DE"/>
                </a:solidFill>
                <a:latin typeface="Cabin"/>
                <a:ea typeface="Cabin"/>
                <a:cs typeface="Cabin"/>
                <a:sym typeface="Cabin"/>
              </a:rPr>
              <a:t>Discovery phase starts, each node needs to be aware of all the other nodes that want to join in the DDS network, nodes start to send Multicast UDP packets to declare their presence to other nodes</a:t>
            </a:r>
            <a:endParaRPr b="0" i="0" sz="1550" u="none" cap="none" strike="noStrike">
              <a:solidFill>
                <a:schemeClr val="dk1"/>
              </a:solidFill>
              <a:latin typeface="Calibri"/>
              <a:ea typeface="Calibri"/>
              <a:cs typeface="Calibri"/>
              <a:sym typeface="Calibri"/>
            </a:endParaRPr>
          </a:p>
        </p:txBody>
      </p:sp>
      <p:pic>
        <p:nvPicPr>
          <p:cNvPr id="195" name="Google Shape;195;p18" title="Schermata del 2026-09-05 18-11-02.png"/>
          <p:cNvPicPr preferRelativeResize="0"/>
          <p:nvPr/>
        </p:nvPicPr>
        <p:blipFill rotWithShape="1">
          <a:blip r:embed="rId3">
            <a:alphaModFix/>
          </a:blip>
          <a:srcRect b="0" l="0" r="0" t="0"/>
          <a:stretch/>
        </p:blipFill>
        <p:spPr>
          <a:xfrm>
            <a:off x="1061175" y="2270850"/>
            <a:ext cx="9936575" cy="4197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p:nvPr/>
        </p:nvSpPr>
        <p:spPr>
          <a:xfrm>
            <a:off x="342711" y="381911"/>
            <a:ext cx="10795500" cy="293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DDS Architecture</a:t>
            </a:r>
            <a:endParaRPr b="0" i="0" sz="1800" u="none" cap="none" strike="noStrike">
              <a:solidFill>
                <a:schemeClr val="dk1"/>
              </a:solidFill>
              <a:latin typeface="Calibri"/>
              <a:ea typeface="Calibri"/>
              <a:cs typeface="Calibri"/>
              <a:sym typeface="Calibri"/>
            </a:endParaRPr>
          </a:p>
        </p:txBody>
      </p:sp>
      <p:sp>
        <p:nvSpPr>
          <p:cNvPr id="202" name="Google Shape;202;p19"/>
          <p:cNvSpPr/>
          <p:nvPr/>
        </p:nvSpPr>
        <p:spPr>
          <a:xfrm>
            <a:off x="342711" y="754973"/>
            <a:ext cx="10795500" cy="586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lang="en-US" sz="3650">
                <a:solidFill>
                  <a:srgbClr val="FFFFFF"/>
                </a:solidFill>
                <a:latin typeface="Unbounded"/>
                <a:ea typeface="Unbounded"/>
                <a:cs typeface="Unbounded"/>
                <a:sym typeface="Unbounded"/>
              </a:rPr>
              <a:t>Example - 3 nodes in the Network:</a:t>
            </a:r>
            <a:endParaRPr b="0" i="0" sz="3650" u="none" cap="none" strike="noStrike">
              <a:solidFill>
                <a:schemeClr val="dk1"/>
              </a:solidFill>
              <a:latin typeface="Calibri"/>
              <a:ea typeface="Calibri"/>
              <a:cs typeface="Calibri"/>
              <a:sym typeface="Calibri"/>
            </a:endParaRPr>
          </a:p>
        </p:txBody>
      </p:sp>
      <p:sp>
        <p:nvSpPr>
          <p:cNvPr id="203" name="Google Shape;203;p19"/>
          <p:cNvSpPr/>
          <p:nvPr/>
        </p:nvSpPr>
        <p:spPr>
          <a:xfrm>
            <a:off x="342700" y="1815250"/>
            <a:ext cx="11260200" cy="3544200"/>
          </a:xfrm>
          <a:prstGeom prst="rect">
            <a:avLst/>
          </a:prstGeom>
          <a:noFill/>
          <a:ln>
            <a:noFill/>
          </a:ln>
        </p:spPr>
        <p:txBody>
          <a:bodyPr anchorCtr="0" anchor="t" bIns="0" lIns="0" spcFirstLastPara="1" rIns="0" wrap="square" tIns="0">
            <a:noAutofit/>
          </a:bodyPr>
          <a:lstStyle/>
          <a:p>
            <a:pPr indent="0" lvl="0" marL="0" rtl="0" algn="l">
              <a:lnSpc>
                <a:spcPct val="133000"/>
              </a:lnSpc>
              <a:spcBef>
                <a:spcPts val="0"/>
              </a:spcBef>
              <a:spcAft>
                <a:spcPts val="0"/>
              </a:spcAft>
              <a:buNone/>
            </a:pPr>
            <a:r>
              <a:rPr b="1" lang="en-US" sz="2050">
                <a:solidFill>
                  <a:schemeClr val="lt1"/>
                </a:solidFill>
                <a:latin typeface="Cabin"/>
                <a:ea typeface="Cabin"/>
                <a:cs typeface="Cabin"/>
                <a:sym typeface="Cabin"/>
              </a:rPr>
              <a:t>During the Discovery Phase:</a:t>
            </a:r>
            <a:endParaRPr b="1" sz="2050">
              <a:solidFill>
                <a:schemeClr val="lt1"/>
              </a:solidFill>
              <a:latin typeface="Cabin"/>
              <a:ea typeface="Cabin"/>
              <a:cs typeface="Cabin"/>
              <a:sym typeface="Cabin"/>
            </a:endParaRPr>
          </a:p>
          <a:p>
            <a:pPr indent="0" lvl="0" marL="457200" rtl="0" algn="l">
              <a:lnSpc>
                <a:spcPct val="133000"/>
              </a:lnSpc>
              <a:spcBef>
                <a:spcPts val="0"/>
              </a:spcBef>
              <a:spcAft>
                <a:spcPts val="0"/>
              </a:spcAft>
              <a:buNone/>
            </a:pPr>
            <a:r>
              <a:t/>
            </a:r>
            <a:endParaRPr sz="1750">
              <a:solidFill>
                <a:schemeClr val="lt1"/>
              </a:solidFill>
              <a:latin typeface="Cabin"/>
              <a:ea typeface="Cabin"/>
              <a:cs typeface="Cabin"/>
              <a:sym typeface="Cabin"/>
            </a:endParaRPr>
          </a:p>
          <a:p>
            <a:pPr indent="-339725" lvl="0" marL="457200" rtl="0" algn="l">
              <a:lnSpc>
                <a:spcPct val="133000"/>
              </a:lnSpc>
              <a:spcBef>
                <a:spcPts val="0"/>
              </a:spcBef>
              <a:spcAft>
                <a:spcPts val="0"/>
              </a:spcAft>
              <a:buClr>
                <a:schemeClr val="lt1"/>
              </a:buClr>
              <a:buSzPts val="1750"/>
              <a:buFont typeface="Cabin"/>
              <a:buChar char="●"/>
            </a:pPr>
            <a:r>
              <a:rPr lang="en-US" sz="1750">
                <a:solidFill>
                  <a:schemeClr val="lt1"/>
                </a:solidFill>
                <a:latin typeface="Cabin"/>
                <a:ea typeface="Cabin"/>
                <a:cs typeface="Cabin"/>
                <a:sym typeface="Cabin"/>
              </a:rPr>
              <a:t>Both nodes A and C belong to the same Domain ID, they want to write/read data on the same topic, the data type is the same → There is a Match! </a:t>
            </a:r>
            <a:endParaRPr sz="1750">
              <a:solidFill>
                <a:schemeClr val="lt1"/>
              </a:solidFill>
              <a:latin typeface="Calibri"/>
              <a:ea typeface="Calibri"/>
              <a:cs typeface="Calibri"/>
              <a:sym typeface="Calibri"/>
            </a:endParaRPr>
          </a:p>
          <a:p>
            <a:pPr indent="0" lvl="0" marL="457200" marR="0" rtl="0" algn="l">
              <a:lnSpc>
                <a:spcPct val="133000"/>
              </a:lnSpc>
              <a:spcBef>
                <a:spcPts val="0"/>
              </a:spcBef>
              <a:spcAft>
                <a:spcPts val="0"/>
              </a:spcAft>
              <a:buNone/>
            </a:pPr>
            <a:r>
              <a:t/>
            </a:r>
            <a:endParaRPr sz="1750">
              <a:solidFill>
                <a:schemeClr val="lt1"/>
              </a:solidFill>
              <a:latin typeface="Cabin"/>
              <a:ea typeface="Cabin"/>
              <a:cs typeface="Cabin"/>
              <a:sym typeface="Cabin"/>
            </a:endParaRPr>
          </a:p>
          <a:p>
            <a:pPr indent="-339725" lvl="0" marL="457200" marR="0" rtl="0" algn="l">
              <a:lnSpc>
                <a:spcPct val="133000"/>
              </a:lnSpc>
              <a:spcBef>
                <a:spcPts val="0"/>
              </a:spcBef>
              <a:spcAft>
                <a:spcPts val="0"/>
              </a:spcAft>
              <a:buClr>
                <a:schemeClr val="lt1"/>
              </a:buClr>
              <a:buSzPts val="1750"/>
              <a:buFont typeface="Cabin"/>
              <a:buChar char="●"/>
            </a:pPr>
            <a:r>
              <a:rPr lang="en-US" sz="1750">
                <a:solidFill>
                  <a:schemeClr val="lt1"/>
                </a:solidFill>
                <a:latin typeface="Cabin"/>
                <a:ea typeface="Cabin"/>
                <a:cs typeface="Cabin"/>
                <a:sym typeface="Cabin"/>
              </a:rPr>
              <a:t>The Machine A detect this match, and they understand they can directly communicate, now Node A knows the Node C is a DataReader interested on the data posted by A → They can start to communicate directly.</a:t>
            </a:r>
            <a:endParaRPr sz="1750">
              <a:solidFill>
                <a:schemeClr val="lt1"/>
              </a:solidFill>
              <a:latin typeface="Cabin"/>
              <a:ea typeface="Cabin"/>
              <a:cs typeface="Cabin"/>
              <a:sym typeface="Cabin"/>
            </a:endParaRPr>
          </a:p>
          <a:p>
            <a:pPr indent="0" lvl="0" marL="457200" marR="0" rtl="0" algn="l">
              <a:lnSpc>
                <a:spcPct val="133000"/>
              </a:lnSpc>
              <a:spcBef>
                <a:spcPts val="0"/>
              </a:spcBef>
              <a:spcAft>
                <a:spcPts val="0"/>
              </a:spcAft>
              <a:buNone/>
            </a:pPr>
            <a:r>
              <a:t/>
            </a:r>
            <a:endParaRPr sz="1750">
              <a:solidFill>
                <a:schemeClr val="lt1"/>
              </a:solidFill>
              <a:latin typeface="Cabin"/>
              <a:ea typeface="Cabin"/>
              <a:cs typeface="Cabin"/>
              <a:sym typeface="Cabin"/>
            </a:endParaRPr>
          </a:p>
          <a:p>
            <a:pPr indent="-339725" lvl="0" marL="457200" marR="0" rtl="0" algn="l">
              <a:lnSpc>
                <a:spcPct val="133000"/>
              </a:lnSpc>
              <a:spcBef>
                <a:spcPts val="0"/>
              </a:spcBef>
              <a:spcAft>
                <a:spcPts val="0"/>
              </a:spcAft>
              <a:buClr>
                <a:schemeClr val="lt1"/>
              </a:buClr>
              <a:buSzPts val="1750"/>
              <a:buFont typeface="Cabin"/>
              <a:buChar char="●"/>
            </a:pPr>
            <a:r>
              <a:rPr lang="en-US" sz="1750">
                <a:solidFill>
                  <a:schemeClr val="lt1"/>
                </a:solidFill>
                <a:latin typeface="Cabin"/>
                <a:ea typeface="Cabin"/>
                <a:cs typeface="Cabin"/>
                <a:sym typeface="Cabin"/>
              </a:rPr>
              <a:t>The same process is repeated for all the other nodes in the network.</a:t>
            </a:r>
            <a:endParaRPr sz="1750">
              <a:solidFill>
                <a:schemeClr val="lt1"/>
              </a:solidFill>
              <a:latin typeface="Cabin"/>
              <a:ea typeface="Cabin"/>
              <a:cs typeface="Cabin"/>
              <a:sym typeface="Cabi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descr="preencoded.png" id="209" name="Google Shape;209;p20"/>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210" name="Google Shape;210;p20"/>
          <p:cNvSpPr/>
          <p:nvPr/>
        </p:nvSpPr>
        <p:spPr>
          <a:xfrm>
            <a:off x="5269971" y="843657"/>
            <a:ext cx="6223638" cy="52804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300"/>
              <a:buFont typeface="Unbounded"/>
              <a:buNone/>
            </a:pPr>
            <a:r>
              <a:rPr b="0" i="0" lang="en-US" sz="3300" u="none" cap="none" strike="noStrike">
                <a:solidFill>
                  <a:srgbClr val="FFFFFF"/>
                </a:solidFill>
                <a:latin typeface="Unbounded"/>
                <a:ea typeface="Unbounded"/>
                <a:cs typeface="Unbounded"/>
                <a:sym typeface="Unbounded"/>
              </a:rPr>
              <a:t>Fast DDS</a:t>
            </a:r>
            <a:endParaRPr b="0" i="0" sz="3300" u="none" cap="none" strike="noStrike">
              <a:solidFill>
                <a:schemeClr val="dk1"/>
              </a:solidFill>
              <a:latin typeface="Calibri"/>
              <a:ea typeface="Calibri"/>
              <a:cs typeface="Calibri"/>
              <a:sym typeface="Calibri"/>
            </a:endParaRPr>
          </a:p>
        </p:txBody>
      </p:sp>
      <p:sp>
        <p:nvSpPr>
          <p:cNvPr id="211" name="Google Shape;211;p20"/>
          <p:cNvSpPr/>
          <p:nvPr/>
        </p:nvSpPr>
        <p:spPr>
          <a:xfrm>
            <a:off x="5269971" y="1436291"/>
            <a:ext cx="6223638" cy="8447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Unbounded"/>
              <a:buNone/>
            </a:pPr>
            <a:r>
              <a:rPr b="0" i="0" lang="en-US" sz="2650" u="none" cap="none" strike="noStrike">
                <a:solidFill>
                  <a:srgbClr val="FFFFFF"/>
                </a:solidFill>
                <a:latin typeface="Unbounded"/>
                <a:ea typeface="Unbounded"/>
                <a:cs typeface="Unbounded"/>
                <a:sym typeface="Unbounded"/>
              </a:rPr>
              <a:t>A modern C++ implementation of the OMG DDS standard</a:t>
            </a:r>
            <a:endParaRPr b="0" i="0" sz="2650" u="none" cap="none" strike="noStrike">
              <a:solidFill>
                <a:schemeClr val="dk1"/>
              </a:solidFill>
              <a:latin typeface="Calibri"/>
              <a:ea typeface="Calibri"/>
              <a:cs typeface="Calibri"/>
              <a:sym typeface="Calibri"/>
            </a:endParaRPr>
          </a:p>
        </p:txBody>
      </p:sp>
      <p:sp>
        <p:nvSpPr>
          <p:cNvPr id="212" name="Google Shape;212;p20"/>
          <p:cNvSpPr/>
          <p:nvPr/>
        </p:nvSpPr>
        <p:spPr>
          <a:xfrm>
            <a:off x="5269971" y="2523331"/>
            <a:ext cx="6223638" cy="545505"/>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Fast DDS is a variant and implementation of the standard DDS (Data Distribution Service) specification, tailored for high-performance and real-time applications.</a:t>
            </a:r>
            <a:endParaRPr b="0" i="0" sz="1400" u="none" cap="none" strike="noStrike">
              <a:solidFill>
                <a:schemeClr val="dk1"/>
              </a:solidFill>
              <a:latin typeface="Calibri"/>
              <a:ea typeface="Calibri"/>
              <a:cs typeface="Calibri"/>
              <a:sym typeface="Calibri"/>
            </a:endParaRPr>
          </a:p>
        </p:txBody>
      </p:sp>
      <p:sp>
        <p:nvSpPr>
          <p:cNvPr id="213" name="Google Shape;213;p20"/>
          <p:cNvSpPr/>
          <p:nvPr/>
        </p:nvSpPr>
        <p:spPr>
          <a:xfrm>
            <a:off x="5269971" y="3250605"/>
            <a:ext cx="3031057" cy="904478"/>
          </a:xfrm>
          <a:prstGeom prst="roundRect">
            <a:avLst>
              <a:gd fmla="val 2977"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
          <p:cNvSpPr/>
          <p:nvPr/>
        </p:nvSpPr>
        <p:spPr>
          <a:xfrm>
            <a:off x="5449454" y="3430091"/>
            <a:ext cx="2672093" cy="272752"/>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Developed by eProsima</a:t>
            </a:r>
            <a:endParaRPr b="0" i="0" sz="1400" u="none" cap="none" strike="noStrike">
              <a:solidFill>
                <a:schemeClr val="dk1"/>
              </a:solidFill>
              <a:latin typeface="Calibri"/>
              <a:ea typeface="Calibri"/>
              <a:cs typeface="Calibri"/>
              <a:sym typeface="Calibri"/>
            </a:endParaRPr>
          </a:p>
        </p:txBody>
      </p:sp>
      <p:sp>
        <p:nvSpPr>
          <p:cNvPr id="215" name="Google Shape;215;p20"/>
          <p:cNvSpPr/>
          <p:nvPr/>
        </p:nvSpPr>
        <p:spPr>
          <a:xfrm>
            <a:off x="8462552" y="3250605"/>
            <a:ext cx="3031057" cy="904478"/>
          </a:xfrm>
          <a:prstGeom prst="roundRect">
            <a:avLst>
              <a:gd fmla="val 2977"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
          <p:cNvSpPr/>
          <p:nvPr/>
        </p:nvSpPr>
        <p:spPr>
          <a:xfrm>
            <a:off x="8642035" y="3430091"/>
            <a:ext cx="2672093" cy="545505"/>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Implements the Real-Time Publish-Subscribe (RTPS) protocol</a:t>
            </a:r>
            <a:endParaRPr b="0" i="0" sz="1400" u="none" cap="none" strike="noStrike">
              <a:solidFill>
                <a:schemeClr val="dk1"/>
              </a:solidFill>
              <a:latin typeface="Calibri"/>
              <a:ea typeface="Calibri"/>
              <a:cs typeface="Calibri"/>
              <a:sym typeface="Calibri"/>
            </a:endParaRPr>
          </a:p>
        </p:txBody>
      </p:sp>
      <p:sp>
        <p:nvSpPr>
          <p:cNvPr id="217" name="Google Shape;217;p20"/>
          <p:cNvSpPr/>
          <p:nvPr/>
        </p:nvSpPr>
        <p:spPr>
          <a:xfrm>
            <a:off x="5269971" y="4316611"/>
            <a:ext cx="3031057" cy="904478"/>
          </a:xfrm>
          <a:prstGeom prst="roundRect">
            <a:avLst>
              <a:gd fmla="val 2977"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0"/>
          <p:cNvSpPr/>
          <p:nvPr/>
        </p:nvSpPr>
        <p:spPr>
          <a:xfrm>
            <a:off x="5449454" y="4496098"/>
            <a:ext cx="2672093" cy="545505"/>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Default middleware for ROS 2 Jazzy Jalisco</a:t>
            </a:r>
            <a:endParaRPr b="0" i="0" sz="1400" u="none" cap="none" strike="noStrike">
              <a:solidFill>
                <a:schemeClr val="dk1"/>
              </a:solidFill>
              <a:latin typeface="Calibri"/>
              <a:ea typeface="Calibri"/>
              <a:cs typeface="Calibri"/>
              <a:sym typeface="Calibri"/>
            </a:endParaRPr>
          </a:p>
        </p:txBody>
      </p:sp>
      <p:sp>
        <p:nvSpPr>
          <p:cNvPr id="219" name="Google Shape;219;p20"/>
          <p:cNvSpPr/>
          <p:nvPr/>
        </p:nvSpPr>
        <p:spPr>
          <a:xfrm>
            <a:off x="8462552" y="4316611"/>
            <a:ext cx="3031057" cy="904478"/>
          </a:xfrm>
          <a:prstGeom prst="roundRect">
            <a:avLst>
              <a:gd fmla="val 2977"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0"/>
          <p:cNvSpPr/>
          <p:nvPr/>
        </p:nvSpPr>
        <p:spPr>
          <a:xfrm>
            <a:off x="8642035" y="4496098"/>
            <a:ext cx="2672093" cy="545505"/>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Provides low-latency, deterministic data exchange for robotic systems</a:t>
            </a:r>
            <a:endParaRPr b="0" i="0" sz="1400" u="none" cap="none" strike="noStrike">
              <a:solidFill>
                <a:schemeClr val="dk1"/>
              </a:solidFill>
              <a:latin typeface="Calibri"/>
              <a:ea typeface="Calibri"/>
              <a:cs typeface="Calibri"/>
              <a:sym typeface="Calibri"/>
            </a:endParaRPr>
          </a:p>
        </p:txBody>
      </p:sp>
      <p:sp>
        <p:nvSpPr>
          <p:cNvPr id="221" name="Google Shape;221;p20"/>
          <p:cNvSpPr/>
          <p:nvPr/>
        </p:nvSpPr>
        <p:spPr>
          <a:xfrm>
            <a:off x="5269971" y="5382617"/>
            <a:ext cx="6223638" cy="631726"/>
          </a:xfrm>
          <a:prstGeom prst="roundRect">
            <a:avLst>
              <a:gd fmla="val 4263"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0"/>
          <p:cNvSpPr/>
          <p:nvPr/>
        </p:nvSpPr>
        <p:spPr>
          <a:xfrm>
            <a:off x="5449454" y="5562104"/>
            <a:ext cx="5864674" cy="272752"/>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Open-source (Apache 2.0 license)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1"/>
          <p:cNvSpPr/>
          <p:nvPr/>
        </p:nvSpPr>
        <p:spPr>
          <a:xfrm>
            <a:off x="698086" y="583803"/>
            <a:ext cx="10795524" cy="55731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500"/>
              <a:buFont typeface="Unbounded"/>
              <a:buNone/>
            </a:pPr>
            <a:r>
              <a:rPr b="0" i="0" lang="en-US" sz="3500" u="none" cap="none" strike="noStrike">
                <a:solidFill>
                  <a:srgbClr val="FFFFFF"/>
                </a:solidFill>
                <a:latin typeface="Unbounded"/>
                <a:ea typeface="Unbounded"/>
                <a:cs typeface="Unbounded"/>
                <a:sym typeface="Unbounded"/>
              </a:rPr>
              <a:t>Why Fast DDS in This Project?</a:t>
            </a:r>
            <a:endParaRPr b="0" i="0" sz="3500" u="none" cap="none" strike="noStrike">
              <a:solidFill>
                <a:schemeClr val="dk1"/>
              </a:solidFill>
              <a:latin typeface="Calibri"/>
              <a:ea typeface="Calibri"/>
              <a:cs typeface="Calibri"/>
              <a:sym typeface="Calibri"/>
            </a:endParaRPr>
          </a:p>
        </p:txBody>
      </p:sp>
      <p:sp>
        <p:nvSpPr>
          <p:cNvPr id="229" name="Google Shape;229;p21"/>
          <p:cNvSpPr/>
          <p:nvPr/>
        </p:nvSpPr>
        <p:spPr>
          <a:xfrm>
            <a:off x="698086" y="1591072"/>
            <a:ext cx="5166588" cy="27860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50"/>
              <a:buFont typeface="Unbounded"/>
              <a:buNone/>
            </a:pPr>
            <a:r>
              <a:rPr b="0" i="0" lang="en-US" sz="1750" u="none" cap="none" strike="noStrike">
                <a:solidFill>
                  <a:srgbClr val="FFFFFF"/>
                </a:solidFill>
                <a:latin typeface="Unbounded"/>
                <a:ea typeface="Unbounded"/>
                <a:cs typeface="Unbounded"/>
                <a:sym typeface="Unbounded"/>
              </a:rPr>
              <a:t>Main Problem: Network Isolation</a:t>
            </a:r>
            <a:endParaRPr b="0" i="0" sz="1750" u="none" cap="none" strike="noStrike">
              <a:solidFill>
                <a:schemeClr val="dk1"/>
              </a:solidFill>
              <a:latin typeface="Calibri"/>
              <a:ea typeface="Calibri"/>
              <a:cs typeface="Calibri"/>
              <a:sym typeface="Calibri"/>
            </a:endParaRPr>
          </a:p>
        </p:txBody>
      </p:sp>
      <p:sp>
        <p:nvSpPr>
          <p:cNvPr id="230" name="Google Shape;230;p21"/>
          <p:cNvSpPr/>
          <p:nvPr/>
        </p:nvSpPr>
        <p:spPr>
          <a:xfrm>
            <a:off x="698086" y="2049661"/>
            <a:ext cx="5166588" cy="20974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By default, ROS 2 relies on UDP Multicast for dynamic peer discovery.</a:t>
            </a:r>
            <a:endParaRPr b="0" i="0" sz="1450" u="none" cap="none" strike="noStrike">
              <a:solidFill>
                <a:schemeClr val="dk1"/>
              </a:solidFill>
              <a:latin typeface="Calibri"/>
              <a:ea typeface="Calibri"/>
              <a:cs typeface="Calibri"/>
              <a:sym typeface="Calibri"/>
            </a:endParaRPr>
          </a:p>
          <a:p>
            <a:pPr indent="0" lvl="0" marL="0" marR="0" rtl="0" algn="l">
              <a:lnSpc>
                <a:spcPct val="130000"/>
              </a:lnSpc>
              <a:spcBef>
                <a:spcPts val="125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Containerized microservice architectures using Docker bridge networks frequently block or restrict UDP multicast packets across isolated containers.</a:t>
            </a:r>
            <a:endParaRPr b="0" i="0" sz="1450" u="none" cap="none" strike="noStrike">
              <a:solidFill>
                <a:schemeClr val="dk1"/>
              </a:solidFill>
              <a:latin typeface="Calibri"/>
              <a:ea typeface="Calibri"/>
              <a:cs typeface="Calibri"/>
              <a:sym typeface="Calibri"/>
            </a:endParaRPr>
          </a:p>
          <a:p>
            <a:pPr indent="0" lvl="0" marL="0" marR="0" rtl="0" algn="l">
              <a:lnSpc>
                <a:spcPct val="130000"/>
              </a:lnSpc>
              <a:spcBef>
                <a:spcPts val="125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This creates network isolation issues.</a:t>
            </a:r>
            <a:endParaRPr b="0" i="0" sz="1450" u="none" cap="none" strike="noStrike">
              <a:solidFill>
                <a:schemeClr val="dk1"/>
              </a:solidFill>
              <a:latin typeface="Calibri"/>
              <a:ea typeface="Calibri"/>
              <a:cs typeface="Calibri"/>
              <a:sym typeface="Calibri"/>
            </a:endParaRPr>
          </a:p>
        </p:txBody>
      </p:sp>
      <p:sp>
        <p:nvSpPr>
          <p:cNvPr id="231" name="Google Shape;231;p21"/>
          <p:cNvSpPr/>
          <p:nvPr/>
        </p:nvSpPr>
        <p:spPr>
          <a:xfrm>
            <a:off x="6333371" y="1591072"/>
            <a:ext cx="5166588" cy="5572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50"/>
              <a:buFont typeface="Unbounded"/>
              <a:buNone/>
            </a:pPr>
            <a:r>
              <a:rPr b="0" i="0" lang="en-US" sz="1750" u="none" cap="none" strike="noStrike">
                <a:solidFill>
                  <a:srgbClr val="FFFFFF"/>
                </a:solidFill>
                <a:latin typeface="Unbounded"/>
                <a:ea typeface="Unbounded"/>
                <a:cs typeface="Unbounded"/>
                <a:sym typeface="Unbounded"/>
              </a:rPr>
              <a:t>The Solution: Fast DDS Discovery Server</a:t>
            </a:r>
            <a:endParaRPr b="0" i="0" sz="1750" u="none" cap="none" strike="noStrike">
              <a:solidFill>
                <a:schemeClr val="dk1"/>
              </a:solidFill>
              <a:latin typeface="Calibri"/>
              <a:ea typeface="Calibri"/>
              <a:cs typeface="Calibri"/>
              <a:sym typeface="Calibri"/>
            </a:endParaRPr>
          </a:p>
        </p:txBody>
      </p:sp>
      <p:sp>
        <p:nvSpPr>
          <p:cNvPr id="232" name="Google Shape;232;p21"/>
          <p:cNvSpPr/>
          <p:nvPr/>
        </p:nvSpPr>
        <p:spPr>
          <a:xfrm>
            <a:off x="6333371" y="2328267"/>
            <a:ext cx="5166588" cy="59114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Replaces multicast discovery with a centralized unicast architecture.</a:t>
            </a:r>
            <a:endParaRPr b="0" i="0" sz="1450" u="none" cap="none" strike="noStrike">
              <a:solidFill>
                <a:schemeClr val="dk1"/>
              </a:solidFill>
              <a:latin typeface="Calibri"/>
              <a:ea typeface="Calibri"/>
              <a:cs typeface="Calibri"/>
              <a:sym typeface="Calibri"/>
            </a:endParaRPr>
          </a:p>
        </p:txBody>
      </p:sp>
      <p:sp>
        <p:nvSpPr>
          <p:cNvPr id="233" name="Google Shape;233;p21"/>
          <p:cNvSpPr/>
          <p:nvPr/>
        </p:nvSpPr>
        <p:spPr>
          <a:xfrm>
            <a:off x="6333371" y="3081437"/>
            <a:ext cx="5166588" cy="1899444"/>
          </a:xfrm>
          <a:prstGeom prst="rect">
            <a:avLst/>
          </a:prstGeom>
          <a:noFill/>
          <a:ln>
            <a:noFill/>
          </a:ln>
        </p:spPr>
        <p:txBody>
          <a:bodyPr anchorCtr="0" anchor="t" bIns="0" lIns="0" spcFirstLastPara="1" rIns="0" wrap="square" tIns="75800">
            <a:noAutofit/>
          </a:bodyPr>
          <a:lstStyle/>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Runs on port 11811</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Each drone agent and the Rust coordinator register directly with the Discovery Server upon container startup.</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Ensures deterministic, instant discovery of all ROS 2 nodes across Docker containers without packet loss or network isolation issues.</a:t>
            </a:r>
            <a:endParaRPr b="0" i="0" sz="1450" u="none" cap="none" strike="noStrike">
              <a:solidFill>
                <a:schemeClr val="dk1"/>
              </a:solidFill>
              <a:latin typeface="Calibri"/>
              <a:ea typeface="Calibri"/>
              <a:cs typeface="Calibri"/>
              <a:sym typeface="Calibri"/>
            </a:endParaRPr>
          </a:p>
        </p:txBody>
      </p:sp>
      <p:sp>
        <p:nvSpPr>
          <p:cNvPr id="234" name="Google Shape;234;p21"/>
          <p:cNvSpPr/>
          <p:nvPr/>
        </p:nvSpPr>
        <p:spPr>
          <a:xfrm>
            <a:off x="698086" y="5246390"/>
            <a:ext cx="10795524" cy="1027807"/>
          </a:xfrm>
          <a:prstGeom prst="roundRect">
            <a:avLst>
              <a:gd fmla="val 2766"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21"/>
          <p:cNvPicPr preferRelativeResize="0"/>
          <p:nvPr/>
        </p:nvPicPr>
        <p:blipFill rotWithShape="1">
          <a:blip r:embed="rId3">
            <a:alphaModFix/>
          </a:blip>
          <a:srcRect b="0" l="0" r="0" t="0"/>
          <a:stretch/>
        </p:blipFill>
        <p:spPr>
          <a:xfrm>
            <a:off x="887589" y="5504656"/>
            <a:ext cx="236829" cy="189508"/>
          </a:xfrm>
          <a:prstGeom prst="rect">
            <a:avLst/>
          </a:prstGeom>
          <a:noFill/>
          <a:ln>
            <a:noFill/>
          </a:ln>
        </p:spPr>
      </p:pic>
      <p:sp>
        <p:nvSpPr>
          <p:cNvPr id="236" name="Google Shape;236;p21"/>
          <p:cNvSpPr/>
          <p:nvPr/>
        </p:nvSpPr>
        <p:spPr>
          <a:xfrm>
            <a:off x="1313921" y="5473700"/>
            <a:ext cx="9990185" cy="59114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50"/>
              <a:buFont typeface="Cabin"/>
              <a:buNone/>
            </a:pPr>
            <a:r>
              <a:rPr b="1" i="0" lang="en-US" sz="1450" u="none" cap="none" strike="noStrike">
                <a:solidFill>
                  <a:srgbClr val="FFFFFF"/>
                </a:solidFill>
                <a:latin typeface="Cabin"/>
                <a:ea typeface="Cabin"/>
                <a:cs typeface="Cabin"/>
                <a:sym typeface="Cabin"/>
              </a:rPr>
              <a:t>Key Benefit:</a:t>
            </a:r>
            <a:r>
              <a:rPr b="0" i="0" lang="en-US" sz="1450" u="none" cap="none" strike="noStrike">
                <a:solidFill>
                  <a:srgbClr val="FFFFFF"/>
                </a:solidFill>
                <a:latin typeface="Cabin"/>
                <a:ea typeface="Cabin"/>
                <a:cs typeface="Cabin"/>
                <a:sym typeface="Cabin"/>
              </a:rPr>
              <a:t> Enables reliable peer-to-peer communication in containerized environments through a two-phase process: Server-Mediated Discovery followed by Direct Peer-to-Peer Data Communication.</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p:nvPr/>
        </p:nvSpPr>
        <p:spPr>
          <a:xfrm>
            <a:off x="698086" y="640655"/>
            <a:ext cx="10795524" cy="6477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4050"/>
              <a:buFont typeface="Unbounded"/>
              <a:buNone/>
            </a:pPr>
            <a:r>
              <a:rPr b="0" i="0" lang="en-US" sz="4050" u="none" cap="none" strike="noStrike">
                <a:solidFill>
                  <a:srgbClr val="FFFFFF"/>
                </a:solidFill>
                <a:latin typeface="Unbounded"/>
                <a:ea typeface="Unbounded"/>
                <a:cs typeface="Unbounded"/>
                <a:sym typeface="Unbounded"/>
              </a:rPr>
              <a:t>Fast DDS Implementation</a:t>
            </a:r>
            <a:endParaRPr b="0" i="0" sz="4050" u="none" cap="none" strike="noStrike">
              <a:solidFill>
                <a:schemeClr val="dk1"/>
              </a:solidFill>
              <a:latin typeface="Calibri"/>
              <a:ea typeface="Calibri"/>
              <a:cs typeface="Calibri"/>
              <a:sym typeface="Calibri"/>
            </a:endParaRPr>
          </a:p>
        </p:txBody>
      </p:sp>
      <p:sp>
        <p:nvSpPr>
          <p:cNvPr id="243" name="Google Shape;243;p22"/>
          <p:cNvSpPr/>
          <p:nvPr/>
        </p:nvSpPr>
        <p:spPr>
          <a:xfrm>
            <a:off x="698086" y="1479848"/>
            <a:ext cx="10795524"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450"/>
              <a:buFont typeface="Unbounded"/>
              <a:buNone/>
            </a:pPr>
            <a:r>
              <a:rPr b="0" i="0" lang="en-US" sz="1450" u="none" cap="none" strike="noStrike">
                <a:solidFill>
                  <a:srgbClr val="FFFFFF"/>
                </a:solidFill>
                <a:latin typeface="Unbounded"/>
                <a:ea typeface="Unbounded"/>
                <a:cs typeface="Unbounded"/>
                <a:sym typeface="Unbounded"/>
              </a:rPr>
              <a:t>1) Definition of the service in the docker-compose.yml</a:t>
            </a:r>
            <a:endParaRPr b="0" i="0" sz="1450" u="none" cap="none" strike="noStrike">
              <a:solidFill>
                <a:schemeClr val="dk1"/>
              </a:solidFill>
              <a:latin typeface="Calibri"/>
              <a:ea typeface="Calibri"/>
              <a:cs typeface="Calibri"/>
              <a:sym typeface="Calibri"/>
            </a:endParaRPr>
          </a:p>
        </p:txBody>
      </p:sp>
      <p:sp>
        <p:nvSpPr>
          <p:cNvPr id="244" name="Google Shape;244;p22"/>
          <p:cNvSpPr/>
          <p:nvPr/>
        </p:nvSpPr>
        <p:spPr>
          <a:xfrm>
            <a:off x="698086" y="4940895"/>
            <a:ext cx="10795524" cy="1276350"/>
          </a:xfrm>
          <a:prstGeom prst="rect">
            <a:avLst/>
          </a:prstGeom>
          <a:noFill/>
          <a:ln>
            <a:noFill/>
          </a:ln>
        </p:spPr>
        <p:txBody>
          <a:bodyPr anchorCtr="0" anchor="t" bIns="0" lIns="0" spcFirstLastPara="1" rIns="0" wrap="square" tIns="79775">
            <a:noAutofit/>
          </a:bodyPr>
          <a:lstStyle/>
          <a:p>
            <a:pPr indent="-314960" lvl="0" marL="314960" marR="0" rtl="0" algn="l">
              <a:lnSpc>
                <a:spcPct val="120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A container based on the official ROS 2 Jazzy image is instantiated.</a:t>
            </a:r>
            <a:endParaRPr b="0" i="0" sz="1550" u="none" cap="none" strike="noStrike">
              <a:solidFill>
                <a:schemeClr val="dk1"/>
              </a:solidFill>
              <a:latin typeface="Calibri"/>
              <a:ea typeface="Calibri"/>
              <a:cs typeface="Calibri"/>
              <a:sym typeface="Calibri"/>
            </a:endParaRPr>
          </a:p>
          <a:p>
            <a:pPr indent="-314960" lvl="0" marL="314960" marR="0" rtl="0" algn="l">
              <a:lnSpc>
                <a:spcPct val="120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The command </a:t>
            </a:r>
            <a:r>
              <a:rPr b="0" i="0" lang="en-US" sz="1550" u="none" cap="none" strike="noStrike">
                <a:solidFill>
                  <a:srgbClr val="CAD6DE"/>
                </a:solidFill>
                <a:highlight>
                  <a:srgbClr val="1E3543"/>
                </a:highlight>
                <a:latin typeface="Consolas"/>
                <a:ea typeface="Consolas"/>
                <a:cs typeface="Consolas"/>
                <a:sym typeface="Consolas"/>
              </a:rPr>
              <a:t>fastdds discovery -i 0 -l 0.0.0.0 -p 11811</a:t>
            </a:r>
            <a:r>
              <a:rPr b="0" i="0" lang="en-US" sz="1550" u="none" cap="none" strike="noStrike">
                <a:solidFill>
                  <a:srgbClr val="CAD6DE"/>
                </a:solidFill>
                <a:latin typeface="Cabin"/>
                <a:ea typeface="Cabin"/>
                <a:cs typeface="Cabin"/>
                <a:sym typeface="Cabin"/>
              </a:rPr>
              <a:t> is executed, starting the Discovery Server daemon on server ID </a:t>
            </a:r>
            <a:r>
              <a:rPr b="0" i="0" lang="en-US" sz="1550" u="none" cap="none" strike="noStrike">
                <a:solidFill>
                  <a:srgbClr val="CAD6DE"/>
                </a:solidFill>
                <a:highlight>
                  <a:srgbClr val="1E3543"/>
                </a:highlight>
                <a:latin typeface="Consolas"/>
                <a:ea typeface="Consolas"/>
                <a:cs typeface="Consolas"/>
                <a:sym typeface="Consolas"/>
              </a:rPr>
              <a:t>0</a:t>
            </a:r>
            <a:r>
              <a:rPr b="0" i="0" lang="en-US" sz="1550" u="none" cap="none" strike="noStrike">
                <a:solidFill>
                  <a:srgbClr val="CAD6DE"/>
                </a:solidFill>
                <a:latin typeface="Cabin"/>
                <a:ea typeface="Cabin"/>
                <a:cs typeface="Cabin"/>
                <a:sym typeface="Cabin"/>
              </a:rPr>
              <a:t>, listening on port </a:t>
            </a:r>
            <a:r>
              <a:rPr b="0" i="0" lang="en-US" sz="1550" u="none" cap="none" strike="noStrike">
                <a:solidFill>
                  <a:srgbClr val="CAD6DE"/>
                </a:solidFill>
                <a:highlight>
                  <a:srgbClr val="1E3543"/>
                </a:highlight>
                <a:latin typeface="Consolas"/>
                <a:ea typeface="Consolas"/>
                <a:cs typeface="Consolas"/>
                <a:sym typeface="Consolas"/>
              </a:rPr>
              <a:t>11811</a:t>
            </a:r>
            <a:r>
              <a:rPr b="0" i="0" lang="en-US" sz="1550" u="none" cap="none" strike="noStrike">
                <a:solidFill>
                  <a:srgbClr val="CAD6DE"/>
                </a:solidFill>
                <a:latin typeface="Cabin"/>
                <a:ea typeface="Cabin"/>
                <a:cs typeface="Cabin"/>
                <a:sym typeface="Cabin"/>
              </a:rPr>
              <a:t> (both UDP and TCP).</a:t>
            </a:r>
            <a:endParaRPr b="0" i="0" sz="1550" u="none" cap="none" strike="noStrike">
              <a:solidFill>
                <a:schemeClr val="dk1"/>
              </a:solidFill>
              <a:latin typeface="Calibri"/>
              <a:ea typeface="Calibri"/>
              <a:cs typeface="Calibri"/>
              <a:sym typeface="Calibri"/>
            </a:endParaRPr>
          </a:p>
          <a:p>
            <a:pPr indent="-314960" lvl="0" marL="314960" marR="0" rtl="0" algn="l">
              <a:lnSpc>
                <a:spcPct val="120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It is assigned the static IP address </a:t>
            </a:r>
            <a:r>
              <a:rPr b="0" i="0" lang="en-US" sz="1550" u="none" cap="none" strike="noStrike">
                <a:solidFill>
                  <a:srgbClr val="CAD6DE"/>
                </a:solidFill>
                <a:highlight>
                  <a:srgbClr val="1E3543"/>
                </a:highlight>
                <a:latin typeface="Consolas"/>
                <a:ea typeface="Consolas"/>
                <a:cs typeface="Consolas"/>
                <a:sym typeface="Consolas"/>
              </a:rPr>
              <a:t>172.28.0.10</a:t>
            </a:r>
            <a:r>
              <a:rPr b="0" i="0" lang="en-US" sz="1550" u="none" cap="none" strike="noStrike">
                <a:solidFill>
                  <a:srgbClr val="CAD6DE"/>
                </a:solidFill>
                <a:latin typeface="Cabin"/>
                <a:ea typeface="Cabin"/>
                <a:cs typeface="Cabin"/>
                <a:sym typeface="Cabin"/>
              </a:rPr>
              <a:t> within the </a:t>
            </a:r>
            <a:r>
              <a:rPr b="0" i="0" lang="en-US" sz="1550" u="none" cap="none" strike="noStrike">
                <a:solidFill>
                  <a:srgbClr val="CAD6DE"/>
                </a:solidFill>
                <a:highlight>
                  <a:srgbClr val="1E3543"/>
                </a:highlight>
                <a:latin typeface="Consolas"/>
                <a:ea typeface="Consolas"/>
                <a:cs typeface="Consolas"/>
                <a:sym typeface="Consolas"/>
              </a:rPr>
              <a:t>swarm_net</a:t>
            </a:r>
            <a:r>
              <a:rPr b="0" i="0" lang="en-US" sz="1550" u="none" cap="none" strike="noStrike">
                <a:solidFill>
                  <a:srgbClr val="CAD6DE"/>
                </a:solidFill>
                <a:latin typeface="Cabin"/>
                <a:ea typeface="Cabin"/>
                <a:cs typeface="Cabin"/>
                <a:sym typeface="Cabin"/>
              </a:rPr>
              <a:t> bridge network.</a:t>
            </a:r>
            <a:endParaRPr b="0" i="0" sz="1550" u="none" cap="none" strike="noStrike">
              <a:solidFill>
                <a:schemeClr val="dk1"/>
              </a:solidFill>
              <a:latin typeface="Calibri"/>
              <a:ea typeface="Calibri"/>
              <a:cs typeface="Calibri"/>
              <a:sym typeface="Calibri"/>
            </a:endParaRPr>
          </a:p>
        </p:txBody>
      </p:sp>
      <p:pic>
        <p:nvPicPr>
          <p:cNvPr id="245" name="Google Shape;245;p22"/>
          <p:cNvPicPr preferRelativeResize="0"/>
          <p:nvPr/>
        </p:nvPicPr>
        <p:blipFill>
          <a:blip r:embed="rId3">
            <a:alphaModFix/>
          </a:blip>
          <a:stretch>
            <a:fillRect/>
          </a:stretch>
        </p:blipFill>
        <p:spPr>
          <a:xfrm>
            <a:off x="904005" y="1866902"/>
            <a:ext cx="8347415" cy="292159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p:nvPr/>
        </p:nvSpPr>
        <p:spPr>
          <a:xfrm>
            <a:off x="698086" y="1411287"/>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Fast DDS Implementation</a:t>
            </a:r>
            <a:endParaRPr b="0" i="0" sz="3650" u="none" cap="none" strike="noStrike">
              <a:solidFill>
                <a:schemeClr val="dk1"/>
              </a:solidFill>
              <a:latin typeface="Calibri"/>
              <a:ea typeface="Calibri"/>
              <a:cs typeface="Calibri"/>
              <a:sym typeface="Calibri"/>
            </a:endParaRPr>
          </a:p>
        </p:txBody>
      </p:sp>
      <p:sp>
        <p:nvSpPr>
          <p:cNvPr id="252" name="Google Shape;252;p23"/>
          <p:cNvSpPr/>
          <p:nvPr/>
        </p:nvSpPr>
        <p:spPr>
          <a:xfrm>
            <a:off x="698086" y="2077740"/>
            <a:ext cx="1079552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2) </a:t>
            </a:r>
            <a:r>
              <a:rPr b="1" i="0" lang="en-US" sz="1800" u="none" cap="none" strike="noStrike">
                <a:solidFill>
                  <a:srgbClr val="FFFFFF"/>
                </a:solidFill>
                <a:latin typeface="Unbounded"/>
                <a:ea typeface="Unbounded"/>
                <a:cs typeface="Unbounded"/>
                <a:sym typeface="Unbounded"/>
              </a:rPr>
              <a:t>Client Nodes Configuration</a:t>
            </a:r>
            <a:endParaRPr b="0" i="0" sz="1800" u="none" cap="none" strike="noStrike">
              <a:solidFill>
                <a:schemeClr val="dk1"/>
              </a:solidFill>
              <a:latin typeface="Calibri"/>
              <a:ea typeface="Calibri"/>
              <a:cs typeface="Calibri"/>
              <a:sym typeface="Calibri"/>
            </a:endParaRPr>
          </a:p>
        </p:txBody>
      </p:sp>
      <p:sp>
        <p:nvSpPr>
          <p:cNvPr id="253" name="Google Shape;253;p23"/>
          <p:cNvSpPr/>
          <p:nvPr/>
        </p:nvSpPr>
        <p:spPr>
          <a:xfrm>
            <a:off x="698086" y="2670175"/>
            <a:ext cx="10795524" cy="79771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950"/>
              <a:buFont typeface="Cabin"/>
              <a:buNone/>
            </a:pPr>
            <a:r>
              <a:rPr b="0" i="0" lang="en-US" sz="1950" u="none" cap="none" strike="noStrike">
                <a:solidFill>
                  <a:srgbClr val="CAD6DE"/>
                </a:solidFill>
                <a:latin typeface="Cabin"/>
                <a:ea typeface="Cabin"/>
                <a:cs typeface="Cabin"/>
                <a:sym typeface="Cabin"/>
              </a:rPr>
              <a:t>To ensure that the microservices connect to the Discovery Server instead of relying on standard Multicast discovery, a triad of environment variables is exported across all </a:t>
            </a:r>
            <a:r>
              <a:rPr b="1" i="0" lang="en-US" sz="1950" u="none" cap="none" strike="noStrike">
                <a:solidFill>
                  <a:srgbClr val="CAD6DE"/>
                </a:solidFill>
                <a:latin typeface="Cabin"/>
                <a:ea typeface="Cabin"/>
                <a:cs typeface="Cabin"/>
                <a:sym typeface="Cabin"/>
              </a:rPr>
              <a:t>entrypoint.sh scripts</a:t>
            </a:r>
            <a:r>
              <a:rPr b="0" i="0" lang="en-US" sz="1950" u="none" cap="none" strike="noStrike">
                <a:solidFill>
                  <a:srgbClr val="CAD6DE"/>
                </a:solidFill>
                <a:latin typeface="Cabin"/>
                <a:ea typeface="Cabin"/>
                <a:cs typeface="Cabin"/>
                <a:sym typeface="Cabin"/>
              </a:rPr>
              <a:t>:</a:t>
            </a:r>
            <a:endParaRPr b="0" i="0" sz="1950" u="none" cap="none" strike="noStrike">
              <a:solidFill>
                <a:schemeClr val="dk1"/>
              </a:solidFill>
              <a:latin typeface="Calibri"/>
              <a:ea typeface="Calibri"/>
              <a:cs typeface="Calibri"/>
              <a:sym typeface="Calibri"/>
            </a:endParaRPr>
          </a:p>
        </p:txBody>
      </p:sp>
      <p:sp>
        <p:nvSpPr>
          <p:cNvPr id="254" name="Google Shape;254;p23"/>
          <p:cNvSpPr/>
          <p:nvPr/>
        </p:nvSpPr>
        <p:spPr>
          <a:xfrm>
            <a:off x="698086" y="3692227"/>
            <a:ext cx="10795524" cy="1754485"/>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CAD6DE"/>
              </a:buClr>
              <a:buSzPts val="1550"/>
              <a:buFont typeface="Consolas"/>
              <a:buChar char="•"/>
            </a:pPr>
            <a:r>
              <a:rPr b="0" i="0" lang="en-US" sz="1550" u="none" cap="none" strike="noStrike">
                <a:solidFill>
                  <a:srgbClr val="CAD6DE"/>
                </a:solidFill>
                <a:highlight>
                  <a:srgbClr val="1E3543"/>
                </a:highlight>
                <a:latin typeface="Consolas"/>
                <a:ea typeface="Consolas"/>
                <a:cs typeface="Consolas"/>
                <a:sym typeface="Consolas"/>
              </a:rPr>
              <a:t>RMW_IMPLEMENTATION=rmw_fastrtps_cpp</a:t>
            </a:r>
            <a:r>
              <a:rPr b="1" i="0" lang="en-US" sz="1550" u="none" cap="none" strike="noStrike">
                <a:solidFill>
                  <a:srgbClr val="CAD6DE"/>
                </a:solidFill>
                <a:latin typeface="Cabin"/>
                <a:ea typeface="Cabin"/>
                <a:cs typeface="Cabin"/>
                <a:sym typeface="Cabin"/>
              </a:rPr>
              <a:t>: </a:t>
            </a:r>
            <a:r>
              <a:rPr b="0" i="0" lang="en-US" sz="1550" u="none" cap="none" strike="noStrike">
                <a:solidFill>
                  <a:srgbClr val="CAD6DE"/>
                </a:solidFill>
                <a:latin typeface="Cabin"/>
                <a:ea typeface="Cabin"/>
                <a:cs typeface="Cabin"/>
                <a:sym typeface="Cabin"/>
              </a:rPr>
              <a:t>Forces the use of the Fast-DDS middleware implementation.</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onsolas"/>
              <a:buChar char="•"/>
            </a:pPr>
            <a:r>
              <a:rPr b="0" i="0" lang="en-US" sz="1550" u="none" cap="none" strike="noStrike">
                <a:solidFill>
                  <a:srgbClr val="CAD6DE"/>
                </a:solidFill>
                <a:highlight>
                  <a:srgbClr val="1E3543"/>
                </a:highlight>
                <a:latin typeface="Consolas"/>
                <a:ea typeface="Consolas"/>
                <a:cs typeface="Consolas"/>
                <a:sym typeface="Consolas"/>
              </a:rPr>
              <a:t>ROS_DISCOVERY_SERVER=172.28.0.10:11811</a:t>
            </a:r>
            <a:r>
              <a:rPr b="1" i="0" lang="en-US" sz="1550" u="none" cap="none" strike="noStrike">
                <a:solidFill>
                  <a:srgbClr val="CAD6DE"/>
                </a:solidFill>
                <a:latin typeface="Cabin"/>
                <a:ea typeface="Cabin"/>
                <a:cs typeface="Cabin"/>
                <a:sym typeface="Cabin"/>
              </a:rPr>
              <a:t>:</a:t>
            </a:r>
            <a:r>
              <a:rPr b="0" i="0" lang="en-US" sz="1550" u="none" cap="none" strike="noStrike">
                <a:solidFill>
                  <a:srgbClr val="CAD6DE"/>
                </a:solidFill>
                <a:latin typeface="Cabin"/>
                <a:ea typeface="Cabin"/>
                <a:cs typeface="Cabin"/>
                <a:sym typeface="Cabin"/>
              </a:rPr>
              <a:t> Provides the node with the Unicast IP address and port required for registration.</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onsolas"/>
              <a:buChar char="•"/>
            </a:pPr>
            <a:r>
              <a:rPr b="0" i="0" lang="en-US" sz="1550" u="none" cap="none" strike="noStrike">
                <a:solidFill>
                  <a:srgbClr val="CAD6DE"/>
                </a:solidFill>
                <a:highlight>
                  <a:srgbClr val="1E3543"/>
                </a:highlight>
                <a:latin typeface="Consolas"/>
                <a:ea typeface="Consolas"/>
                <a:cs typeface="Consolas"/>
                <a:sym typeface="Consolas"/>
              </a:rPr>
              <a:t>ROS_SUPER_CLIENT=true</a:t>
            </a:r>
            <a:r>
              <a:rPr b="1" i="0" lang="en-US" sz="1550" u="none" cap="none" strike="noStrike">
                <a:solidFill>
                  <a:srgbClr val="CAD6DE"/>
                </a:solidFill>
                <a:latin typeface="Cabin"/>
                <a:ea typeface="Cabin"/>
                <a:cs typeface="Cabin"/>
                <a:sym typeface="Cabin"/>
              </a:rPr>
              <a:t>: </a:t>
            </a:r>
            <a:r>
              <a:rPr b="0" i="0" lang="en-US" sz="1550" u="none" cap="none" strike="noStrike">
                <a:solidFill>
                  <a:srgbClr val="CAD6DE"/>
                </a:solidFill>
                <a:latin typeface="Cabin"/>
                <a:ea typeface="Cabin"/>
                <a:cs typeface="Cabin"/>
                <a:sym typeface="Cabin"/>
              </a:rPr>
              <a:t>Grants the node full visibility (Super Client status) over the complete ROS 2 graph and all active topics across the swarm.</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24"/>
          <p:cNvPicPr preferRelativeResize="0"/>
          <p:nvPr/>
        </p:nvPicPr>
        <p:blipFill>
          <a:blip r:embed="rId3">
            <a:alphaModFix/>
          </a:blip>
          <a:stretch>
            <a:fillRect/>
          </a:stretch>
        </p:blipFill>
        <p:spPr>
          <a:xfrm>
            <a:off x="942812" y="758410"/>
            <a:ext cx="10306051" cy="6004815"/>
          </a:xfrm>
          <a:prstGeom prst="rect">
            <a:avLst/>
          </a:prstGeom>
          <a:noFill/>
          <a:ln>
            <a:noFill/>
          </a:ln>
        </p:spPr>
      </p:pic>
      <p:sp>
        <p:nvSpPr>
          <p:cNvPr id="261" name="Google Shape;261;p24"/>
          <p:cNvSpPr/>
          <p:nvPr/>
        </p:nvSpPr>
        <p:spPr>
          <a:xfrm>
            <a:off x="602049" y="275515"/>
            <a:ext cx="10795500" cy="293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lang="en-US" sz="1800">
                <a:solidFill>
                  <a:srgbClr val="FFFFFF"/>
                </a:solidFill>
                <a:latin typeface="Unbounded"/>
                <a:ea typeface="Unbounded"/>
                <a:cs typeface="Unbounded"/>
                <a:sym typeface="Unbounded"/>
              </a:rPr>
              <a:t>Fast DDS procedure</a:t>
            </a:r>
            <a:r>
              <a:rPr b="1" i="0" lang="en-US" sz="1800" u="none" cap="none" strike="noStrike">
                <a:solidFill>
                  <a:srgbClr val="FFFFFF"/>
                </a:solidFill>
                <a:latin typeface="Unbounded"/>
                <a:ea typeface="Unbounded"/>
                <a:cs typeface="Unbounded"/>
                <a:sym typeface="Unbounded"/>
              </a:rPr>
              <a: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5"/>
          <p:cNvSpPr/>
          <p:nvPr/>
        </p:nvSpPr>
        <p:spPr>
          <a:xfrm>
            <a:off x="698086" y="1290538"/>
            <a:ext cx="10795524" cy="46940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b="1" i="0" lang="en-US" sz="2950" u="none" cap="none" strike="noStrike">
                <a:solidFill>
                  <a:srgbClr val="FFFFFF"/>
                </a:solidFill>
                <a:latin typeface="Unbounded"/>
                <a:ea typeface="Unbounded"/>
                <a:cs typeface="Unbounded"/>
                <a:sym typeface="Unbounded"/>
              </a:rPr>
              <a:t>How does Fast DDS works in simple terms:</a:t>
            </a:r>
            <a:endParaRPr b="0" i="0" sz="2950" u="none" cap="none" strike="noStrike">
              <a:solidFill>
                <a:schemeClr val="dk1"/>
              </a:solidFill>
              <a:latin typeface="Calibri"/>
              <a:ea typeface="Calibri"/>
              <a:cs typeface="Calibri"/>
              <a:sym typeface="Calibri"/>
            </a:endParaRPr>
          </a:p>
        </p:txBody>
      </p:sp>
      <p:sp>
        <p:nvSpPr>
          <p:cNvPr id="268" name="Google Shape;268;p25"/>
          <p:cNvSpPr/>
          <p:nvPr/>
        </p:nvSpPr>
        <p:spPr>
          <a:xfrm>
            <a:off x="698086" y="2158901"/>
            <a:ext cx="10795524" cy="79771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950"/>
              <a:buFont typeface="Cabin"/>
              <a:buNone/>
            </a:pPr>
            <a:r>
              <a:rPr b="0" i="0" lang="en-US" sz="1950" u="none" cap="none" strike="noStrike">
                <a:solidFill>
                  <a:srgbClr val="CAD6DE"/>
                </a:solidFill>
                <a:latin typeface="Cabin"/>
                <a:ea typeface="Cabin"/>
                <a:cs typeface="Cabin"/>
                <a:sym typeface="Cabin"/>
              </a:rPr>
              <a:t>Instead of shouting via Multicast hoping others will listen, a central node called the </a:t>
            </a:r>
            <a:r>
              <a:rPr b="1" i="0" lang="en-US" sz="1950" u="none" cap="none" strike="noStrike">
                <a:solidFill>
                  <a:srgbClr val="CAD6DE"/>
                </a:solidFill>
                <a:latin typeface="Cabin"/>
                <a:ea typeface="Cabin"/>
                <a:cs typeface="Cabin"/>
                <a:sym typeface="Cabin"/>
              </a:rPr>
              <a:t>Discovery Server</a:t>
            </a:r>
            <a:r>
              <a:rPr b="0" i="0" lang="en-US" sz="1950" u="none" cap="none" strike="noStrike">
                <a:solidFill>
                  <a:srgbClr val="CAD6DE"/>
                </a:solidFill>
                <a:latin typeface="Cabin"/>
                <a:ea typeface="Cabin"/>
                <a:cs typeface="Cabin"/>
                <a:sym typeface="Cabin"/>
              </a:rPr>
              <a:t> is created, serving as a </a:t>
            </a:r>
            <a:r>
              <a:rPr b="0" i="1" lang="en-US" sz="1950" u="none" cap="none" strike="noStrike">
                <a:solidFill>
                  <a:srgbClr val="CAD6DE"/>
                </a:solidFill>
                <a:latin typeface="Cabin"/>
                <a:ea typeface="Cabin"/>
                <a:cs typeface="Cabin"/>
                <a:sym typeface="Cabin"/>
              </a:rPr>
              <a:t>"Registry or Phonebook of Nodes"</a:t>
            </a:r>
            <a:r>
              <a:rPr b="0" i="0" lang="en-US" sz="1950" u="none" cap="none" strike="noStrike">
                <a:solidFill>
                  <a:srgbClr val="CAD6DE"/>
                </a:solidFill>
                <a:latin typeface="Cabin"/>
                <a:ea typeface="Cabin"/>
                <a:cs typeface="Cabin"/>
                <a:sym typeface="Cabin"/>
              </a:rPr>
              <a:t>:</a:t>
            </a:r>
            <a:endParaRPr b="0" i="0" sz="1950" u="none" cap="none" strike="noStrike">
              <a:solidFill>
                <a:schemeClr val="dk1"/>
              </a:solidFill>
              <a:latin typeface="Calibri"/>
              <a:ea typeface="Calibri"/>
              <a:cs typeface="Calibri"/>
              <a:sym typeface="Calibri"/>
            </a:endParaRPr>
          </a:p>
        </p:txBody>
      </p:sp>
      <p:sp>
        <p:nvSpPr>
          <p:cNvPr id="269" name="Google Shape;269;p25"/>
          <p:cNvSpPr/>
          <p:nvPr/>
        </p:nvSpPr>
        <p:spPr>
          <a:xfrm>
            <a:off x="698086" y="3180953"/>
            <a:ext cx="10795524" cy="2386509"/>
          </a:xfrm>
          <a:prstGeom prst="rect">
            <a:avLst/>
          </a:prstGeom>
          <a:noFill/>
          <a:ln>
            <a:noFill/>
          </a:ln>
        </p:spPr>
        <p:txBody>
          <a:bodyPr anchorCtr="0" anchor="t" bIns="0" lIns="0" spcFirstLastPara="1" rIns="0" wrap="square" tIns="0">
            <a:noAutofit/>
          </a:bodyPr>
          <a:lstStyle/>
          <a:p>
            <a:pPr indent="-314960" lvl="0" marL="314960" marR="0" rtl="0" algn="l">
              <a:lnSpc>
                <a:spcPct val="133000"/>
              </a:lnSpc>
              <a:spcBef>
                <a:spcPts val="0"/>
              </a:spcBef>
              <a:spcAft>
                <a:spcPts val="0"/>
              </a:spcAft>
              <a:buClr>
                <a:srgbClr val="CAD6DE"/>
              </a:buClr>
              <a:buSzPts val="1550"/>
              <a:buFont typeface="Calibri"/>
              <a:buAutoNum type="arabicPeriod"/>
            </a:pPr>
            <a:r>
              <a:rPr b="1" i="0" lang="en-US" sz="1550" u="none" cap="none" strike="noStrike">
                <a:solidFill>
                  <a:srgbClr val="CAD6DE"/>
                </a:solidFill>
                <a:latin typeface="Cabin"/>
                <a:ea typeface="Cabin"/>
                <a:cs typeface="Cabin"/>
                <a:sym typeface="Cabin"/>
              </a:rPr>
              <a:t>Container Registration</a:t>
            </a:r>
            <a:r>
              <a:rPr b="0" i="0" lang="en-US" sz="1550" u="none" cap="none" strike="noStrike">
                <a:solidFill>
                  <a:srgbClr val="CAD6DE"/>
                </a:solidFill>
                <a:latin typeface="Cabin"/>
                <a:ea typeface="Cabin"/>
                <a:cs typeface="Cabin"/>
                <a:sym typeface="Cabin"/>
              </a:rPr>
              <a:t>: Upon startup, every container sends a </a:t>
            </a:r>
            <a:r>
              <a:rPr b="1" i="0" lang="en-US" sz="1550" u="none" cap="none" strike="noStrike">
                <a:solidFill>
                  <a:srgbClr val="CAD6DE"/>
                </a:solidFill>
                <a:latin typeface="Cabin"/>
                <a:ea typeface="Cabin"/>
                <a:cs typeface="Cabin"/>
                <a:sym typeface="Cabin"/>
              </a:rPr>
              <a:t>Unicast</a:t>
            </a:r>
            <a:r>
              <a:rPr b="0" i="0" lang="en-US" sz="1550" u="none" cap="none" strike="noStrike">
                <a:solidFill>
                  <a:srgbClr val="CAD6DE"/>
                </a:solidFill>
                <a:latin typeface="Cabin"/>
                <a:ea typeface="Cabin"/>
                <a:cs typeface="Cabin"/>
                <a:sym typeface="Cabin"/>
              </a:rPr>
              <a:t> (direct, IP:Port </a:t>
            </a:r>
            <a:r>
              <a:rPr b="0" i="0" lang="en-US" sz="1550" u="none" cap="none" strike="noStrike">
                <a:solidFill>
                  <a:srgbClr val="CAD6DE"/>
                </a:solidFill>
                <a:highlight>
                  <a:srgbClr val="1E3543"/>
                </a:highlight>
                <a:latin typeface="Consolas"/>
                <a:ea typeface="Consolas"/>
                <a:cs typeface="Consolas"/>
                <a:sym typeface="Consolas"/>
              </a:rPr>
              <a:t>172.28.0.10:11811</a:t>
            </a:r>
            <a:r>
              <a:rPr b="0" i="0" lang="en-US" sz="1550" u="none" cap="none" strike="noStrike">
                <a:solidFill>
                  <a:srgbClr val="CAD6DE"/>
                </a:solidFill>
                <a:latin typeface="Cabin"/>
                <a:ea typeface="Cabin"/>
                <a:cs typeface="Cabin"/>
                <a:sym typeface="Cabin"/>
              </a:rPr>
              <a:t>) message to the Discovery Server stating: </a:t>
            </a:r>
            <a:r>
              <a:rPr b="0" i="1" lang="en-US" sz="1550" u="none" cap="none" strike="noStrike">
                <a:solidFill>
                  <a:srgbClr val="CAD6DE"/>
                </a:solidFill>
                <a:latin typeface="Cabin"/>
                <a:ea typeface="Cabin"/>
                <a:cs typeface="Cabin"/>
                <a:sym typeface="Cabin"/>
              </a:rPr>
              <a:t>"I am drone_1, this is my IP address, and I publish/subscribe to these topics"</a:t>
            </a:r>
            <a:r>
              <a:rPr b="0" i="0" lang="en-US" sz="1550" u="none" cap="none" strike="noStrike">
                <a:solidFill>
                  <a:srgbClr val="CAD6DE"/>
                </a:solidFill>
                <a:latin typeface="Cabin"/>
                <a:ea typeface="Cabin"/>
                <a:cs typeface="Cabin"/>
                <a:sym typeface="Cabin"/>
              </a:rPr>
              <a:t>.</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libri"/>
              <a:buAutoNum type="arabicPeriod"/>
            </a:pPr>
            <a:r>
              <a:rPr b="1" i="0" lang="en-US" sz="1550" u="none" cap="none" strike="noStrike">
                <a:solidFill>
                  <a:srgbClr val="CAD6DE"/>
                </a:solidFill>
                <a:latin typeface="Cabin"/>
                <a:ea typeface="Cabin"/>
                <a:cs typeface="Cabin"/>
                <a:sym typeface="Cabin"/>
              </a:rPr>
              <a:t>Endpoint Matching</a:t>
            </a:r>
            <a:r>
              <a:rPr b="0" i="0" lang="en-US" sz="1550" u="none" cap="none" strike="noStrike">
                <a:solidFill>
                  <a:srgbClr val="CAD6DE"/>
                </a:solidFill>
                <a:latin typeface="Cabin"/>
                <a:ea typeface="Cabin"/>
                <a:cs typeface="Cabin"/>
                <a:sym typeface="Cabin"/>
              </a:rPr>
              <a:t>: The Discovery Server matches nodes that need to communicate with each other (e.g., it relays </a:t>
            </a:r>
            <a:r>
              <a:rPr b="0" i="0" lang="en-US" sz="1550" u="none" cap="none" strike="noStrike">
                <a:solidFill>
                  <a:srgbClr val="CAD6DE"/>
                </a:solidFill>
                <a:highlight>
                  <a:srgbClr val="1E3543"/>
                </a:highlight>
                <a:latin typeface="Consolas"/>
                <a:ea typeface="Consolas"/>
                <a:cs typeface="Consolas"/>
                <a:sym typeface="Consolas"/>
              </a:rPr>
              <a:t>drone_1</a:t>
            </a:r>
            <a:r>
              <a:rPr b="0" i="0" lang="en-US" sz="1550" u="none" cap="none" strike="noStrike">
                <a:solidFill>
                  <a:srgbClr val="CAD6DE"/>
                </a:solidFill>
                <a:latin typeface="Cabin"/>
                <a:ea typeface="Cabin"/>
                <a:cs typeface="Cabin"/>
                <a:sym typeface="Cabin"/>
              </a:rPr>
              <a:t>'s IP address and endpoints to the Coordinator).</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libri"/>
              <a:buAutoNum type="arabicPeriod"/>
            </a:pPr>
            <a:r>
              <a:rPr b="1" i="0" lang="en-US" sz="1550" u="none" cap="none" strike="noStrike">
                <a:solidFill>
                  <a:srgbClr val="CAD6DE"/>
                </a:solidFill>
                <a:latin typeface="Cabin"/>
                <a:ea typeface="Cabin"/>
                <a:cs typeface="Cabin"/>
                <a:sym typeface="Cabin"/>
              </a:rPr>
              <a:t>Direct P2P Data Flow</a:t>
            </a:r>
            <a:r>
              <a:rPr b="0" i="0" lang="en-US" sz="1550" u="none" cap="none" strike="noStrike">
                <a:solidFill>
                  <a:srgbClr val="CAD6DE"/>
                </a:solidFill>
                <a:latin typeface="Cabin"/>
                <a:ea typeface="Cabin"/>
                <a:cs typeface="Cabin"/>
                <a:sym typeface="Cabin"/>
              </a:rPr>
              <a:t>: Once nodes have "discovered" each other, </a:t>
            </a:r>
            <a:r>
              <a:rPr b="1" i="0" lang="en-US" sz="1550" u="none" cap="none" strike="noStrike">
                <a:solidFill>
                  <a:srgbClr val="CAD6DE"/>
                </a:solidFill>
                <a:latin typeface="Cabin"/>
                <a:ea typeface="Cabin"/>
                <a:cs typeface="Cabin"/>
                <a:sym typeface="Cabin"/>
              </a:rPr>
              <a:t>the Discovery Server steps out of the data path</a:t>
            </a:r>
            <a:r>
              <a:rPr b="0" i="0" lang="en-US" sz="1550" u="none" cap="none" strike="noStrike">
                <a:solidFill>
                  <a:srgbClr val="CAD6DE"/>
                </a:solidFill>
                <a:latin typeface="Cabin"/>
                <a:ea typeface="Cabin"/>
                <a:cs typeface="Cabin"/>
                <a:sym typeface="Cabin"/>
              </a:rPr>
              <a:t>, and high-frequency data exchange (heartbeats, odometry, flight velocity commands) occurs directly </a:t>
            </a:r>
            <a:r>
              <a:rPr b="1" i="0" lang="en-US" sz="1550" u="none" cap="none" strike="noStrike">
                <a:solidFill>
                  <a:srgbClr val="CAD6DE"/>
                </a:solidFill>
                <a:latin typeface="Cabin"/>
                <a:ea typeface="Cabin"/>
                <a:cs typeface="Cabin"/>
                <a:sym typeface="Cabin"/>
              </a:rPr>
              <a:t>Peer-to-Peer</a:t>
            </a:r>
            <a:r>
              <a:rPr b="0" i="0" lang="en-US" sz="1550" u="none" cap="none" strike="noStrike">
                <a:solidFill>
                  <a:srgbClr val="CAD6DE"/>
                </a:solidFill>
                <a:latin typeface="Cabin"/>
                <a:ea typeface="Cabin"/>
                <a:cs typeface="Cabin"/>
                <a:sym typeface="Cabin"/>
              </a:rPr>
              <a:t> between containers with minimal latency.</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descr="preencoded.png" id="275" name="Google Shape;275;p26"/>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276" name="Google Shape;276;p26"/>
          <p:cNvSpPr/>
          <p:nvPr/>
        </p:nvSpPr>
        <p:spPr>
          <a:xfrm>
            <a:off x="5269971" y="2373511"/>
            <a:ext cx="6223638" cy="11733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Finite State Machine (FSM) </a:t>
            </a:r>
            <a:endParaRPr b="0" i="0" sz="3650" u="none" cap="none" strike="noStrike">
              <a:solidFill>
                <a:schemeClr val="dk1"/>
              </a:solidFill>
              <a:latin typeface="Calibri"/>
              <a:ea typeface="Calibri"/>
              <a:cs typeface="Calibri"/>
              <a:sym typeface="Calibri"/>
            </a:endParaRPr>
          </a:p>
        </p:txBody>
      </p:sp>
      <p:sp>
        <p:nvSpPr>
          <p:cNvPr id="277" name="Google Shape;277;p26"/>
          <p:cNvSpPr/>
          <p:nvPr/>
        </p:nvSpPr>
        <p:spPr>
          <a:xfrm>
            <a:off x="5269971" y="3846016"/>
            <a:ext cx="6223638"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A988B"/>
              </a:buClr>
              <a:buSzPts val="1550"/>
              <a:buFont typeface="Cabin"/>
              <a:buNone/>
            </a:pPr>
            <a:r>
              <a:rPr b="0" i="0" lang="en-US" sz="1550" u="none" cap="none" strike="noStrike">
                <a:solidFill>
                  <a:srgbClr val="0A988B"/>
                </a:solidFill>
                <a:latin typeface="Cabin"/>
                <a:ea typeface="Cabin"/>
                <a:cs typeface="Cabin"/>
                <a:sym typeface="Cabin"/>
              </a:rPr>
              <a:t>Drone states management </a:t>
            </a:r>
            <a:r>
              <a:rPr b="0" i="0" lang="en-US" sz="1550" u="none" cap="none" strike="noStrike">
                <a:solidFill>
                  <a:srgbClr val="CAD6DE"/>
                </a:solidFill>
                <a:latin typeface="Cabin"/>
                <a:ea typeface="Cabin"/>
                <a:cs typeface="Cabin"/>
                <a:sym typeface="Cabin"/>
              </a:rPr>
              <a:t>— Managing all the possible states and transitions events</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7"/>
          <p:cNvSpPr/>
          <p:nvPr/>
        </p:nvSpPr>
        <p:spPr>
          <a:xfrm>
            <a:off x="698086" y="592138"/>
            <a:ext cx="10795524" cy="4908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050"/>
              <a:buFont typeface="Unbounded"/>
              <a:buNone/>
            </a:pPr>
            <a:r>
              <a:rPr b="0" i="0" lang="en-US" sz="3050" u="none" cap="none" strike="noStrike">
                <a:solidFill>
                  <a:srgbClr val="FFFFFF"/>
                </a:solidFill>
                <a:latin typeface="Unbounded"/>
                <a:ea typeface="Unbounded"/>
                <a:cs typeface="Unbounded"/>
                <a:sym typeface="Unbounded"/>
              </a:rPr>
              <a:t>What is a Finite State Machine (FSM)?</a:t>
            </a:r>
            <a:endParaRPr b="0" i="0" sz="3050" u="none" cap="none" strike="noStrike">
              <a:solidFill>
                <a:schemeClr val="dk1"/>
              </a:solidFill>
              <a:latin typeface="Calibri"/>
              <a:ea typeface="Calibri"/>
              <a:cs typeface="Calibri"/>
              <a:sym typeface="Calibri"/>
            </a:endParaRPr>
          </a:p>
        </p:txBody>
      </p:sp>
      <p:sp>
        <p:nvSpPr>
          <p:cNvPr id="284" name="Google Shape;284;p27"/>
          <p:cNvSpPr/>
          <p:nvPr/>
        </p:nvSpPr>
        <p:spPr>
          <a:xfrm>
            <a:off x="698086" y="1362273"/>
            <a:ext cx="10795524" cy="613172"/>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AD6DE"/>
              </a:buClr>
              <a:buSzPts val="1600"/>
              <a:buFont typeface="Cabin"/>
              <a:buNone/>
            </a:pPr>
            <a:r>
              <a:rPr b="0" i="0" lang="en-US" sz="1600" u="none" cap="none" strike="noStrike">
                <a:solidFill>
                  <a:srgbClr val="CAD6DE"/>
                </a:solidFill>
                <a:latin typeface="Cabin"/>
                <a:ea typeface="Cabin"/>
                <a:cs typeface="Cabin"/>
                <a:sym typeface="Cabin"/>
              </a:rPr>
              <a:t>A Finite State Machine (FSM) is a mathematical model of computation used to design systems that can be in only one state at a time from a finite set of predefined states, changing state (transition) in response to external events or inputs.</a:t>
            </a:r>
            <a:endParaRPr b="0" i="0" sz="1600" u="none" cap="none" strike="noStrike">
              <a:solidFill>
                <a:schemeClr val="dk1"/>
              </a:solidFill>
              <a:latin typeface="Calibri"/>
              <a:ea typeface="Calibri"/>
              <a:cs typeface="Calibri"/>
              <a:sym typeface="Calibri"/>
            </a:endParaRPr>
          </a:p>
        </p:txBody>
      </p:sp>
      <p:sp>
        <p:nvSpPr>
          <p:cNvPr id="285" name="Google Shape;285;p27"/>
          <p:cNvSpPr/>
          <p:nvPr/>
        </p:nvSpPr>
        <p:spPr>
          <a:xfrm>
            <a:off x="698086" y="2184896"/>
            <a:ext cx="10795524" cy="39270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450"/>
              <a:buFont typeface="Unbounded"/>
              <a:buNone/>
            </a:pPr>
            <a:r>
              <a:rPr b="0" i="0" lang="en-US" sz="2450" u="none" cap="none" strike="noStrike">
                <a:solidFill>
                  <a:srgbClr val="FFFFFF"/>
                </a:solidFill>
                <a:latin typeface="Unbounded"/>
                <a:ea typeface="Unbounded"/>
                <a:cs typeface="Unbounded"/>
                <a:sym typeface="Unbounded"/>
              </a:rPr>
              <a:t>Key elements of an FSM</a:t>
            </a:r>
            <a:endParaRPr b="0" i="0" sz="2450" u="none" cap="none" strike="noStrike">
              <a:solidFill>
                <a:schemeClr val="dk1"/>
              </a:solidFill>
              <a:latin typeface="Calibri"/>
              <a:ea typeface="Calibri"/>
              <a:cs typeface="Calibri"/>
              <a:sym typeface="Calibri"/>
            </a:endParaRPr>
          </a:p>
        </p:txBody>
      </p:sp>
      <p:sp>
        <p:nvSpPr>
          <p:cNvPr id="286" name="Google Shape;286;p27"/>
          <p:cNvSpPr/>
          <p:nvPr/>
        </p:nvSpPr>
        <p:spPr>
          <a:xfrm>
            <a:off x="698086" y="2787055"/>
            <a:ext cx="3505410" cy="1976140"/>
          </a:xfrm>
          <a:prstGeom prst="roundRect">
            <a:avLst>
              <a:gd fmla="val 1267" name="adj"/>
            </a:avLst>
          </a:prstGeom>
          <a:solidFill>
            <a:srgbClr val="112836"/>
          </a:solidFill>
          <a:ln cap="flat" cmpd="sng" w="19050">
            <a:solidFill>
              <a:srgbClr val="4960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7"/>
          <p:cNvSpPr/>
          <p:nvPr/>
        </p:nvSpPr>
        <p:spPr>
          <a:xfrm>
            <a:off x="884017" y="2972991"/>
            <a:ext cx="3133547" cy="2453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00"/>
              <a:buFont typeface="Unbounded"/>
              <a:buNone/>
            </a:pPr>
            <a:r>
              <a:rPr b="0" i="0" lang="en-US" sz="1500" u="none" cap="none" strike="noStrike">
                <a:solidFill>
                  <a:srgbClr val="CAD6DE"/>
                </a:solidFill>
                <a:latin typeface="Unbounded"/>
                <a:ea typeface="Unbounded"/>
                <a:cs typeface="Unbounded"/>
                <a:sym typeface="Unbounded"/>
              </a:rPr>
              <a:t>States</a:t>
            </a:r>
            <a:endParaRPr b="0" i="0" sz="1500" u="none" cap="none" strike="noStrike">
              <a:solidFill>
                <a:schemeClr val="dk1"/>
              </a:solidFill>
              <a:latin typeface="Calibri"/>
              <a:ea typeface="Calibri"/>
              <a:cs typeface="Calibri"/>
              <a:sym typeface="Calibri"/>
            </a:endParaRPr>
          </a:p>
        </p:txBody>
      </p:sp>
      <p:sp>
        <p:nvSpPr>
          <p:cNvPr id="288" name="Google Shape;288;p27"/>
          <p:cNvSpPr/>
          <p:nvPr/>
        </p:nvSpPr>
        <p:spPr>
          <a:xfrm>
            <a:off x="884017" y="3302099"/>
            <a:ext cx="3133547" cy="968573"/>
          </a:xfrm>
          <a:prstGeom prst="rect">
            <a:avLst/>
          </a:prstGeom>
          <a:noFill/>
          <a:ln>
            <a:noFill/>
          </a:ln>
        </p:spPr>
        <p:txBody>
          <a:bodyPr anchorCtr="0" anchor="t" bIns="0" lIns="0" spcFirstLastPara="1" rIns="0" wrap="square" tIns="83450">
            <a:noAutofit/>
          </a:bodyPr>
          <a:lstStyle/>
          <a:p>
            <a:pPr indent="-325120" lvl="0" marL="325120" marR="0" rtl="0" algn="l">
              <a:lnSpc>
                <a:spcPct val="122000"/>
              </a:lnSpc>
              <a:spcBef>
                <a:spcPts val="0"/>
              </a:spcBef>
              <a:spcAft>
                <a:spcPts val="0"/>
              </a:spcAft>
              <a:buClr>
                <a:srgbClr val="CAD6DE"/>
              </a:buClr>
              <a:buSzPts val="1600"/>
              <a:buFont typeface="Cabin"/>
              <a:buChar char="•"/>
            </a:pPr>
            <a:r>
              <a:rPr b="0" i="0" lang="en-US" sz="1600" u="none" cap="none" strike="noStrike">
                <a:solidFill>
                  <a:srgbClr val="CAD6DE"/>
                </a:solidFill>
                <a:latin typeface="Cabin"/>
                <a:ea typeface="Cabin"/>
                <a:cs typeface="Cabin"/>
                <a:sym typeface="Cabin"/>
              </a:rPr>
              <a:t>The distinct conditions the system can be in</a:t>
            </a:r>
            <a:endParaRPr b="0" i="0" sz="1600" u="none" cap="none" strike="noStrike">
              <a:solidFill>
                <a:schemeClr val="dk1"/>
              </a:solidFill>
              <a:latin typeface="Calibri"/>
              <a:ea typeface="Calibri"/>
              <a:cs typeface="Calibri"/>
              <a:sym typeface="Calibri"/>
            </a:endParaRPr>
          </a:p>
          <a:p>
            <a:pPr indent="-325120" lvl="0" marL="325120" marR="0" rtl="0" algn="l">
              <a:lnSpc>
                <a:spcPct val="122000"/>
              </a:lnSpc>
              <a:spcBef>
                <a:spcPts val="0"/>
              </a:spcBef>
              <a:spcAft>
                <a:spcPts val="0"/>
              </a:spcAft>
              <a:buClr>
                <a:srgbClr val="CAD6DE"/>
              </a:buClr>
              <a:buSzPts val="1600"/>
              <a:buFont typeface="Cabin"/>
              <a:buChar char="•"/>
            </a:pPr>
            <a:r>
              <a:rPr b="0" i="0" lang="en-US" sz="1600" u="none" cap="none" strike="noStrike">
                <a:solidFill>
                  <a:srgbClr val="CAD6DE"/>
                </a:solidFill>
                <a:latin typeface="Cabin"/>
                <a:ea typeface="Cabin"/>
                <a:cs typeface="Cabin"/>
                <a:sym typeface="Cabin"/>
              </a:rPr>
              <a:t>Example: Off, On, Paused</a:t>
            </a:r>
            <a:endParaRPr b="0" i="0" sz="1600" u="none" cap="none" strike="noStrike">
              <a:solidFill>
                <a:schemeClr val="dk1"/>
              </a:solidFill>
              <a:latin typeface="Calibri"/>
              <a:ea typeface="Calibri"/>
              <a:cs typeface="Calibri"/>
              <a:sym typeface="Calibri"/>
            </a:endParaRPr>
          </a:p>
        </p:txBody>
      </p:sp>
      <p:sp>
        <p:nvSpPr>
          <p:cNvPr id="289" name="Google Shape;289;p27"/>
          <p:cNvSpPr/>
          <p:nvPr/>
        </p:nvSpPr>
        <p:spPr>
          <a:xfrm>
            <a:off x="4343093" y="2787055"/>
            <a:ext cx="3505410" cy="1976140"/>
          </a:xfrm>
          <a:prstGeom prst="roundRect">
            <a:avLst>
              <a:gd fmla="val 1267" name="adj"/>
            </a:avLst>
          </a:prstGeom>
          <a:solidFill>
            <a:srgbClr val="112836"/>
          </a:solidFill>
          <a:ln cap="flat" cmpd="sng" w="19050">
            <a:solidFill>
              <a:srgbClr val="4960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7"/>
          <p:cNvSpPr/>
          <p:nvPr/>
        </p:nvSpPr>
        <p:spPr>
          <a:xfrm>
            <a:off x="4529024" y="2972991"/>
            <a:ext cx="3133547" cy="2453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00"/>
              <a:buFont typeface="Unbounded"/>
              <a:buNone/>
            </a:pPr>
            <a:r>
              <a:rPr b="0" i="0" lang="en-US" sz="1500" u="none" cap="none" strike="noStrike">
                <a:solidFill>
                  <a:srgbClr val="CAD6DE"/>
                </a:solidFill>
                <a:latin typeface="Unbounded"/>
                <a:ea typeface="Unbounded"/>
                <a:cs typeface="Unbounded"/>
                <a:sym typeface="Unbounded"/>
              </a:rPr>
              <a:t>Transitions</a:t>
            </a:r>
            <a:endParaRPr b="0" i="0" sz="1500" u="none" cap="none" strike="noStrike">
              <a:solidFill>
                <a:schemeClr val="dk1"/>
              </a:solidFill>
              <a:latin typeface="Calibri"/>
              <a:ea typeface="Calibri"/>
              <a:cs typeface="Calibri"/>
              <a:sym typeface="Calibri"/>
            </a:endParaRPr>
          </a:p>
        </p:txBody>
      </p:sp>
      <p:sp>
        <p:nvSpPr>
          <p:cNvPr id="291" name="Google Shape;291;p27"/>
          <p:cNvSpPr/>
          <p:nvPr/>
        </p:nvSpPr>
        <p:spPr>
          <a:xfrm>
            <a:off x="4529024" y="3302099"/>
            <a:ext cx="3133547" cy="968573"/>
          </a:xfrm>
          <a:prstGeom prst="rect">
            <a:avLst/>
          </a:prstGeom>
          <a:noFill/>
          <a:ln>
            <a:noFill/>
          </a:ln>
        </p:spPr>
        <p:txBody>
          <a:bodyPr anchorCtr="0" anchor="t" bIns="0" lIns="0" spcFirstLastPara="1" rIns="0" wrap="square" tIns="83450">
            <a:noAutofit/>
          </a:bodyPr>
          <a:lstStyle/>
          <a:p>
            <a:pPr indent="-325120" lvl="0" marL="325120" marR="0" rtl="0" algn="l">
              <a:lnSpc>
                <a:spcPct val="122000"/>
              </a:lnSpc>
              <a:spcBef>
                <a:spcPts val="0"/>
              </a:spcBef>
              <a:spcAft>
                <a:spcPts val="0"/>
              </a:spcAft>
              <a:buClr>
                <a:srgbClr val="CAD6DE"/>
              </a:buClr>
              <a:buSzPts val="1600"/>
              <a:buFont typeface="Cabin"/>
              <a:buChar char="•"/>
            </a:pPr>
            <a:r>
              <a:rPr b="0" i="0" lang="en-US" sz="1600" u="none" cap="none" strike="noStrike">
                <a:solidFill>
                  <a:srgbClr val="CAD6DE"/>
                </a:solidFill>
                <a:latin typeface="Cabin"/>
                <a:ea typeface="Cabin"/>
                <a:cs typeface="Cabin"/>
                <a:sym typeface="Cabin"/>
              </a:rPr>
              <a:t>The logical passage from one state to another</a:t>
            </a:r>
            <a:endParaRPr b="0" i="0" sz="1600" u="none" cap="none" strike="noStrike">
              <a:solidFill>
                <a:schemeClr val="dk1"/>
              </a:solidFill>
              <a:latin typeface="Calibri"/>
              <a:ea typeface="Calibri"/>
              <a:cs typeface="Calibri"/>
              <a:sym typeface="Calibri"/>
            </a:endParaRPr>
          </a:p>
          <a:p>
            <a:pPr indent="-325120" lvl="0" marL="325120" marR="0" rtl="0" algn="l">
              <a:lnSpc>
                <a:spcPct val="122000"/>
              </a:lnSpc>
              <a:spcBef>
                <a:spcPts val="0"/>
              </a:spcBef>
              <a:spcAft>
                <a:spcPts val="0"/>
              </a:spcAft>
              <a:buClr>
                <a:srgbClr val="CAD6DE"/>
              </a:buClr>
              <a:buSzPts val="1600"/>
              <a:buFont typeface="Cabin"/>
              <a:buChar char="•"/>
            </a:pPr>
            <a:r>
              <a:rPr b="0" i="0" lang="en-US" sz="1600" u="none" cap="none" strike="noStrike">
                <a:solidFill>
                  <a:srgbClr val="CAD6DE"/>
                </a:solidFill>
                <a:latin typeface="Cabin"/>
                <a:ea typeface="Cabin"/>
                <a:cs typeface="Cabin"/>
                <a:sym typeface="Cabin"/>
              </a:rPr>
              <a:t>Bound by precise rules</a:t>
            </a:r>
            <a:endParaRPr b="0" i="0" sz="1600" u="none" cap="none" strike="noStrike">
              <a:solidFill>
                <a:schemeClr val="dk1"/>
              </a:solidFill>
              <a:latin typeface="Calibri"/>
              <a:ea typeface="Calibri"/>
              <a:cs typeface="Calibri"/>
              <a:sym typeface="Calibri"/>
            </a:endParaRPr>
          </a:p>
        </p:txBody>
      </p:sp>
      <p:sp>
        <p:nvSpPr>
          <p:cNvPr id="292" name="Google Shape;292;p27"/>
          <p:cNvSpPr/>
          <p:nvPr/>
        </p:nvSpPr>
        <p:spPr>
          <a:xfrm>
            <a:off x="7988100" y="2787055"/>
            <a:ext cx="3505509" cy="1976140"/>
          </a:xfrm>
          <a:prstGeom prst="roundRect">
            <a:avLst>
              <a:gd fmla="val 1267" name="adj"/>
            </a:avLst>
          </a:prstGeom>
          <a:solidFill>
            <a:srgbClr val="112836"/>
          </a:solidFill>
          <a:ln cap="flat" cmpd="sng" w="19050">
            <a:solidFill>
              <a:srgbClr val="4960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7"/>
          <p:cNvSpPr/>
          <p:nvPr/>
        </p:nvSpPr>
        <p:spPr>
          <a:xfrm>
            <a:off x="8174031" y="2972991"/>
            <a:ext cx="3133647" cy="2453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00"/>
              <a:buFont typeface="Unbounded"/>
              <a:buNone/>
            </a:pPr>
            <a:r>
              <a:rPr b="0" i="0" lang="en-US" sz="1500" u="none" cap="none" strike="noStrike">
                <a:solidFill>
                  <a:srgbClr val="CAD6DE"/>
                </a:solidFill>
                <a:latin typeface="Unbounded"/>
                <a:ea typeface="Unbounded"/>
                <a:cs typeface="Unbounded"/>
                <a:sym typeface="Unbounded"/>
              </a:rPr>
              <a:t>Events/Inputs</a:t>
            </a:r>
            <a:endParaRPr b="0" i="0" sz="1500" u="none" cap="none" strike="noStrike">
              <a:solidFill>
                <a:schemeClr val="dk1"/>
              </a:solidFill>
              <a:latin typeface="Calibri"/>
              <a:ea typeface="Calibri"/>
              <a:cs typeface="Calibri"/>
              <a:sym typeface="Calibri"/>
            </a:endParaRPr>
          </a:p>
        </p:txBody>
      </p:sp>
      <p:sp>
        <p:nvSpPr>
          <p:cNvPr id="294" name="Google Shape;294;p27"/>
          <p:cNvSpPr/>
          <p:nvPr/>
        </p:nvSpPr>
        <p:spPr>
          <a:xfrm>
            <a:off x="8174031" y="3302099"/>
            <a:ext cx="3133647" cy="1275159"/>
          </a:xfrm>
          <a:prstGeom prst="rect">
            <a:avLst/>
          </a:prstGeom>
          <a:noFill/>
          <a:ln>
            <a:noFill/>
          </a:ln>
        </p:spPr>
        <p:txBody>
          <a:bodyPr anchorCtr="0" anchor="t" bIns="0" lIns="0" spcFirstLastPara="1" rIns="0" wrap="square" tIns="83450">
            <a:noAutofit/>
          </a:bodyPr>
          <a:lstStyle/>
          <a:p>
            <a:pPr indent="-325120" lvl="0" marL="325120" marR="0" rtl="0" algn="l">
              <a:lnSpc>
                <a:spcPct val="122000"/>
              </a:lnSpc>
              <a:spcBef>
                <a:spcPts val="0"/>
              </a:spcBef>
              <a:spcAft>
                <a:spcPts val="0"/>
              </a:spcAft>
              <a:buClr>
                <a:srgbClr val="CAD6DE"/>
              </a:buClr>
              <a:buSzPts val="1600"/>
              <a:buFont typeface="Cabin"/>
              <a:buChar char="•"/>
            </a:pPr>
            <a:r>
              <a:rPr b="0" i="0" lang="en-US" sz="1600" u="none" cap="none" strike="noStrike">
                <a:solidFill>
                  <a:srgbClr val="CAD6DE"/>
                </a:solidFill>
                <a:latin typeface="Cabin"/>
                <a:ea typeface="Cabin"/>
                <a:cs typeface="Cabin"/>
                <a:sym typeface="Cabin"/>
              </a:rPr>
              <a:t>The triggering factors that activate a transition</a:t>
            </a:r>
            <a:endParaRPr b="0" i="0" sz="1600" u="none" cap="none" strike="noStrike">
              <a:solidFill>
                <a:schemeClr val="dk1"/>
              </a:solidFill>
              <a:latin typeface="Calibri"/>
              <a:ea typeface="Calibri"/>
              <a:cs typeface="Calibri"/>
              <a:sym typeface="Calibri"/>
            </a:endParaRPr>
          </a:p>
          <a:p>
            <a:pPr indent="-325120" lvl="0" marL="325120" marR="0" rtl="0" algn="l">
              <a:lnSpc>
                <a:spcPct val="122000"/>
              </a:lnSpc>
              <a:spcBef>
                <a:spcPts val="0"/>
              </a:spcBef>
              <a:spcAft>
                <a:spcPts val="0"/>
              </a:spcAft>
              <a:buClr>
                <a:srgbClr val="CAD6DE"/>
              </a:buClr>
              <a:buSzPts val="1600"/>
              <a:buFont typeface="Cabin"/>
              <a:buChar char="•"/>
            </a:pPr>
            <a:r>
              <a:rPr b="0" i="0" lang="en-US" sz="1600" u="none" cap="none" strike="noStrike">
                <a:solidFill>
                  <a:srgbClr val="CAD6DE"/>
                </a:solidFill>
                <a:latin typeface="Cabin"/>
                <a:ea typeface="Cabin"/>
                <a:cs typeface="Cabin"/>
                <a:sym typeface="Cabin"/>
              </a:rPr>
              <a:t>External signals that cause state changes</a:t>
            </a:r>
            <a:endParaRPr b="0" i="0" sz="1600" u="none" cap="none" strike="noStrike">
              <a:solidFill>
                <a:schemeClr val="dk1"/>
              </a:solidFill>
              <a:latin typeface="Calibri"/>
              <a:ea typeface="Calibri"/>
              <a:cs typeface="Calibri"/>
              <a:sym typeface="Calibri"/>
            </a:endParaRPr>
          </a:p>
        </p:txBody>
      </p:sp>
      <p:sp>
        <p:nvSpPr>
          <p:cNvPr id="295" name="Google Shape;295;p27"/>
          <p:cNvSpPr/>
          <p:nvPr/>
        </p:nvSpPr>
        <p:spPr>
          <a:xfrm>
            <a:off x="698086" y="4902795"/>
            <a:ext cx="10795524" cy="1362968"/>
          </a:xfrm>
          <a:prstGeom prst="roundRect">
            <a:avLst>
              <a:gd fmla="val 1837" name="adj"/>
            </a:avLst>
          </a:prstGeom>
          <a:solidFill>
            <a:srgbClr val="112836"/>
          </a:solidFill>
          <a:ln cap="flat" cmpd="sng" w="19050">
            <a:solidFill>
              <a:srgbClr val="4960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p:nvPr/>
        </p:nvSpPr>
        <p:spPr>
          <a:xfrm>
            <a:off x="884017" y="5088731"/>
            <a:ext cx="10423661" cy="2453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00"/>
              <a:buFont typeface="Unbounded"/>
              <a:buNone/>
            </a:pPr>
            <a:r>
              <a:rPr b="0" i="0" lang="en-US" sz="1500" u="none" cap="none" strike="noStrike">
                <a:solidFill>
                  <a:srgbClr val="CAD6DE"/>
                </a:solidFill>
                <a:latin typeface="Unbounded"/>
                <a:ea typeface="Unbounded"/>
                <a:cs typeface="Unbounded"/>
                <a:sym typeface="Unbounded"/>
              </a:rPr>
              <a:t>Actions</a:t>
            </a:r>
            <a:endParaRPr b="0" i="0" sz="1500" u="none" cap="none" strike="noStrike">
              <a:solidFill>
                <a:schemeClr val="dk1"/>
              </a:solidFill>
              <a:latin typeface="Calibri"/>
              <a:ea typeface="Calibri"/>
              <a:cs typeface="Calibri"/>
              <a:sym typeface="Calibri"/>
            </a:endParaRPr>
          </a:p>
        </p:txBody>
      </p:sp>
      <p:sp>
        <p:nvSpPr>
          <p:cNvPr id="297" name="Google Shape;297;p27"/>
          <p:cNvSpPr/>
          <p:nvPr/>
        </p:nvSpPr>
        <p:spPr>
          <a:xfrm>
            <a:off x="884017" y="5417840"/>
            <a:ext cx="10423661" cy="661988"/>
          </a:xfrm>
          <a:prstGeom prst="rect">
            <a:avLst/>
          </a:prstGeom>
          <a:noFill/>
          <a:ln>
            <a:noFill/>
          </a:ln>
        </p:spPr>
        <p:txBody>
          <a:bodyPr anchorCtr="0" anchor="t" bIns="0" lIns="0" spcFirstLastPara="1" rIns="0" wrap="square" tIns="83450">
            <a:noAutofit/>
          </a:bodyPr>
          <a:lstStyle/>
          <a:p>
            <a:pPr indent="-325120" lvl="0" marL="325120" marR="0" rtl="0" algn="l">
              <a:lnSpc>
                <a:spcPct val="122000"/>
              </a:lnSpc>
              <a:spcBef>
                <a:spcPts val="0"/>
              </a:spcBef>
              <a:spcAft>
                <a:spcPts val="0"/>
              </a:spcAft>
              <a:buClr>
                <a:srgbClr val="CAD6DE"/>
              </a:buClr>
              <a:buSzPts val="1600"/>
              <a:buFont typeface="Cabin"/>
              <a:buChar char="•"/>
            </a:pPr>
            <a:r>
              <a:rPr b="0" i="0" lang="en-US" sz="1600" u="none" cap="none" strike="noStrike">
                <a:solidFill>
                  <a:srgbClr val="CAD6DE"/>
                </a:solidFill>
                <a:latin typeface="Cabin"/>
                <a:ea typeface="Cabin"/>
                <a:cs typeface="Cabin"/>
                <a:sym typeface="Cabin"/>
              </a:rPr>
              <a:t>The behaviors executed by the system within or upon changing a state</a:t>
            </a:r>
            <a:endParaRPr b="0" i="0" sz="1600" u="none" cap="none" strike="noStrike">
              <a:solidFill>
                <a:schemeClr val="dk1"/>
              </a:solidFill>
              <a:latin typeface="Calibri"/>
              <a:ea typeface="Calibri"/>
              <a:cs typeface="Calibri"/>
              <a:sym typeface="Calibri"/>
            </a:endParaRPr>
          </a:p>
          <a:p>
            <a:pPr indent="-325120" lvl="0" marL="325120" marR="0" rtl="0" algn="l">
              <a:lnSpc>
                <a:spcPct val="122000"/>
              </a:lnSpc>
              <a:spcBef>
                <a:spcPts val="0"/>
              </a:spcBef>
              <a:spcAft>
                <a:spcPts val="0"/>
              </a:spcAft>
              <a:buClr>
                <a:srgbClr val="CAD6DE"/>
              </a:buClr>
              <a:buSzPts val="1600"/>
              <a:buFont typeface="Cabin"/>
              <a:buChar char="•"/>
            </a:pPr>
            <a:r>
              <a:rPr b="0" i="0" lang="en-US" sz="1600" u="none" cap="none" strike="noStrike">
                <a:solidFill>
                  <a:srgbClr val="CAD6DE"/>
                </a:solidFill>
                <a:latin typeface="Cabin"/>
                <a:ea typeface="Cabin"/>
                <a:cs typeface="Cabin"/>
                <a:sym typeface="Cabin"/>
              </a:rPr>
              <a:t>Operations performed during transitions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8"/>
          <p:cNvSpPr/>
          <p:nvPr/>
        </p:nvSpPr>
        <p:spPr>
          <a:xfrm>
            <a:off x="698086" y="577155"/>
            <a:ext cx="10795524" cy="4400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750"/>
              <a:buFont typeface="Unbounded"/>
              <a:buNone/>
            </a:pPr>
            <a:r>
              <a:rPr b="0" i="0" lang="en-US" sz="2750" u="none" cap="none" strike="noStrike">
                <a:solidFill>
                  <a:srgbClr val="FFFFFF"/>
                </a:solidFill>
                <a:latin typeface="Unbounded"/>
                <a:ea typeface="Unbounded"/>
                <a:cs typeface="Unbounded"/>
                <a:sym typeface="Unbounded"/>
              </a:rPr>
              <a:t>FSM Main Applications:</a:t>
            </a:r>
            <a:endParaRPr b="0" i="0" sz="2750" u="none" cap="none" strike="noStrike">
              <a:solidFill>
                <a:schemeClr val="dk1"/>
              </a:solidFill>
              <a:latin typeface="Calibri"/>
              <a:ea typeface="Calibri"/>
              <a:cs typeface="Calibri"/>
              <a:sym typeface="Calibri"/>
            </a:endParaRPr>
          </a:p>
        </p:txBody>
      </p:sp>
      <p:pic>
        <p:nvPicPr>
          <p:cNvPr descr="preencoded.png" id="304" name="Google Shape;304;p28"/>
          <p:cNvPicPr preferRelativeResize="0"/>
          <p:nvPr/>
        </p:nvPicPr>
        <p:blipFill rotWithShape="1">
          <a:blip r:embed="rId3">
            <a:alphaModFix/>
          </a:blip>
          <a:srcRect b="0" l="0" r="0" t="0"/>
          <a:stretch/>
        </p:blipFill>
        <p:spPr>
          <a:xfrm>
            <a:off x="698086" y="1241524"/>
            <a:ext cx="299137" cy="299145"/>
          </a:xfrm>
          <a:prstGeom prst="rect">
            <a:avLst/>
          </a:prstGeom>
          <a:noFill/>
          <a:ln>
            <a:noFill/>
          </a:ln>
        </p:spPr>
      </p:pic>
      <p:sp>
        <p:nvSpPr>
          <p:cNvPr id="305" name="Google Shape;305;p28"/>
          <p:cNvSpPr/>
          <p:nvPr/>
        </p:nvSpPr>
        <p:spPr>
          <a:xfrm>
            <a:off x="698086" y="1680865"/>
            <a:ext cx="3505013"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350"/>
              <a:buFont typeface="Unbounded"/>
              <a:buNone/>
            </a:pPr>
            <a:r>
              <a:rPr b="0" i="0" lang="en-US" sz="1350" u="none" cap="none" strike="noStrike">
                <a:solidFill>
                  <a:srgbClr val="CAD6DE"/>
                </a:solidFill>
                <a:latin typeface="Unbounded"/>
                <a:ea typeface="Unbounded"/>
                <a:cs typeface="Unbounded"/>
                <a:sym typeface="Unbounded"/>
              </a:rPr>
              <a:t>Video Games</a:t>
            </a:r>
            <a:endParaRPr b="0" i="0" sz="1350" u="none" cap="none" strike="noStrike">
              <a:solidFill>
                <a:schemeClr val="dk1"/>
              </a:solidFill>
              <a:latin typeface="Calibri"/>
              <a:ea typeface="Calibri"/>
              <a:cs typeface="Calibri"/>
              <a:sym typeface="Calibri"/>
            </a:endParaRPr>
          </a:p>
        </p:txBody>
      </p:sp>
      <p:sp>
        <p:nvSpPr>
          <p:cNvPr id="306" name="Google Shape;306;p28"/>
          <p:cNvSpPr/>
          <p:nvPr/>
        </p:nvSpPr>
        <p:spPr>
          <a:xfrm>
            <a:off x="698086" y="1968103"/>
            <a:ext cx="3505013" cy="695623"/>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Manage AI logic of characters</a:t>
            </a:r>
            <a:endParaRPr b="0" i="0" sz="1150" u="none" cap="none" strike="noStrike">
              <a:solidFill>
                <a:schemeClr val="dk1"/>
              </a:solidFill>
              <a:latin typeface="Calibri"/>
              <a:ea typeface="Calibri"/>
              <a:cs typeface="Calibri"/>
              <a:sym typeface="Calibri"/>
            </a:endParaRPr>
          </a:p>
          <a:p>
            <a:pPr indent="0" lvl="0" marL="0" marR="0" rtl="0" algn="l">
              <a:lnSpc>
                <a:spcPct val="117000"/>
              </a:lnSpc>
              <a:spcBef>
                <a:spcPts val="50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Example: Enemy transitions from Patrol → Chase → Attack states</a:t>
            </a:r>
            <a:endParaRPr b="0" i="0" sz="1150" u="none" cap="none" strike="noStrike">
              <a:solidFill>
                <a:schemeClr val="dk1"/>
              </a:solidFill>
              <a:latin typeface="Calibri"/>
              <a:ea typeface="Calibri"/>
              <a:cs typeface="Calibri"/>
              <a:sym typeface="Calibri"/>
            </a:endParaRPr>
          </a:p>
        </p:txBody>
      </p:sp>
      <p:pic>
        <p:nvPicPr>
          <p:cNvPr descr="preencoded.png" id="307" name="Google Shape;307;p28"/>
          <p:cNvPicPr preferRelativeResize="0"/>
          <p:nvPr/>
        </p:nvPicPr>
        <p:blipFill rotWithShape="1">
          <a:blip r:embed="rId4">
            <a:alphaModFix/>
          </a:blip>
          <a:srcRect b="0" l="0" r="0" t="0"/>
          <a:stretch/>
        </p:blipFill>
        <p:spPr>
          <a:xfrm>
            <a:off x="4343291" y="1241524"/>
            <a:ext cx="299137" cy="299145"/>
          </a:xfrm>
          <a:prstGeom prst="rect">
            <a:avLst/>
          </a:prstGeom>
          <a:noFill/>
          <a:ln>
            <a:noFill/>
          </a:ln>
        </p:spPr>
      </p:pic>
      <p:sp>
        <p:nvSpPr>
          <p:cNvPr id="308" name="Google Shape;308;p28"/>
          <p:cNvSpPr/>
          <p:nvPr/>
        </p:nvSpPr>
        <p:spPr>
          <a:xfrm>
            <a:off x="4343291" y="1680865"/>
            <a:ext cx="3505013"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350"/>
              <a:buFont typeface="Unbounded"/>
              <a:buNone/>
            </a:pPr>
            <a:r>
              <a:rPr b="0" i="0" lang="en-US" sz="1350" u="none" cap="none" strike="noStrike">
                <a:solidFill>
                  <a:srgbClr val="CAD6DE"/>
                </a:solidFill>
                <a:latin typeface="Unbounded"/>
                <a:ea typeface="Unbounded"/>
                <a:cs typeface="Unbounded"/>
                <a:sym typeface="Unbounded"/>
              </a:rPr>
              <a:t>Communication Protocols</a:t>
            </a:r>
            <a:endParaRPr b="0" i="0" sz="1350" u="none" cap="none" strike="noStrike">
              <a:solidFill>
                <a:schemeClr val="dk1"/>
              </a:solidFill>
              <a:latin typeface="Calibri"/>
              <a:ea typeface="Calibri"/>
              <a:cs typeface="Calibri"/>
              <a:sym typeface="Calibri"/>
            </a:endParaRPr>
          </a:p>
        </p:txBody>
      </p:sp>
      <p:sp>
        <p:nvSpPr>
          <p:cNvPr id="309" name="Google Shape;309;p28"/>
          <p:cNvSpPr/>
          <p:nvPr/>
        </p:nvSpPr>
        <p:spPr>
          <a:xfrm>
            <a:off x="4343291" y="1968103"/>
            <a:ext cx="3505013" cy="695623"/>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Regulate the lifecycle of network connections</a:t>
            </a:r>
            <a:endParaRPr b="0" i="0" sz="1150" u="none" cap="none" strike="noStrike">
              <a:solidFill>
                <a:schemeClr val="dk1"/>
              </a:solidFill>
              <a:latin typeface="Calibri"/>
              <a:ea typeface="Calibri"/>
              <a:cs typeface="Calibri"/>
              <a:sym typeface="Calibri"/>
            </a:endParaRPr>
          </a:p>
          <a:p>
            <a:pPr indent="0" lvl="0" marL="0" marR="0" rtl="0" algn="l">
              <a:lnSpc>
                <a:spcPct val="117000"/>
              </a:lnSpc>
              <a:spcBef>
                <a:spcPts val="50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Example: TCP connection states (SYN_SENT, ESTABLISHED, FIN_WAIT)</a:t>
            </a:r>
            <a:endParaRPr b="0" i="0" sz="1150" u="none" cap="none" strike="noStrike">
              <a:solidFill>
                <a:schemeClr val="dk1"/>
              </a:solidFill>
              <a:latin typeface="Calibri"/>
              <a:ea typeface="Calibri"/>
              <a:cs typeface="Calibri"/>
              <a:sym typeface="Calibri"/>
            </a:endParaRPr>
          </a:p>
        </p:txBody>
      </p:sp>
      <p:pic>
        <p:nvPicPr>
          <p:cNvPr descr="preencoded.png" id="310" name="Google Shape;310;p28"/>
          <p:cNvPicPr preferRelativeResize="0"/>
          <p:nvPr/>
        </p:nvPicPr>
        <p:blipFill rotWithShape="1">
          <a:blip r:embed="rId5">
            <a:alphaModFix/>
          </a:blip>
          <a:srcRect b="0" l="0" r="0" t="0"/>
          <a:stretch/>
        </p:blipFill>
        <p:spPr>
          <a:xfrm>
            <a:off x="7988497" y="1241524"/>
            <a:ext cx="299137" cy="299145"/>
          </a:xfrm>
          <a:prstGeom prst="rect">
            <a:avLst/>
          </a:prstGeom>
          <a:noFill/>
          <a:ln>
            <a:noFill/>
          </a:ln>
        </p:spPr>
      </p:pic>
      <p:sp>
        <p:nvSpPr>
          <p:cNvPr id="311" name="Google Shape;311;p28"/>
          <p:cNvSpPr/>
          <p:nvPr/>
        </p:nvSpPr>
        <p:spPr>
          <a:xfrm>
            <a:off x="7988497" y="1680865"/>
            <a:ext cx="3505013"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350"/>
              <a:buFont typeface="Unbounded"/>
              <a:buNone/>
            </a:pPr>
            <a:r>
              <a:rPr b="0" i="0" lang="en-US" sz="1350" u="none" cap="none" strike="noStrike">
                <a:solidFill>
                  <a:srgbClr val="CAD6DE"/>
                </a:solidFill>
                <a:latin typeface="Unbounded"/>
                <a:ea typeface="Unbounded"/>
                <a:cs typeface="Unbounded"/>
                <a:sym typeface="Unbounded"/>
              </a:rPr>
              <a:t>Embedded and IoT Systems</a:t>
            </a:r>
            <a:endParaRPr b="0" i="0" sz="1350" u="none" cap="none" strike="noStrike">
              <a:solidFill>
                <a:schemeClr val="dk1"/>
              </a:solidFill>
              <a:latin typeface="Calibri"/>
              <a:ea typeface="Calibri"/>
              <a:cs typeface="Calibri"/>
              <a:sym typeface="Calibri"/>
            </a:endParaRPr>
          </a:p>
        </p:txBody>
      </p:sp>
      <p:sp>
        <p:nvSpPr>
          <p:cNvPr id="312" name="Google Shape;312;p28"/>
          <p:cNvSpPr/>
          <p:nvPr/>
        </p:nvSpPr>
        <p:spPr>
          <a:xfrm>
            <a:off x="7988497" y="1968103"/>
            <a:ext cx="3505013" cy="695623"/>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Control physical machinery</a:t>
            </a:r>
            <a:endParaRPr b="0" i="0" sz="1150" u="none" cap="none" strike="noStrike">
              <a:solidFill>
                <a:schemeClr val="dk1"/>
              </a:solidFill>
              <a:latin typeface="Calibri"/>
              <a:ea typeface="Calibri"/>
              <a:cs typeface="Calibri"/>
              <a:sym typeface="Calibri"/>
            </a:endParaRPr>
          </a:p>
          <a:p>
            <a:pPr indent="0" lvl="0" marL="0" marR="0" rtl="0" algn="l">
              <a:lnSpc>
                <a:spcPct val="117000"/>
              </a:lnSpc>
              <a:spcBef>
                <a:spcPts val="50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Examples: Vending machines, elevators, HVAC systems, traffic lights</a:t>
            </a:r>
            <a:endParaRPr b="0" i="0" sz="1150" u="none" cap="none" strike="noStrike">
              <a:solidFill>
                <a:schemeClr val="dk1"/>
              </a:solidFill>
              <a:latin typeface="Calibri"/>
              <a:ea typeface="Calibri"/>
              <a:cs typeface="Calibri"/>
              <a:sym typeface="Calibri"/>
            </a:endParaRPr>
          </a:p>
        </p:txBody>
      </p:sp>
      <p:pic>
        <p:nvPicPr>
          <p:cNvPr descr="preencoded.png" id="313" name="Google Shape;313;p28"/>
          <p:cNvPicPr preferRelativeResize="0"/>
          <p:nvPr/>
        </p:nvPicPr>
        <p:blipFill rotWithShape="1">
          <a:blip r:embed="rId6">
            <a:alphaModFix/>
          </a:blip>
          <a:srcRect b="0" l="0" r="0" t="0"/>
          <a:stretch/>
        </p:blipFill>
        <p:spPr>
          <a:xfrm>
            <a:off x="698086" y="2888059"/>
            <a:ext cx="299137" cy="299145"/>
          </a:xfrm>
          <a:prstGeom prst="rect">
            <a:avLst/>
          </a:prstGeom>
          <a:noFill/>
          <a:ln>
            <a:noFill/>
          </a:ln>
        </p:spPr>
      </p:pic>
      <p:sp>
        <p:nvSpPr>
          <p:cNvPr id="314" name="Google Shape;314;p28"/>
          <p:cNvSpPr/>
          <p:nvPr/>
        </p:nvSpPr>
        <p:spPr>
          <a:xfrm>
            <a:off x="698086" y="3327400"/>
            <a:ext cx="3505013"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350"/>
              <a:buFont typeface="Unbounded"/>
              <a:buNone/>
            </a:pPr>
            <a:r>
              <a:rPr b="0" i="0" lang="en-US" sz="1350" u="none" cap="none" strike="noStrike">
                <a:solidFill>
                  <a:srgbClr val="CAD6DE"/>
                </a:solidFill>
                <a:latin typeface="Unbounded"/>
                <a:ea typeface="Unbounded"/>
                <a:cs typeface="Unbounded"/>
                <a:sym typeface="Unbounded"/>
              </a:rPr>
              <a:t>Compilers and Parsing</a:t>
            </a:r>
            <a:endParaRPr b="0" i="0" sz="1350" u="none" cap="none" strike="noStrike">
              <a:solidFill>
                <a:schemeClr val="dk1"/>
              </a:solidFill>
              <a:latin typeface="Calibri"/>
              <a:ea typeface="Calibri"/>
              <a:cs typeface="Calibri"/>
              <a:sym typeface="Calibri"/>
            </a:endParaRPr>
          </a:p>
        </p:txBody>
      </p:sp>
      <p:sp>
        <p:nvSpPr>
          <p:cNvPr id="315" name="Google Shape;315;p28"/>
          <p:cNvSpPr/>
          <p:nvPr/>
        </p:nvSpPr>
        <p:spPr>
          <a:xfrm>
            <a:off x="698086" y="3614638"/>
            <a:ext cx="3505013" cy="486172"/>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Lexical analysis to recognize syntactic structure</a:t>
            </a:r>
            <a:endParaRPr b="0" i="0" sz="1150" u="none" cap="none" strike="noStrike">
              <a:solidFill>
                <a:schemeClr val="dk1"/>
              </a:solidFill>
              <a:latin typeface="Calibri"/>
              <a:ea typeface="Calibri"/>
              <a:cs typeface="Calibri"/>
              <a:sym typeface="Calibri"/>
            </a:endParaRPr>
          </a:p>
          <a:p>
            <a:pPr indent="0" lvl="0" marL="0" marR="0" rtl="0" algn="l">
              <a:lnSpc>
                <a:spcPct val="117000"/>
              </a:lnSpc>
              <a:spcBef>
                <a:spcPts val="50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Used in source code parsing</a:t>
            </a:r>
            <a:endParaRPr b="0" i="0" sz="1150" u="none" cap="none" strike="noStrike">
              <a:solidFill>
                <a:schemeClr val="dk1"/>
              </a:solidFill>
              <a:latin typeface="Calibri"/>
              <a:ea typeface="Calibri"/>
              <a:cs typeface="Calibri"/>
              <a:sym typeface="Calibri"/>
            </a:endParaRPr>
          </a:p>
        </p:txBody>
      </p:sp>
      <p:pic>
        <p:nvPicPr>
          <p:cNvPr descr="preencoded.png" id="316" name="Google Shape;316;p28"/>
          <p:cNvPicPr preferRelativeResize="0"/>
          <p:nvPr/>
        </p:nvPicPr>
        <p:blipFill rotWithShape="1">
          <a:blip r:embed="rId7">
            <a:alphaModFix/>
          </a:blip>
          <a:srcRect b="0" l="0" r="0" t="0"/>
          <a:stretch/>
        </p:blipFill>
        <p:spPr>
          <a:xfrm>
            <a:off x="4343291" y="2888059"/>
            <a:ext cx="299137" cy="299145"/>
          </a:xfrm>
          <a:prstGeom prst="rect">
            <a:avLst/>
          </a:prstGeom>
          <a:noFill/>
          <a:ln>
            <a:noFill/>
          </a:ln>
        </p:spPr>
      </p:pic>
      <p:sp>
        <p:nvSpPr>
          <p:cNvPr id="317" name="Google Shape;317;p28"/>
          <p:cNvSpPr/>
          <p:nvPr/>
        </p:nvSpPr>
        <p:spPr>
          <a:xfrm>
            <a:off x="4343291" y="3327400"/>
            <a:ext cx="3505013"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350"/>
              <a:buFont typeface="Unbounded"/>
              <a:buNone/>
            </a:pPr>
            <a:r>
              <a:rPr b="0" i="0" lang="en-US" sz="1350" u="none" cap="none" strike="noStrike">
                <a:solidFill>
                  <a:srgbClr val="CAD6DE"/>
                </a:solidFill>
                <a:latin typeface="Unbounded"/>
                <a:ea typeface="Unbounded"/>
                <a:cs typeface="Unbounded"/>
                <a:sym typeface="Unbounded"/>
              </a:rPr>
              <a:t>User Interfaces (UI)</a:t>
            </a:r>
            <a:endParaRPr b="0" i="0" sz="1350" u="none" cap="none" strike="noStrike">
              <a:solidFill>
                <a:schemeClr val="dk1"/>
              </a:solidFill>
              <a:latin typeface="Calibri"/>
              <a:ea typeface="Calibri"/>
              <a:cs typeface="Calibri"/>
              <a:sym typeface="Calibri"/>
            </a:endParaRPr>
          </a:p>
        </p:txBody>
      </p:sp>
      <p:sp>
        <p:nvSpPr>
          <p:cNvPr id="318" name="Google Shape;318;p28"/>
          <p:cNvSpPr/>
          <p:nvPr/>
        </p:nvSpPr>
        <p:spPr>
          <a:xfrm>
            <a:off x="4343291" y="3614638"/>
            <a:ext cx="3505013" cy="486172"/>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Manage complex navigation flows</a:t>
            </a:r>
            <a:endParaRPr b="0" i="0" sz="1150" u="none" cap="none" strike="noStrike">
              <a:solidFill>
                <a:schemeClr val="dk1"/>
              </a:solidFill>
              <a:latin typeface="Calibri"/>
              <a:ea typeface="Calibri"/>
              <a:cs typeface="Calibri"/>
              <a:sym typeface="Calibri"/>
            </a:endParaRPr>
          </a:p>
          <a:p>
            <a:pPr indent="0" lvl="0" marL="0" marR="0" rtl="0" algn="l">
              <a:lnSpc>
                <a:spcPct val="117000"/>
              </a:lnSpc>
              <a:spcBef>
                <a:spcPts val="50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Example: Idle, Loading, Success, Error states</a:t>
            </a:r>
            <a:endParaRPr b="0" i="0" sz="1150" u="none" cap="none" strike="noStrike">
              <a:solidFill>
                <a:schemeClr val="dk1"/>
              </a:solidFill>
              <a:latin typeface="Calibri"/>
              <a:ea typeface="Calibri"/>
              <a:cs typeface="Calibri"/>
              <a:sym typeface="Calibri"/>
            </a:endParaRPr>
          </a:p>
        </p:txBody>
      </p:sp>
      <p:sp>
        <p:nvSpPr>
          <p:cNvPr id="319" name="Google Shape;319;p28"/>
          <p:cNvSpPr/>
          <p:nvPr/>
        </p:nvSpPr>
        <p:spPr>
          <a:xfrm>
            <a:off x="698086" y="4264323"/>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8"/>
          <p:cNvSpPr/>
          <p:nvPr/>
        </p:nvSpPr>
        <p:spPr>
          <a:xfrm>
            <a:off x="698086" y="4488954"/>
            <a:ext cx="10795524" cy="35192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2200"/>
              <a:buFont typeface="Unbounded"/>
              <a:buNone/>
            </a:pPr>
            <a:r>
              <a:rPr b="0" i="0" lang="en-US" sz="2200" u="none" cap="none" strike="noStrike">
                <a:solidFill>
                  <a:srgbClr val="FFFFFF"/>
                </a:solidFill>
                <a:latin typeface="Unbounded"/>
                <a:ea typeface="Unbounded"/>
                <a:cs typeface="Unbounded"/>
                <a:sym typeface="Unbounded"/>
              </a:rPr>
              <a:t>Why FSMs Are So Useful</a:t>
            </a:r>
            <a:endParaRPr b="0" i="0" sz="2200" u="none" cap="none" strike="noStrike">
              <a:solidFill>
                <a:schemeClr val="dk1"/>
              </a:solidFill>
              <a:latin typeface="Calibri"/>
              <a:ea typeface="Calibri"/>
              <a:cs typeface="Calibri"/>
              <a:sym typeface="Calibri"/>
            </a:endParaRPr>
          </a:p>
        </p:txBody>
      </p:sp>
      <p:sp>
        <p:nvSpPr>
          <p:cNvPr id="321" name="Google Shape;321;p28"/>
          <p:cNvSpPr/>
          <p:nvPr/>
        </p:nvSpPr>
        <p:spPr>
          <a:xfrm>
            <a:off x="698086" y="5121374"/>
            <a:ext cx="74710" cy="74712"/>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8"/>
          <p:cNvSpPr/>
          <p:nvPr/>
        </p:nvSpPr>
        <p:spPr>
          <a:xfrm>
            <a:off x="884910" y="5009158"/>
            <a:ext cx="5140792"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Structural clarity: Replace long conditional chains with clean visual representation</a:t>
            </a:r>
            <a:endParaRPr b="0" i="0" sz="1450" u="none" cap="none" strike="noStrike">
              <a:solidFill>
                <a:schemeClr val="dk1"/>
              </a:solidFill>
              <a:latin typeface="Calibri"/>
              <a:ea typeface="Calibri"/>
              <a:cs typeface="Calibri"/>
              <a:sym typeface="Calibri"/>
            </a:endParaRPr>
          </a:p>
        </p:txBody>
      </p:sp>
      <p:sp>
        <p:nvSpPr>
          <p:cNvPr id="323" name="Google Shape;323;p28"/>
          <p:cNvSpPr/>
          <p:nvPr/>
        </p:nvSpPr>
        <p:spPr>
          <a:xfrm>
            <a:off x="6165894" y="5121374"/>
            <a:ext cx="74710" cy="74712"/>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8"/>
          <p:cNvSpPr/>
          <p:nvPr/>
        </p:nvSpPr>
        <p:spPr>
          <a:xfrm>
            <a:off x="6352718" y="5009158"/>
            <a:ext cx="5140891"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Predictability and safety: Prevent invalid states, every transition is rigidly coded</a:t>
            </a:r>
            <a:endParaRPr b="0" i="0" sz="1450" u="none" cap="none" strike="noStrike">
              <a:solidFill>
                <a:schemeClr val="dk1"/>
              </a:solidFill>
              <a:latin typeface="Calibri"/>
              <a:ea typeface="Calibri"/>
              <a:cs typeface="Calibri"/>
              <a:sym typeface="Calibri"/>
            </a:endParaRPr>
          </a:p>
        </p:txBody>
      </p:sp>
      <p:sp>
        <p:nvSpPr>
          <p:cNvPr id="325" name="Google Shape;325;p28"/>
          <p:cNvSpPr/>
          <p:nvPr/>
        </p:nvSpPr>
        <p:spPr>
          <a:xfrm>
            <a:off x="698086" y="5869384"/>
            <a:ext cx="74710" cy="74712"/>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8"/>
          <p:cNvSpPr/>
          <p:nvPr/>
        </p:nvSpPr>
        <p:spPr>
          <a:xfrm>
            <a:off x="884910" y="5757168"/>
            <a:ext cx="5140792"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Ease of maintenance: Scale by adding new states without altering entire architecture</a:t>
            </a:r>
            <a:endParaRPr b="0" i="0" sz="1450" u="none" cap="none" strike="noStrike">
              <a:solidFill>
                <a:schemeClr val="dk1"/>
              </a:solidFill>
              <a:latin typeface="Calibri"/>
              <a:ea typeface="Calibri"/>
              <a:cs typeface="Calibri"/>
              <a:sym typeface="Calibri"/>
            </a:endParaRPr>
          </a:p>
        </p:txBody>
      </p:sp>
      <p:sp>
        <p:nvSpPr>
          <p:cNvPr id="327" name="Google Shape;327;p28"/>
          <p:cNvSpPr/>
          <p:nvPr/>
        </p:nvSpPr>
        <p:spPr>
          <a:xfrm>
            <a:off x="6165894" y="5869384"/>
            <a:ext cx="74710" cy="74712"/>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8"/>
          <p:cNvSpPr/>
          <p:nvPr/>
        </p:nvSpPr>
        <p:spPr>
          <a:xfrm>
            <a:off x="6352718" y="5757168"/>
            <a:ext cx="5140891"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Bug resolution: Simplify debugging by identifying where logical flow breaks</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9"/>
          <p:cNvSpPr/>
          <p:nvPr/>
        </p:nvSpPr>
        <p:spPr>
          <a:xfrm>
            <a:off x="698086" y="806053"/>
            <a:ext cx="10795524" cy="41056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550"/>
              <a:buFont typeface="Unbounded"/>
              <a:buNone/>
            </a:pPr>
            <a:r>
              <a:rPr b="0" i="0" lang="en-US" sz="2550" u="none" cap="none" strike="noStrike">
                <a:solidFill>
                  <a:srgbClr val="FFFFFF"/>
                </a:solidFill>
                <a:latin typeface="Unbounded"/>
                <a:ea typeface="Unbounded"/>
                <a:cs typeface="Unbounded"/>
                <a:sym typeface="Unbounded"/>
              </a:rPr>
              <a:t>Dual Finite State Machines for Drone Coordination</a:t>
            </a:r>
            <a:endParaRPr b="0" i="0" sz="2550" u="none" cap="none" strike="noStrike">
              <a:solidFill>
                <a:schemeClr val="dk1"/>
              </a:solidFill>
              <a:latin typeface="Calibri"/>
              <a:ea typeface="Calibri"/>
              <a:cs typeface="Calibri"/>
              <a:sym typeface="Calibri"/>
            </a:endParaRPr>
          </a:p>
        </p:txBody>
      </p:sp>
      <p:sp>
        <p:nvSpPr>
          <p:cNvPr id="335" name="Google Shape;335;p29"/>
          <p:cNvSpPr/>
          <p:nvPr/>
        </p:nvSpPr>
        <p:spPr>
          <a:xfrm>
            <a:off x="698086" y="1412081"/>
            <a:ext cx="10795524" cy="474663"/>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350"/>
              <a:buFont typeface="Cabin"/>
              <a:buNone/>
            </a:pPr>
            <a:r>
              <a:rPr b="0" i="0" lang="en-US" sz="1350" u="none" cap="none" strike="noStrike">
                <a:solidFill>
                  <a:srgbClr val="CAD6DE"/>
                </a:solidFill>
                <a:latin typeface="Cabin"/>
                <a:ea typeface="Cabin"/>
                <a:cs typeface="Cabin"/>
                <a:sym typeface="Cabin"/>
              </a:rPr>
              <a:t>Every drone in the swarm is represented by a dual-state tuple (S1, S2) maintained by the Rust coordinator. This dual FSM approach separates concerns into two independent but complementary state machines.</a:t>
            </a:r>
            <a:endParaRPr b="0" i="0" sz="1350" u="none" cap="none" strike="noStrike">
              <a:solidFill>
                <a:schemeClr val="dk1"/>
              </a:solidFill>
              <a:latin typeface="Calibri"/>
              <a:ea typeface="Calibri"/>
              <a:cs typeface="Calibri"/>
              <a:sym typeface="Calibri"/>
            </a:endParaRPr>
          </a:p>
        </p:txBody>
      </p:sp>
      <p:sp>
        <p:nvSpPr>
          <p:cNvPr id="336" name="Google Shape;336;p29"/>
          <p:cNvSpPr/>
          <p:nvPr/>
        </p:nvSpPr>
        <p:spPr>
          <a:xfrm>
            <a:off x="698086" y="2094409"/>
            <a:ext cx="5227408" cy="24636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550"/>
              <a:buFont typeface="Unbounded"/>
              <a:buNone/>
            </a:pPr>
            <a:r>
              <a:rPr b="1" i="0" lang="en-US" sz="1550" u="none" cap="none" strike="noStrike">
                <a:solidFill>
                  <a:srgbClr val="FFFFFF"/>
                </a:solidFill>
                <a:latin typeface="Unbounded"/>
                <a:ea typeface="Unbounded"/>
                <a:cs typeface="Unbounded"/>
                <a:sym typeface="Unbounded"/>
              </a:rPr>
              <a:t>FSM 1 - Health State (S1):</a:t>
            </a:r>
            <a:endParaRPr b="0" i="0" sz="1550" u="none" cap="none" strike="noStrike">
              <a:solidFill>
                <a:schemeClr val="dk1"/>
              </a:solidFill>
              <a:latin typeface="Calibri"/>
              <a:ea typeface="Calibri"/>
              <a:cs typeface="Calibri"/>
              <a:sym typeface="Calibri"/>
            </a:endParaRPr>
          </a:p>
        </p:txBody>
      </p:sp>
      <p:sp>
        <p:nvSpPr>
          <p:cNvPr id="337" name="Google Shape;337;p29"/>
          <p:cNvSpPr/>
          <p:nvPr/>
        </p:nvSpPr>
        <p:spPr>
          <a:xfrm>
            <a:off x="698086" y="2438499"/>
            <a:ext cx="5836992" cy="237331"/>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350"/>
              <a:buFont typeface="Cabin"/>
              <a:buNone/>
            </a:pPr>
            <a:r>
              <a:rPr b="0" i="0" lang="en-US" sz="1350" u="none" cap="none" strike="noStrike">
                <a:solidFill>
                  <a:srgbClr val="CAD6DE"/>
                </a:solidFill>
                <a:latin typeface="Cabin"/>
                <a:ea typeface="Cabin"/>
                <a:cs typeface="Cabin"/>
                <a:sym typeface="Cabin"/>
              </a:rPr>
              <a:t>Tracks the operational status and connectivity of each drone:</a:t>
            </a:r>
            <a:endParaRPr b="0" i="0" sz="1350" u="none" cap="none" strike="noStrike">
              <a:solidFill>
                <a:schemeClr val="dk1"/>
              </a:solidFill>
              <a:latin typeface="Calibri"/>
              <a:ea typeface="Calibri"/>
              <a:cs typeface="Calibri"/>
              <a:sym typeface="Calibri"/>
            </a:endParaRPr>
          </a:p>
        </p:txBody>
      </p:sp>
      <p:sp>
        <p:nvSpPr>
          <p:cNvPr id="338" name="Google Shape;338;p29"/>
          <p:cNvSpPr/>
          <p:nvPr/>
        </p:nvSpPr>
        <p:spPr>
          <a:xfrm>
            <a:off x="698086" y="2763738"/>
            <a:ext cx="5227408" cy="1289050"/>
          </a:xfrm>
          <a:prstGeom prst="rect">
            <a:avLst/>
          </a:prstGeom>
          <a:noFill/>
          <a:ln>
            <a:noFill/>
          </a:ln>
        </p:spPr>
        <p:txBody>
          <a:bodyPr anchorCtr="0" anchor="t" bIns="0" lIns="0" spcFirstLastPara="1" rIns="0" wrap="square" tIns="69800">
            <a:noAutofit/>
          </a:bodyPr>
          <a:lstStyle/>
          <a:p>
            <a:pPr indent="-274320" lvl="0" marL="274320" marR="0" rtl="0" algn="l">
              <a:lnSpc>
                <a:spcPct val="113000"/>
              </a:lnSpc>
              <a:spcBef>
                <a:spcPts val="0"/>
              </a:spcBef>
              <a:spcAft>
                <a:spcPts val="0"/>
              </a:spcAft>
              <a:buClr>
                <a:srgbClr val="CAD6DE"/>
              </a:buClr>
              <a:buSzPts val="1350"/>
              <a:buFont typeface="Cabin"/>
              <a:buChar char="•"/>
            </a:pPr>
            <a:r>
              <a:rPr b="1" i="0" lang="en-US" sz="1350" u="none" cap="none" strike="noStrike">
                <a:solidFill>
                  <a:srgbClr val="CAD6DE"/>
                </a:solidFill>
                <a:latin typeface="Cabin"/>
                <a:ea typeface="Cabin"/>
                <a:cs typeface="Cabin"/>
                <a:sym typeface="Cabin"/>
              </a:rPr>
              <a:t>Unregistered:</a:t>
            </a:r>
            <a:r>
              <a:rPr b="0" i="0" lang="en-US" sz="1350" u="none" cap="none" strike="noStrike">
                <a:solidFill>
                  <a:srgbClr val="CAD6DE"/>
                </a:solidFill>
                <a:latin typeface="Cabin"/>
                <a:ea typeface="Cabin"/>
                <a:cs typeface="Cabin"/>
                <a:sym typeface="Cabin"/>
              </a:rPr>
              <a:t> Drone newly spawned or initializing</a:t>
            </a:r>
            <a:endParaRPr b="0" i="0" sz="1350" u="none" cap="none" strike="noStrike">
              <a:solidFill>
                <a:schemeClr val="dk1"/>
              </a:solidFill>
              <a:latin typeface="Calibri"/>
              <a:ea typeface="Calibri"/>
              <a:cs typeface="Calibri"/>
              <a:sym typeface="Calibri"/>
            </a:endParaRPr>
          </a:p>
          <a:p>
            <a:pPr indent="-274320" lvl="0" marL="274320" marR="0" rtl="0" algn="l">
              <a:lnSpc>
                <a:spcPct val="113000"/>
              </a:lnSpc>
              <a:spcBef>
                <a:spcPts val="0"/>
              </a:spcBef>
              <a:spcAft>
                <a:spcPts val="0"/>
              </a:spcAft>
              <a:buClr>
                <a:srgbClr val="CAD6DE"/>
              </a:buClr>
              <a:buSzPts val="1350"/>
              <a:buFont typeface="Cabin"/>
              <a:buChar char="•"/>
            </a:pPr>
            <a:r>
              <a:rPr b="1" i="0" lang="en-US" sz="1350" u="none" cap="none" strike="noStrike">
                <a:solidFill>
                  <a:srgbClr val="CAD6DE"/>
                </a:solidFill>
                <a:latin typeface="Cabin"/>
                <a:ea typeface="Cabin"/>
                <a:cs typeface="Cabin"/>
                <a:sym typeface="Cabin"/>
              </a:rPr>
              <a:t>Active: </a:t>
            </a:r>
            <a:r>
              <a:rPr b="0" i="0" lang="en-US" sz="1350" u="none" cap="none" strike="noStrike">
                <a:solidFill>
                  <a:srgbClr val="CAD6DE"/>
                </a:solidFill>
                <a:latin typeface="Cabin"/>
                <a:ea typeface="Cabin"/>
                <a:cs typeface="Cabin"/>
                <a:sym typeface="Cabin"/>
              </a:rPr>
              <a:t>Operational drone emitting periodic heartbeats</a:t>
            </a:r>
            <a:endParaRPr b="0" i="0" sz="1350" u="none" cap="none" strike="noStrike">
              <a:solidFill>
                <a:schemeClr val="dk1"/>
              </a:solidFill>
              <a:latin typeface="Calibri"/>
              <a:ea typeface="Calibri"/>
              <a:cs typeface="Calibri"/>
              <a:sym typeface="Calibri"/>
            </a:endParaRPr>
          </a:p>
          <a:p>
            <a:pPr indent="-274320" lvl="0" marL="274320" marR="0" rtl="0" algn="l">
              <a:lnSpc>
                <a:spcPct val="113000"/>
              </a:lnSpc>
              <a:spcBef>
                <a:spcPts val="0"/>
              </a:spcBef>
              <a:spcAft>
                <a:spcPts val="0"/>
              </a:spcAft>
              <a:buClr>
                <a:srgbClr val="CAD6DE"/>
              </a:buClr>
              <a:buSzPts val="1350"/>
              <a:buFont typeface="Cabin"/>
              <a:buChar char="•"/>
            </a:pPr>
            <a:r>
              <a:rPr b="1" i="0" lang="en-US" sz="1350" u="none" cap="none" strike="noStrike">
                <a:solidFill>
                  <a:srgbClr val="CAD6DE"/>
                </a:solidFill>
                <a:latin typeface="Cabin"/>
                <a:ea typeface="Cabin"/>
                <a:cs typeface="Cabin"/>
                <a:sym typeface="Cabin"/>
              </a:rPr>
              <a:t>Suspected:</a:t>
            </a:r>
            <a:r>
              <a:rPr b="0" i="0" lang="en-US" sz="1350" u="none" cap="none" strike="noStrike">
                <a:solidFill>
                  <a:srgbClr val="CAD6DE"/>
                </a:solidFill>
                <a:latin typeface="Cabin"/>
                <a:ea typeface="Cabin"/>
                <a:cs typeface="Cabin"/>
                <a:sym typeface="Cabin"/>
              </a:rPr>
              <a:t> No heartbeat received for over 5 seconds</a:t>
            </a:r>
            <a:endParaRPr b="0" i="0" sz="1350" u="none" cap="none" strike="noStrike">
              <a:solidFill>
                <a:schemeClr val="dk1"/>
              </a:solidFill>
              <a:latin typeface="Calibri"/>
              <a:ea typeface="Calibri"/>
              <a:cs typeface="Calibri"/>
              <a:sym typeface="Calibri"/>
            </a:endParaRPr>
          </a:p>
          <a:p>
            <a:pPr indent="-274320" lvl="0" marL="274320" marR="0" rtl="0" algn="l">
              <a:lnSpc>
                <a:spcPct val="113000"/>
              </a:lnSpc>
              <a:spcBef>
                <a:spcPts val="0"/>
              </a:spcBef>
              <a:spcAft>
                <a:spcPts val="0"/>
              </a:spcAft>
              <a:buClr>
                <a:srgbClr val="CAD6DE"/>
              </a:buClr>
              <a:buSzPts val="1350"/>
              <a:buFont typeface="Cabin"/>
              <a:buChar char="•"/>
            </a:pPr>
            <a:r>
              <a:rPr b="1" i="0" lang="en-US" sz="1350" u="none" cap="none" strike="noStrike">
                <a:solidFill>
                  <a:srgbClr val="CAD6DE"/>
                </a:solidFill>
                <a:latin typeface="Cabin"/>
                <a:ea typeface="Cabin"/>
                <a:cs typeface="Cabin"/>
                <a:sym typeface="Cabin"/>
              </a:rPr>
              <a:t>Failed: </a:t>
            </a:r>
            <a:r>
              <a:rPr b="0" i="0" lang="en-US" sz="1350" u="none" cap="none" strike="noStrike">
                <a:solidFill>
                  <a:srgbClr val="CAD6DE"/>
                </a:solidFill>
                <a:latin typeface="Cabin"/>
                <a:ea typeface="Cabin"/>
                <a:cs typeface="Cabin"/>
                <a:sym typeface="Cabin"/>
              </a:rPr>
              <a:t>No heartbeat received for over 10 seconds (drone considered crashed/offline)</a:t>
            </a:r>
            <a:endParaRPr b="0" i="0" sz="1350" u="none" cap="none" strike="noStrike">
              <a:solidFill>
                <a:schemeClr val="dk1"/>
              </a:solidFill>
              <a:latin typeface="Calibri"/>
              <a:ea typeface="Calibri"/>
              <a:cs typeface="Calibri"/>
              <a:sym typeface="Calibri"/>
            </a:endParaRPr>
          </a:p>
        </p:txBody>
      </p:sp>
      <p:sp>
        <p:nvSpPr>
          <p:cNvPr id="339" name="Google Shape;339;p29"/>
          <p:cNvSpPr/>
          <p:nvPr/>
        </p:nvSpPr>
        <p:spPr>
          <a:xfrm>
            <a:off x="6272552" y="2094409"/>
            <a:ext cx="5227408" cy="24636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550"/>
              <a:buFont typeface="Unbounded"/>
              <a:buNone/>
            </a:pPr>
            <a:r>
              <a:rPr b="1" i="0" lang="en-US" sz="1550" u="none" cap="none" strike="noStrike">
                <a:solidFill>
                  <a:srgbClr val="FFFFFF"/>
                </a:solidFill>
                <a:latin typeface="Unbounded"/>
                <a:ea typeface="Unbounded"/>
                <a:cs typeface="Unbounded"/>
                <a:sym typeface="Unbounded"/>
              </a:rPr>
              <a:t>FSM 2 - Swarm Role (S2):</a:t>
            </a:r>
            <a:endParaRPr b="0" i="0" sz="1550" u="none" cap="none" strike="noStrike">
              <a:solidFill>
                <a:schemeClr val="dk1"/>
              </a:solidFill>
              <a:latin typeface="Calibri"/>
              <a:ea typeface="Calibri"/>
              <a:cs typeface="Calibri"/>
              <a:sym typeface="Calibri"/>
            </a:endParaRPr>
          </a:p>
        </p:txBody>
      </p:sp>
      <p:sp>
        <p:nvSpPr>
          <p:cNvPr id="340" name="Google Shape;340;p29"/>
          <p:cNvSpPr/>
          <p:nvPr/>
        </p:nvSpPr>
        <p:spPr>
          <a:xfrm>
            <a:off x="6272552" y="2438499"/>
            <a:ext cx="5836992" cy="237331"/>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350"/>
              <a:buFont typeface="Cabin"/>
              <a:buNone/>
            </a:pPr>
            <a:r>
              <a:rPr b="0" i="0" lang="en-US" sz="1350" u="none" cap="none" strike="noStrike">
                <a:solidFill>
                  <a:srgbClr val="CAD6DE"/>
                </a:solidFill>
                <a:latin typeface="Cabin"/>
                <a:ea typeface="Cabin"/>
                <a:cs typeface="Cabin"/>
                <a:sym typeface="Cabin"/>
              </a:rPr>
              <a:t>Tracks the role and responsibility of each drone within the swarm:</a:t>
            </a:r>
            <a:endParaRPr b="0" i="0" sz="1350" u="none" cap="none" strike="noStrike">
              <a:solidFill>
                <a:schemeClr val="dk1"/>
              </a:solidFill>
              <a:latin typeface="Calibri"/>
              <a:ea typeface="Calibri"/>
              <a:cs typeface="Calibri"/>
              <a:sym typeface="Calibri"/>
            </a:endParaRPr>
          </a:p>
        </p:txBody>
      </p:sp>
      <p:sp>
        <p:nvSpPr>
          <p:cNvPr id="341" name="Google Shape;341;p29"/>
          <p:cNvSpPr/>
          <p:nvPr/>
        </p:nvSpPr>
        <p:spPr>
          <a:xfrm>
            <a:off x="6272552" y="2763738"/>
            <a:ext cx="5227408" cy="1289050"/>
          </a:xfrm>
          <a:prstGeom prst="rect">
            <a:avLst/>
          </a:prstGeom>
          <a:noFill/>
          <a:ln>
            <a:noFill/>
          </a:ln>
        </p:spPr>
        <p:txBody>
          <a:bodyPr anchorCtr="0" anchor="t" bIns="0" lIns="0" spcFirstLastPara="1" rIns="0" wrap="square" tIns="69800">
            <a:noAutofit/>
          </a:bodyPr>
          <a:lstStyle/>
          <a:p>
            <a:pPr indent="-274320" lvl="0" marL="274320" marR="0" rtl="0" algn="l">
              <a:lnSpc>
                <a:spcPct val="113000"/>
              </a:lnSpc>
              <a:spcBef>
                <a:spcPts val="0"/>
              </a:spcBef>
              <a:spcAft>
                <a:spcPts val="0"/>
              </a:spcAft>
              <a:buClr>
                <a:srgbClr val="CAD6DE"/>
              </a:buClr>
              <a:buSzPts val="1350"/>
              <a:buFont typeface="Cabin"/>
              <a:buChar char="•"/>
            </a:pPr>
            <a:r>
              <a:rPr b="1" i="0" lang="en-US" sz="1350" u="none" cap="none" strike="noStrike">
                <a:solidFill>
                  <a:srgbClr val="CAD6DE"/>
                </a:solidFill>
                <a:latin typeface="Cabin"/>
                <a:ea typeface="Cabin"/>
                <a:cs typeface="Cabin"/>
                <a:sym typeface="Cabin"/>
              </a:rPr>
              <a:t>None:</a:t>
            </a:r>
            <a:r>
              <a:rPr b="0" i="0" lang="en-US" sz="1350" u="none" cap="none" strike="noStrike">
                <a:solidFill>
                  <a:srgbClr val="CAD6DE"/>
                </a:solidFill>
                <a:latin typeface="Cabin"/>
                <a:ea typeface="Cabin"/>
                <a:cs typeface="Cabin"/>
                <a:sym typeface="Cabin"/>
              </a:rPr>
              <a:t> No role assigned (when S1 is Unregistered or Failed)</a:t>
            </a:r>
            <a:endParaRPr b="0" i="0" sz="1350" u="none" cap="none" strike="noStrike">
              <a:solidFill>
                <a:schemeClr val="dk1"/>
              </a:solidFill>
              <a:latin typeface="Calibri"/>
              <a:ea typeface="Calibri"/>
              <a:cs typeface="Calibri"/>
              <a:sym typeface="Calibri"/>
            </a:endParaRPr>
          </a:p>
          <a:p>
            <a:pPr indent="-274320" lvl="0" marL="274320" marR="0" rtl="0" algn="l">
              <a:lnSpc>
                <a:spcPct val="113000"/>
              </a:lnSpc>
              <a:spcBef>
                <a:spcPts val="0"/>
              </a:spcBef>
              <a:spcAft>
                <a:spcPts val="0"/>
              </a:spcAft>
              <a:buClr>
                <a:srgbClr val="CAD6DE"/>
              </a:buClr>
              <a:buSzPts val="1350"/>
              <a:buFont typeface="Cabin"/>
              <a:buChar char="•"/>
            </a:pPr>
            <a:r>
              <a:rPr b="1" i="0" lang="en-US" sz="1350" u="none" cap="none" strike="noStrike">
                <a:solidFill>
                  <a:srgbClr val="CAD6DE"/>
                </a:solidFill>
                <a:latin typeface="Cabin"/>
                <a:ea typeface="Cabin"/>
                <a:cs typeface="Cabin"/>
                <a:sym typeface="Cabin"/>
              </a:rPr>
              <a:t>Candidate: </a:t>
            </a:r>
            <a:r>
              <a:rPr b="0" i="0" lang="en-US" sz="1350" u="none" cap="none" strike="noStrike">
                <a:solidFill>
                  <a:srgbClr val="CAD6DE"/>
                </a:solidFill>
                <a:latin typeface="Cabin"/>
                <a:ea typeface="Cabin"/>
                <a:cs typeface="Cabin"/>
                <a:sym typeface="Cabin"/>
              </a:rPr>
              <a:t>Eligible to become Leader during an election process</a:t>
            </a:r>
            <a:endParaRPr b="0" i="0" sz="1350" u="none" cap="none" strike="noStrike">
              <a:solidFill>
                <a:schemeClr val="dk1"/>
              </a:solidFill>
              <a:latin typeface="Calibri"/>
              <a:ea typeface="Calibri"/>
              <a:cs typeface="Calibri"/>
              <a:sym typeface="Calibri"/>
            </a:endParaRPr>
          </a:p>
          <a:p>
            <a:pPr indent="-274320" lvl="0" marL="274320" marR="0" rtl="0" algn="l">
              <a:lnSpc>
                <a:spcPct val="113000"/>
              </a:lnSpc>
              <a:spcBef>
                <a:spcPts val="0"/>
              </a:spcBef>
              <a:spcAft>
                <a:spcPts val="0"/>
              </a:spcAft>
              <a:buClr>
                <a:srgbClr val="CAD6DE"/>
              </a:buClr>
              <a:buSzPts val="1350"/>
              <a:buFont typeface="Cabin"/>
              <a:buChar char="•"/>
            </a:pPr>
            <a:r>
              <a:rPr b="1" i="0" lang="en-US" sz="1350" u="none" cap="none" strike="noStrike">
                <a:solidFill>
                  <a:srgbClr val="CAD6DE"/>
                </a:solidFill>
                <a:latin typeface="Cabin"/>
                <a:ea typeface="Cabin"/>
                <a:cs typeface="Cabin"/>
                <a:sym typeface="Cabin"/>
              </a:rPr>
              <a:t>Follower: </a:t>
            </a:r>
            <a:r>
              <a:rPr b="0" i="0" lang="en-US" sz="1350" u="none" cap="none" strike="noStrike">
                <a:solidFill>
                  <a:srgbClr val="CAD6DE"/>
                </a:solidFill>
                <a:latin typeface="Cabin"/>
                <a:ea typeface="Cabin"/>
                <a:cs typeface="Cabin"/>
                <a:sym typeface="Cabin"/>
              </a:rPr>
              <a:t>Gregarious drone following the Leader's trajectory and formation directives</a:t>
            </a:r>
            <a:endParaRPr b="0" i="0" sz="1350" u="none" cap="none" strike="noStrike">
              <a:solidFill>
                <a:schemeClr val="dk1"/>
              </a:solidFill>
              <a:latin typeface="Calibri"/>
              <a:ea typeface="Calibri"/>
              <a:cs typeface="Calibri"/>
              <a:sym typeface="Calibri"/>
            </a:endParaRPr>
          </a:p>
          <a:p>
            <a:pPr indent="-274320" lvl="0" marL="274320" marR="0" rtl="0" algn="l">
              <a:lnSpc>
                <a:spcPct val="113000"/>
              </a:lnSpc>
              <a:spcBef>
                <a:spcPts val="0"/>
              </a:spcBef>
              <a:spcAft>
                <a:spcPts val="0"/>
              </a:spcAft>
              <a:buClr>
                <a:srgbClr val="CAD6DE"/>
              </a:buClr>
              <a:buSzPts val="1350"/>
              <a:buFont typeface="Cabin"/>
              <a:buChar char="•"/>
            </a:pPr>
            <a:r>
              <a:rPr b="1" i="0" lang="en-US" sz="1350" u="none" cap="none" strike="noStrike">
                <a:solidFill>
                  <a:srgbClr val="CAD6DE"/>
                </a:solidFill>
                <a:latin typeface="Cabin"/>
                <a:ea typeface="Cabin"/>
                <a:cs typeface="Cabin"/>
                <a:sym typeface="Cabin"/>
              </a:rPr>
              <a:t>Leader: </a:t>
            </a:r>
            <a:r>
              <a:rPr b="0" i="0" lang="en-US" sz="1350" u="none" cap="none" strike="noStrike">
                <a:solidFill>
                  <a:srgbClr val="CAD6DE"/>
                </a:solidFill>
                <a:latin typeface="Cabin"/>
                <a:ea typeface="Cabin"/>
                <a:cs typeface="Cabin"/>
                <a:sym typeface="Cabin"/>
              </a:rPr>
              <a:t>Active leader drone governing the swarm</a:t>
            </a:r>
            <a:endParaRPr b="0" i="0" sz="1350" u="none" cap="none" strike="noStrike">
              <a:solidFill>
                <a:schemeClr val="dk1"/>
              </a:solidFill>
              <a:latin typeface="Calibri"/>
              <a:ea typeface="Calibri"/>
              <a:cs typeface="Calibri"/>
              <a:sym typeface="Calibri"/>
            </a:endParaRPr>
          </a:p>
        </p:txBody>
      </p:sp>
      <p:sp>
        <p:nvSpPr>
          <p:cNvPr id="342" name="Google Shape;342;p29"/>
          <p:cNvSpPr/>
          <p:nvPr/>
        </p:nvSpPr>
        <p:spPr>
          <a:xfrm>
            <a:off x="698086" y="4231680"/>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9"/>
          <p:cNvSpPr/>
          <p:nvPr/>
        </p:nvSpPr>
        <p:spPr>
          <a:xfrm>
            <a:off x="698086" y="4432102"/>
            <a:ext cx="10795524" cy="3285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050"/>
              <a:buFont typeface="Unbounded"/>
              <a:buNone/>
            </a:pPr>
            <a:r>
              <a:rPr b="0" i="0" lang="en-US" sz="2050" u="none" cap="none" strike="noStrike">
                <a:solidFill>
                  <a:srgbClr val="FFFFFF"/>
                </a:solidFill>
                <a:latin typeface="Unbounded"/>
                <a:ea typeface="Unbounded"/>
                <a:cs typeface="Unbounded"/>
                <a:sym typeface="Unbounded"/>
              </a:rPr>
              <a:t>Why Dual FSM?</a:t>
            </a:r>
            <a:endParaRPr b="0" i="0" sz="2050" u="none" cap="none" strike="noStrike">
              <a:solidFill>
                <a:schemeClr val="dk1"/>
              </a:solidFill>
              <a:latin typeface="Calibri"/>
              <a:ea typeface="Calibri"/>
              <a:cs typeface="Calibri"/>
              <a:sym typeface="Calibri"/>
            </a:endParaRPr>
          </a:p>
        </p:txBody>
      </p:sp>
      <p:sp>
        <p:nvSpPr>
          <p:cNvPr id="344" name="Google Shape;344;p29"/>
          <p:cNvSpPr/>
          <p:nvPr/>
        </p:nvSpPr>
        <p:spPr>
          <a:xfrm>
            <a:off x="698086" y="5011936"/>
            <a:ext cx="69749" cy="69751"/>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9"/>
          <p:cNvSpPr/>
          <p:nvPr/>
        </p:nvSpPr>
        <p:spPr>
          <a:xfrm>
            <a:off x="865563" y="4907161"/>
            <a:ext cx="5169168" cy="474663"/>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350"/>
              <a:buFont typeface="Cabin"/>
              <a:buNone/>
            </a:pPr>
            <a:r>
              <a:rPr b="1" i="0" lang="en-US" sz="1350" u="none" cap="none" strike="noStrike">
                <a:solidFill>
                  <a:srgbClr val="CAD6DE"/>
                </a:solidFill>
                <a:latin typeface="Cabin"/>
                <a:ea typeface="Cabin"/>
                <a:cs typeface="Cabin"/>
                <a:sym typeface="Cabin"/>
              </a:rPr>
              <a:t>Separation of Concerns:</a:t>
            </a:r>
            <a:r>
              <a:rPr b="0" i="0" lang="en-US" sz="1350" u="none" cap="none" strike="noStrike">
                <a:solidFill>
                  <a:srgbClr val="CAD6DE"/>
                </a:solidFill>
                <a:latin typeface="Cabin"/>
                <a:ea typeface="Cabin"/>
                <a:cs typeface="Cabin"/>
                <a:sym typeface="Cabin"/>
              </a:rPr>
              <a:t> Health monitoring is independent from role assignment</a:t>
            </a:r>
            <a:endParaRPr b="0" i="0" sz="1350" u="none" cap="none" strike="noStrike">
              <a:solidFill>
                <a:schemeClr val="dk1"/>
              </a:solidFill>
              <a:latin typeface="Calibri"/>
              <a:ea typeface="Calibri"/>
              <a:cs typeface="Calibri"/>
              <a:sym typeface="Calibri"/>
            </a:endParaRPr>
          </a:p>
        </p:txBody>
      </p:sp>
      <p:sp>
        <p:nvSpPr>
          <p:cNvPr id="346" name="Google Shape;346;p29"/>
          <p:cNvSpPr/>
          <p:nvPr/>
        </p:nvSpPr>
        <p:spPr>
          <a:xfrm>
            <a:off x="6156866" y="5011936"/>
            <a:ext cx="69749" cy="69751"/>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9"/>
          <p:cNvSpPr/>
          <p:nvPr/>
        </p:nvSpPr>
        <p:spPr>
          <a:xfrm>
            <a:off x="6324343" y="4907161"/>
            <a:ext cx="5169267" cy="474663"/>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350"/>
              <a:buFont typeface="Cabin"/>
              <a:buNone/>
            </a:pPr>
            <a:r>
              <a:rPr b="1" i="0" lang="en-US" sz="1350" u="none" cap="none" strike="noStrike">
                <a:solidFill>
                  <a:srgbClr val="CAD6DE"/>
                </a:solidFill>
                <a:latin typeface="Cabin"/>
                <a:ea typeface="Cabin"/>
                <a:cs typeface="Cabin"/>
                <a:sym typeface="Cabin"/>
              </a:rPr>
              <a:t>Flexibility:</a:t>
            </a:r>
            <a:r>
              <a:rPr b="0" i="0" lang="en-US" sz="1350" u="none" cap="none" strike="noStrike">
                <a:solidFill>
                  <a:srgbClr val="CAD6DE"/>
                </a:solidFill>
                <a:latin typeface="Cabin"/>
                <a:ea typeface="Cabin"/>
                <a:cs typeface="Cabin"/>
                <a:sym typeface="Cabin"/>
              </a:rPr>
              <a:t> A drone can change roles without affecting its health state and vice versa</a:t>
            </a:r>
            <a:endParaRPr b="0" i="0" sz="1350" u="none" cap="none" strike="noStrike">
              <a:solidFill>
                <a:schemeClr val="dk1"/>
              </a:solidFill>
              <a:latin typeface="Calibri"/>
              <a:ea typeface="Calibri"/>
              <a:cs typeface="Calibri"/>
              <a:sym typeface="Calibri"/>
            </a:endParaRPr>
          </a:p>
        </p:txBody>
      </p:sp>
      <p:sp>
        <p:nvSpPr>
          <p:cNvPr id="348" name="Google Shape;348;p29"/>
          <p:cNvSpPr/>
          <p:nvPr/>
        </p:nvSpPr>
        <p:spPr>
          <a:xfrm>
            <a:off x="698086" y="5682059"/>
            <a:ext cx="69749" cy="69751"/>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9"/>
          <p:cNvSpPr/>
          <p:nvPr/>
        </p:nvSpPr>
        <p:spPr>
          <a:xfrm>
            <a:off x="865563" y="5577284"/>
            <a:ext cx="5169168" cy="474663"/>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350"/>
              <a:buFont typeface="Cabin"/>
              <a:buNone/>
            </a:pPr>
            <a:r>
              <a:rPr b="1" i="0" lang="en-US" sz="1350" u="none" cap="none" strike="noStrike">
                <a:solidFill>
                  <a:srgbClr val="CAD6DE"/>
                </a:solidFill>
                <a:latin typeface="Cabin"/>
                <a:ea typeface="Cabin"/>
                <a:cs typeface="Cabin"/>
                <a:sym typeface="Cabin"/>
              </a:rPr>
              <a:t>Clarity: </a:t>
            </a:r>
            <a:r>
              <a:rPr b="0" i="0" lang="en-US" sz="1350" u="none" cap="none" strike="noStrike">
                <a:solidFill>
                  <a:srgbClr val="CAD6DE"/>
                </a:solidFill>
                <a:latin typeface="Cabin"/>
                <a:ea typeface="Cabin"/>
                <a:cs typeface="Cabin"/>
                <a:sym typeface="Cabin"/>
              </a:rPr>
              <a:t>Each FSM has a single responsibility, making the system easier to understand and maintain</a:t>
            </a:r>
            <a:endParaRPr b="0" i="0" sz="1350" u="none" cap="none" strike="noStrike">
              <a:solidFill>
                <a:schemeClr val="dk1"/>
              </a:solidFill>
              <a:latin typeface="Calibri"/>
              <a:ea typeface="Calibri"/>
              <a:cs typeface="Calibri"/>
              <a:sym typeface="Calibri"/>
            </a:endParaRPr>
          </a:p>
        </p:txBody>
      </p:sp>
      <p:sp>
        <p:nvSpPr>
          <p:cNvPr id="350" name="Google Shape;350;p29"/>
          <p:cNvSpPr/>
          <p:nvPr/>
        </p:nvSpPr>
        <p:spPr>
          <a:xfrm>
            <a:off x="6156866" y="5682059"/>
            <a:ext cx="69749" cy="69751"/>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9"/>
          <p:cNvSpPr/>
          <p:nvPr/>
        </p:nvSpPr>
        <p:spPr>
          <a:xfrm>
            <a:off x="6324343" y="5577284"/>
            <a:ext cx="5169267" cy="474663"/>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350"/>
              <a:buFont typeface="Cabin"/>
              <a:buNone/>
            </a:pPr>
            <a:r>
              <a:rPr b="1" i="0" lang="en-US" sz="1350" u="none" cap="none" strike="noStrike">
                <a:solidFill>
                  <a:srgbClr val="CAD6DE"/>
                </a:solidFill>
                <a:latin typeface="Cabin"/>
                <a:ea typeface="Cabin"/>
                <a:cs typeface="Cabin"/>
                <a:sym typeface="Cabin"/>
              </a:rPr>
              <a:t>Robustness: </a:t>
            </a:r>
            <a:r>
              <a:rPr b="0" i="0" lang="en-US" sz="1350" u="none" cap="none" strike="noStrike">
                <a:solidFill>
                  <a:srgbClr val="CAD6DE"/>
                </a:solidFill>
                <a:latin typeface="Cabin"/>
                <a:ea typeface="Cabin"/>
                <a:cs typeface="Cabin"/>
                <a:sym typeface="Cabin"/>
              </a:rPr>
              <a:t>Failures in one dimension don't necessarily cascade to the other</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0"/>
          <p:cNvSpPr/>
          <p:nvPr/>
        </p:nvSpPr>
        <p:spPr>
          <a:xfrm>
            <a:off x="698086" y="658614"/>
            <a:ext cx="10795524" cy="4400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750"/>
              <a:buFont typeface="Unbounded"/>
              <a:buNone/>
            </a:pPr>
            <a:r>
              <a:rPr b="0" i="0" lang="en-US" sz="2750" u="none" cap="none" strike="noStrike">
                <a:solidFill>
                  <a:srgbClr val="FFFFFF"/>
                </a:solidFill>
                <a:latin typeface="Unbounded"/>
                <a:ea typeface="Unbounded"/>
                <a:cs typeface="Unbounded"/>
                <a:sym typeface="Unbounded"/>
              </a:rPr>
              <a:t>FSM 1 &amp; FSM 2 State Diagrams</a:t>
            </a:r>
            <a:endParaRPr b="0" i="0" sz="2750" u="none" cap="none" strike="noStrike">
              <a:solidFill>
                <a:schemeClr val="dk1"/>
              </a:solidFill>
              <a:latin typeface="Calibri"/>
              <a:ea typeface="Calibri"/>
              <a:cs typeface="Calibri"/>
              <a:sym typeface="Calibri"/>
            </a:endParaRPr>
          </a:p>
        </p:txBody>
      </p:sp>
      <p:sp>
        <p:nvSpPr>
          <p:cNvPr id="358" name="Google Shape;358;p30"/>
          <p:cNvSpPr/>
          <p:nvPr/>
        </p:nvSpPr>
        <p:spPr>
          <a:xfrm>
            <a:off x="698086" y="1379041"/>
            <a:ext cx="4880448"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50"/>
              <a:buFont typeface="Unbounded"/>
              <a:buNone/>
            </a:pPr>
            <a:r>
              <a:rPr b="0" i="0" lang="en-US" sz="1350" u="none" cap="none" strike="noStrike">
                <a:solidFill>
                  <a:srgbClr val="FFFFFF"/>
                </a:solidFill>
                <a:latin typeface="Unbounded"/>
                <a:ea typeface="Unbounded"/>
                <a:cs typeface="Unbounded"/>
                <a:sym typeface="Unbounded"/>
              </a:rPr>
              <a:t>FSM 1: Health State</a:t>
            </a:r>
            <a:endParaRPr b="0" i="0" sz="1350" u="none" cap="none" strike="noStrike">
              <a:solidFill>
                <a:schemeClr val="dk1"/>
              </a:solidFill>
              <a:latin typeface="Calibri"/>
              <a:ea typeface="Calibri"/>
              <a:cs typeface="Calibri"/>
              <a:sym typeface="Calibri"/>
            </a:endParaRPr>
          </a:p>
        </p:txBody>
      </p:sp>
      <p:sp>
        <p:nvSpPr>
          <p:cNvPr id="359" name="Google Shape;359;p30"/>
          <p:cNvSpPr/>
          <p:nvPr/>
        </p:nvSpPr>
        <p:spPr>
          <a:xfrm>
            <a:off x="698086" y="1711127"/>
            <a:ext cx="5490033" cy="209451"/>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Drone operational status and connectivity</a:t>
            </a:r>
            <a:endParaRPr b="0" i="0" sz="1150" u="none" cap="none" strike="noStrike">
              <a:solidFill>
                <a:schemeClr val="dk1"/>
              </a:solidFill>
              <a:latin typeface="Calibri"/>
              <a:ea typeface="Calibri"/>
              <a:cs typeface="Calibri"/>
              <a:sym typeface="Calibri"/>
            </a:endParaRPr>
          </a:p>
        </p:txBody>
      </p:sp>
      <p:sp>
        <p:nvSpPr>
          <p:cNvPr id="360" name="Google Shape;360;p30"/>
          <p:cNvSpPr/>
          <p:nvPr/>
        </p:nvSpPr>
        <p:spPr>
          <a:xfrm>
            <a:off x="5949801" y="1379041"/>
            <a:ext cx="5550059"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50"/>
              <a:buFont typeface="Unbounded"/>
              <a:buNone/>
            </a:pPr>
            <a:r>
              <a:rPr b="0" i="0" lang="en-US" sz="1350" u="none" cap="none" strike="noStrike">
                <a:solidFill>
                  <a:srgbClr val="FFFFFF"/>
                </a:solidFill>
                <a:latin typeface="Unbounded"/>
                <a:ea typeface="Unbounded"/>
                <a:cs typeface="Unbounded"/>
                <a:sym typeface="Unbounded"/>
              </a:rPr>
              <a:t>FSM 2: Swarm Role</a:t>
            </a:r>
            <a:endParaRPr b="0" i="0" sz="1350" u="none" cap="none" strike="noStrike">
              <a:solidFill>
                <a:schemeClr val="dk1"/>
              </a:solidFill>
              <a:latin typeface="Calibri"/>
              <a:ea typeface="Calibri"/>
              <a:cs typeface="Calibri"/>
              <a:sym typeface="Calibri"/>
            </a:endParaRPr>
          </a:p>
        </p:txBody>
      </p:sp>
      <p:sp>
        <p:nvSpPr>
          <p:cNvPr id="361" name="Google Shape;361;p30"/>
          <p:cNvSpPr/>
          <p:nvPr/>
        </p:nvSpPr>
        <p:spPr>
          <a:xfrm>
            <a:off x="5949801" y="1711127"/>
            <a:ext cx="5550059" cy="418902"/>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Drone role within the swarm</a:t>
            </a:r>
            <a:endParaRPr b="0" i="0" sz="1150" u="none" cap="none" strike="noStrike">
              <a:solidFill>
                <a:schemeClr val="dk1"/>
              </a:solidFill>
              <a:latin typeface="Calibri"/>
              <a:ea typeface="Calibri"/>
              <a:cs typeface="Calibri"/>
              <a:sym typeface="Calibri"/>
            </a:endParaRPr>
          </a:p>
        </p:txBody>
      </p:sp>
      <p:pic>
        <p:nvPicPr>
          <p:cNvPr id="362" name="Google Shape;362;p30"/>
          <p:cNvPicPr preferRelativeResize="0"/>
          <p:nvPr/>
        </p:nvPicPr>
        <p:blipFill>
          <a:blip r:embed="rId3">
            <a:alphaModFix/>
          </a:blip>
          <a:stretch>
            <a:fillRect/>
          </a:stretch>
        </p:blipFill>
        <p:spPr>
          <a:xfrm>
            <a:off x="698075" y="2256225"/>
            <a:ext cx="4840851" cy="2767200"/>
          </a:xfrm>
          <a:prstGeom prst="rect">
            <a:avLst/>
          </a:prstGeom>
          <a:noFill/>
          <a:ln>
            <a:noFill/>
          </a:ln>
        </p:spPr>
      </p:pic>
      <p:pic>
        <p:nvPicPr>
          <p:cNvPr id="363" name="Google Shape;363;p30"/>
          <p:cNvPicPr preferRelativeResize="0"/>
          <p:nvPr/>
        </p:nvPicPr>
        <p:blipFill>
          <a:blip r:embed="rId4">
            <a:alphaModFix/>
          </a:blip>
          <a:stretch>
            <a:fillRect/>
          </a:stretch>
        </p:blipFill>
        <p:spPr>
          <a:xfrm>
            <a:off x="5949801" y="2203729"/>
            <a:ext cx="5963140" cy="442317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1"/>
          <p:cNvSpPr/>
          <p:nvPr/>
        </p:nvSpPr>
        <p:spPr>
          <a:xfrm>
            <a:off x="698086" y="786904"/>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Complete Dual-FSM Composition</a:t>
            </a:r>
            <a:endParaRPr b="0" i="0" sz="3650" u="none" cap="none" strike="noStrike">
              <a:solidFill>
                <a:schemeClr val="dk1"/>
              </a:solidFill>
              <a:latin typeface="Calibri"/>
              <a:ea typeface="Calibri"/>
              <a:cs typeface="Calibri"/>
              <a:sym typeface="Calibri"/>
            </a:endParaRPr>
          </a:p>
        </p:txBody>
      </p:sp>
      <p:sp>
        <p:nvSpPr>
          <p:cNvPr id="370" name="Google Shape;370;p31"/>
          <p:cNvSpPr/>
          <p:nvPr/>
        </p:nvSpPr>
        <p:spPr>
          <a:xfrm>
            <a:off x="698086" y="1772543"/>
            <a:ext cx="10795524"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The overall state of each drone agent is determined by combining both state machines into a unified dual-state tuple</a:t>
            </a:r>
            <a:r>
              <a:rPr b="1" i="0" lang="en-US" sz="1550" u="none" cap="none" strike="noStrike">
                <a:solidFill>
                  <a:srgbClr val="CAD6DE"/>
                </a:solidFill>
                <a:latin typeface="Cabin"/>
                <a:ea typeface="Cabin"/>
                <a:cs typeface="Cabin"/>
                <a:sym typeface="Cabin"/>
              </a:rPr>
              <a:t> (S1, S2),</a:t>
            </a:r>
            <a:r>
              <a:rPr b="0" i="0" lang="en-US" sz="1550" u="none" cap="none" strike="noStrike">
                <a:solidFill>
                  <a:srgbClr val="CAD6DE"/>
                </a:solidFill>
                <a:latin typeface="Cabin"/>
                <a:ea typeface="Cabin"/>
                <a:cs typeface="Cabin"/>
                <a:sym typeface="Cabin"/>
              </a:rPr>
              <a:t> where:</a:t>
            </a:r>
            <a:endParaRPr b="0" i="0" sz="1550" u="none" cap="none" strike="noStrike">
              <a:solidFill>
                <a:schemeClr val="dk1"/>
              </a:solidFill>
              <a:latin typeface="Calibri"/>
              <a:ea typeface="Calibri"/>
              <a:cs typeface="Calibri"/>
              <a:sym typeface="Calibri"/>
            </a:endParaRPr>
          </a:p>
        </p:txBody>
      </p:sp>
      <p:sp>
        <p:nvSpPr>
          <p:cNvPr id="371" name="Google Shape;371;p31"/>
          <p:cNvSpPr/>
          <p:nvPr/>
        </p:nvSpPr>
        <p:spPr>
          <a:xfrm>
            <a:off x="698086" y="2635250"/>
            <a:ext cx="10795524" cy="708124"/>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CAD6DE"/>
              </a:buClr>
              <a:buSzPts val="1550"/>
              <a:buFont typeface="Cabin"/>
              <a:buChar char="•"/>
            </a:pPr>
            <a:r>
              <a:rPr b="1" i="0" lang="en-US" sz="1550" u="none" cap="none" strike="noStrike">
                <a:solidFill>
                  <a:srgbClr val="CAD6DE"/>
                </a:solidFill>
                <a:latin typeface="Cabin"/>
                <a:ea typeface="Cabin"/>
                <a:cs typeface="Cabin"/>
                <a:sym typeface="Cabin"/>
              </a:rPr>
              <a:t>S1 = Health State (</a:t>
            </a:r>
            <a:r>
              <a:rPr b="0" i="0" lang="en-US" sz="1550" u="none" cap="none" strike="noStrike">
                <a:solidFill>
                  <a:srgbClr val="CAD6DE"/>
                </a:solidFill>
                <a:latin typeface="Cabin"/>
                <a:ea typeface="Cabin"/>
                <a:cs typeface="Cabin"/>
                <a:sym typeface="Cabin"/>
              </a:rPr>
              <a:t>Unregistered, Active, Suspected, Failed)</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1" i="0" lang="en-US" sz="1550" u="none" cap="none" strike="noStrike">
                <a:solidFill>
                  <a:srgbClr val="CAD6DE"/>
                </a:solidFill>
                <a:latin typeface="Cabin"/>
                <a:ea typeface="Cabin"/>
                <a:cs typeface="Cabin"/>
                <a:sym typeface="Cabin"/>
              </a:rPr>
              <a:t>S2 = Swarm Role </a:t>
            </a:r>
            <a:r>
              <a:rPr b="0" i="0" lang="en-US" sz="1550" u="none" cap="none" strike="noStrike">
                <a:solidFill>
                  <a:srgbClr val="CAD6DE"/>
                </a:solidFill>
                <a:latin typeface="Cabin"/>
                <a:ea typeface="Cabin"/>
                <a:cs typeface="Cabin"/>
                <a:sym typeface="Cabin"/>
              </a:rPr>
              <a:t>(None, Candidate, Follower, Leader)</a:t>
            </a:r>
            <a:endParaRPr b="0" i="0" sz="1550" u="none" cap="none" strike="noStrike">
              <a:solidFill>
                <a:schemeClr val="dk1"/>
              </a:solidFill>
              <a:latin typeface="Calibri"/>
              <a:ea typeface="Calibri"/>
              <a:cs typeface="Calibri"/>
              <a:sym typeface="Calibri"/>
            </a:endParaRPr>
          </a:p>
        </p:txBody>
      </p:sp>
      <p:sp>
        <p:nvSpPr>
          <p:cNvPr id="372" name="Google Shape;372;p31"/>
          <p:cNvSpPr/>
          <p:nvPr/>
        </p:nvSpPr>
        <p:spPr>
          <a:xfrm>
            <a:off x="698086" y="3567708"/>
            <a:ext cx="10795524"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Not all combinations of (S1, S2) are valid. The complete state transition model defines which state pairs are reachable and what events trigger transitions between them. For example:</a:t>
            </a:r>
            <a:endParaRPr b="0" i="0" sz="1550" u="none" cap="none" strike="noStrike">
              <a:solidFill>
                <a:schemeClr val="dk1"/>
              </a:solidFill>
              <a:latin typeface="Calibri"/>
              <a:ea typeface="Calibri"/>
              <a:cs typeface="Calibri"/>
              <a:sym typeface="Calibri"/>
            </a:endParaRPr>
          </a:p>
        </p:txBody>
      </p:sp>
      <p:sp>
        <p:nvSpPr>
          <p:cNvPr id="373" name="Google Shape;373;p31"/>
          <p:cNvSpPr/>
          <p:nvPr/>
        </p:nvSpPr>
        <p:spPr>
          <a:xfrm>
            <a:off x="698086" y="4430415"/>
            <a:ext cx="10795524" cy="1097062"/>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CAD6DE"/>
              </a:buClr>
              <a:buSzPts val="1550"/>
              <a:buFont typeface="Cabin"/>
              <a:buChar char="•"/>
            </a:pPr>
            <a:r>
              <a:rPr b="1" i="0" lang="en-US" sz="1550" u="none" cap="none" strike="noStrike">
                <a:solidFill>
                  <a:srgbClr val="CAD6DE"/>
                </a:solidFill>
                <a:latin typeface="Cabin"/>
                <a:ea typeface="Cabin"/>
                <a:cs typeface="Cabin"/>
                <a:sym typeface="Cabin"/>
              </a:rPr>
              <a:t>A Failed drone (S1=Failed) must have S2=None (no role)</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1" i="0" lang="en-US" sz="1550" u="none" cap="none" strike="noStrike">
                <a:solidFill>
                  <a:srgbClr val="CAD6DE"/>
                </a:solidFill>
                <a:latin typeface="Cabin"/>
                <a:ea typeface="Cabin"/>
                <a:cs typeface="Cabin"/>
                <a:sym typeface="Cabin"/>
              </a:rPr>
              <a:t>Only Active drones (S1=Active) can be Leaders, Followers, or Candidates</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1" i="0" lang="en-US" sz="1550" u="none" cap="none" strike="noStrike">
                <a:solidFill>
                  <a:srgbClr val="CAD6DE"/>
                </a:solidFill>
                <a:latin typeface="Cabin"/>
                <a:ea typeface="Cabin"/>
                <a:cs typeface="Cabin"/>
                <a:sym typeface="Cabin"/>
              </a:rPr>
              <a:t>Unregistered drones (S1=Unregistered) must have S2=None until they transition to Active</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p:nvPr/>
        </p:nvSpPr>
        <p:spPr>
          <a:xfrm>
            <a:off x="621236" y="306554"/>
            <a:ext cx="11405100" cy="2619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The complete state transition diagram below illustrates all valid state pairs and the transition events that move the system between them:</a:t>
            </a:r>
            <a:endParaRPr b="0" i="0" sz="1450" u="none" cap="none" strike="noStrike">
              <a:solidFill>
                <a:schemeClr val="dk1"/>
              </a:solidFill>
              <a:latin typeface="Calibri"/>
              <a:ea typeface="Calibri"/>
              <a:cs typeface="Calibri"/>
              <a:sym typeface="Calibri"/>
            </a:endParaRPr>
          </a:p>
        </p:txBody>
      </p:sp>
      <p:sp>
        <p:nvSpPr>
          <p:cNvPr id="380" name="Google Shape;380;p32"/>
          <p:cNvSpPr/>
          <p:nvPr/>
        </p:nvSpPr>
        <p:spPr>
          <a:xfrm>
            <a:off x="698086" y="5994076"/>
            <a:ext cx="10795500" cy="523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This unified model ensures that the swarm maintains consistency: health monitoring and role management are coordinated, preventing invalid states and ensuring robust fault tolerance.</a:t>
            </a:r>
            <a:endParaRPr b="0" i="0" sz="1450" u="none" cap="none" strike="noStrike">
              <a:solidFill>
                <a:schemeClr val="dk1"/>
              </a:solidFill>
              <a:latin typeface="Calibri"/>
              <a:ea typeface="Calibri"/>
              <a:cs typeface="Calibri"/>
              <a:sym typeface="Calibri"/>
            </a:endParaRPr>
          </a:p>
        </p:txBody>
      </p:sp>
      <p:pic>
        <p:nvPicPr>
          <p:cNvPr id="381" name="Google Shape;381;p32"/>
          <p:cNvPicPr preferRelativeResize="0"/>
          <p:nvPr/>
        </p:nvPicPr>
        <p:blipFill>
          <a:blip r:embed="rId3">
            <a:alphaModFix/>
          </a:blip>
          <a:stretch>
            <a:fillRect/>
          </a:stretch>
        </p:blipFill>
        <p:spPr>
          <a:xfrm>
            <a:off x="1270700" y="768400"/>
            <a:ext cx="9466902" cy="506211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descr="preencoded.png" id="387" name="Google Shape;387;p33"/>
          <p:cNvPicPr preferRelativeResize="0"/>
          <p:nvPr/>
        </p:nvPicPr>
        <p:blipFill rotWithShape="1">
          <a:blip r:embed="rId3">
            <a:alphaModFix/>
          </a:blip>
          <a:srcRect b="0" l="0" r="0" t="0"/>
          <a:stretch/>
        </p:blipFill>
        <p:spPr>
          <a:xfrm>
            <a:off x="0" y="0"/>
            <a:ext cx="6095848" cy="6858000"/>
          </a:xfrm>
          <a:prstGeom prst="rect">
            <a:avLst/>
          </a:prstGeom>
          <a:noFill/>
          <a:ln>
            <a:noFill/>
          </a:ln>
        </p:spPr>
      </p:pic>
      <p:sp>
        <p:nvSpPr>
          <p:cNvPr id="388" name="Google Shape;388;p33"/>
          <p:cNvSpPr/>
          <p:nvPr/>
        </p:nvSpPr>
        <p:spPr>
          <a:xfrm>
            <a:off x="6793933" y="2080220"/>
            <a:ext cx="4699676" cy="176004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Formal model verification with Kani</a:t>
            </a:r>
            <a:endParaRPr b="0" i="0" sz="3650" u="none" cap="none" strike="noStrike">
              <a:solidFill>
                <a:schemeClr val="dk1"/>
              </a:solidFill>
              <a:latin typeface="Calibri"/>
              <a:ea typeface="Calibri"/>
              <a:cs typeface="Calibri"/>
              <a:sym typeface="Calibri"/>
            </a:endParaRPr>
          </a:p>
        </p:txBody>
      </p:sp>
      <p:sp>
        <p:nvSpPr>
          <p:cNvPr id="389" name="Google Shape;389;p33"/>
          <p:cNvSpPr/>
          <p:nvPr/>
        </p:nvSpPr>
        <p:spPr>
          <a:xfrm>
            <a:off x="6793933" y="4139406"/>
            <a:ext cx="4699676"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A988B"/>
              </a:buClr>
              <a:buSzPts val="1550"/>
              <a:buFont typeface="Cabin"/>
              <a:buNone/>
            </a:pPr>
            <a:r>
              <a:rPr b="0" i="0" lang="en-US" sz="1550" u="none" cap="none" strike="noStrike">
                <a:solidFill>
                  <a:srgbClr val="0A988B"/>
                </a:solidFill>
                <a:latin typeface="Cabin"/>
                <a:ea typeface="Cabin"/>
                <a:cs typeface="Cabin"/>
                <a:sym typeface="Cabin"/>
              </a:rPr>
              <a:t>Verifying FSM properties </a:t>
            </a:r>
            <a:r>
              <a:rPr b="0" i="0" lang="en-US" sz="1550" u="none" cap="none" strike="noStrike">
                <a:solidFill>
                  <a:srgbClr val="CAD6DE"/>
                </a:solidFill>
                <a:latin typeface="Cabin"/>
                <a:ea typeface="Cabin"/>
                <a:cs typeface="Cabin"/>
                <a:sym typeface="Cabin"/>
              </a:rPr>
              <a:t>— Kani used to verify FSM correctness</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4"/>
          <p:cNvSpPr/>
          <p:nvPr/>
        </p:nvSpPr>
        <p:spPr>
          <a:xfrm>
            <a:off x="698086" y="653455"/>
            <a:ext cx="10795524" cy="52804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300"/>
              <a:buFont typeface="Unbounded"/>
              <a:buNone/>
            </a:pPr>
            <a:r>
              <a:rPr b="0" i="0" lang="en-US" sz="3300" u="none" cap="none" strike="noStrike">
                <a:solidFill>
                  <a:srgbClr val="FFFFFF"/>
                </a:solidFill>
                <a:latin typeface="Unbounded"/>
                <a:ea typeface="Unbounded"/>
                <a:cs typeface="Unbounded"/>
                <a:sym typeface="Unbounded"/>
              </a:rPr>
              <a:t>What is Kani?</a:t>
            </a:r>
            <a:endParaRPr b="0" i="0" sz="3300" u="none" cap="none" strike="noStrike">
              <a:solidFill>
                <a:schemeClr val="dk1"/>
              </a:solidFill>
              <a:latin typeface="Calibri"/>
              <a:ea typeface="Calibri"/>
              <a:cs typeface="Calibri"/>
              <a:sym typeface="Calibri"/>
            </a:endParaRPr>
          </a:p>
        </p:txBody>
      </p:sp>
      <p:sp>
        <p:nvSpPr>
          <p:cNvPr id="396" name="Google Shape;396;p34"/>
          <p:cNvSpPr/>
          <p:nvPr/>
        </p:nvSpPr>
        <p:spPr>
          <a:xfrm>
            <a:off x="698086" y="1504652"/>
            <a:ext cx="10795524" cy="1545530"/>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Kani is an open-source bit-precise model checker developed primarily for the Rust programming language. It uses symbol-based formal verification techniques to exhaustively analyze code, going far beyond traditional unit tests or compiler checks.</a:t>
            </a:r>
            <a:endParaRPr b="0" i="0" sz="1400" u="none" cap="none" strike="noStrike">
              <a:solidFill>
                <a:schemeClr val="dk1"/>
              </a:solidFill>
              <a:latin typeface="Calibri"/>
              <a:ea typeface="Calibri"/>
              <a:cs typeface="Calibri"/>
              <a:sym typeface="Calibri"/>
            </a:endParaRPr>
          </a:p>
          <a:p>
            <a:pPr indent="0" lvl="0" marL="0" marR="0" rtl="0" algn="l">
              <a:lnSpc>
                <a:spcPct val="127000"/>
              </a:lnSpc>
              <a:spcBef>
                <a:spcPts val="140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Kani serves to mathematically prove that a piece of Rust code satisfies specific safety and correctness properties for any possible input (exhaustive verification), rather than just testing a few sample cases. It analyzes code by leveraging logical solvers (SAT/SMT engines via CBMC) to spot logical bugs or undefined behaviors.</a:t>
            </a:r>
            <a:endParaRPr b="0" i="0" sz="1400" u="none" cap="none" strike="noStrike">
              <a:solidFill>
                <a:schemeClr val="dk1"/>
              </a:solidFill>
              <a:latin typeface="Calibri"/>
              <a:ea typeface="Calibri"/>
              <a:cs typeface="Calibri"/>
              <a:sym typeface="Calibri"/>
            </a:endParaRPr>
          </a:p>
        </p:txBody>
      </p:sp>
      <p:sp>
        <p:nvSpPr>
          <p:cNvPr id="397" name="Google Shape;397;p34"/>
          <p:cNvSpPr/>
          <p:nvPr/>
        </p:nvSpPr>
        <p:spPr>
          <a:xfrm>
            <a:off x="698086" y="3292475"/>
            <a:ext cx="10795524" cy="4223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Unbounded"/>
              <a:buNone/>
            </a:pPr>
            <a:r>
              <a:rPr b="0" i="0" lang="en-US" sz="2650" u="none" cap="none" strike="noStrike">
                <a:solidFill>
                  <a:srgbClr val="FFFFFF"/>
                </a:solidFill>
                <a:latin typeface="Unbounded"/>
                <a:ea typeface="Unbounded"/>
                <a:cs typeface="Unbounded"/>
                <a:sym typeface="Unbounded"/>
              </a:rPr>
              <a:t>Main applications:</a:t>
            </a:r>
            <a:endParaRPr b="0" i="0" sz="2650" u="none" cap="none" strike="noStrike">
              <a:solidFill>
                <a:schemeClr val="dk1"/>
              </a:solidFill>
              <a:latin typeface="Calibri"/>
              <a:ea typeface="Calibri"/>
              <a:cs typeface="Calibri"/>
              <a:sym typeface="Calibri"/>
            </a:endParaRPr>
          </a:p>
        </p:txBody>
      </p:sp>
      <p:sp>
        <p:nvSpPr>
          <p:cNvPr id="398" name="Google Shape;398;p34"/>
          <p:cNvSpPr/>
          <p:nvPr/>
        </p:nvSpPr>
        <p:spPr>
          <a:xfrm>
            <a:off x="698086" y="3957141"/>
            <a:ext cx="5317000" cy="2247404"/>
          </a:xfrm>
          <a:prstGeom prst="roundRect">
            <a:avLst>
              <a:gd fmla="val 1198" name="adj"/>
            </a:avLst>
          </a:prstGeom>
          <a:solidFill>
            <a:srgbClr val="112836"/>
          </a:solidFill>
          <a:ln cap="flat" cmpd="sng" w="25375">
            <a:solidFill>
              <a:srgbClr val="4960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4"/>
          <p:cNvSpPr/>
          <p:nvPr/>
        </p:nvSpPr>
        <p:spPr>
          <a:xfrm>
            <a:off x="902967" y="4162028"/>
            <a:ext cx="4907237" cy="26402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650"/>
              <a:buFont typeface="Unbounded"/>
              <a:buNone/>
            </a:pPr>
            <a:r>
              <a:rPr b="0" i="0" lang="en-US" sz="1650" u="none" cap="none" strike="noStrike">
                <a:solidFill>
                  <a:srgbClr val="CAD6DE"/>
                </a:solidFill>
                <a:latin typeface="Unbounded"/>
                <a:ea typeface="Unbounded"/>
                <a:cs typeface="Unbounded"/>
                <a:sym typeface="Unbounded"/>
              </a:rPr>
              <a:t>Verification of unsafe blocks</a:t>
            </a:r>
            <a:endParaRPr b="0" i="0" sz="1650" u="none" cap="none" strike="noStrike">
              <a:solidFill>
                <a:schemeClr val="dk1"/>
              </a:solidFill>
              <a:latin typeface="Calibri"/>
              <a:ea typeface="Calibri"/>
              <a:cs typeface="Calibri"/>
              <a:sym typeface="Calibri"/>
            </a:endParaRPr>
          </a:p>
        </p:txBody>
      </p:sp>
      <p:sp>
        <p:nvSpPr>
          <p:cNvPr id="400" name="Google Shape;400;p34"/>
          <p:cNvSpPr/>
          <p:nvPr/>
        </p:nvSpPr>
        <p:spPr>
          <a:xfrm>
            <a:off x="902967" y="4522986"/>
            <a:ext cx="4907237" cy="1476673"/>
          </a:xfrm>
          <a:prstGeom prst="rect">
            <a:avLst/>
          </a:prstGeom>
          <a:noFill/>
          <a:ln>
            <a:noFill/>
          </a:ln>
        </p:spPr>
        <p:txBody>
          <a:bodyPr anchorCtr="0" anchor="t" bIns="0" lIns="0" spcFirstLastPara="1" rIns="0" wrap="square" tIns="71800">
            <a:noAutofit/>
          </a:bodyPr>
          <a:lstStyle/>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Although Rust natively guarantees memory safety, the use of unsafe blocks bypasses compiler checks</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Kani is ideal for analyzing these critical sections and ruling out memory bugs</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Essential for systems where memory safety is critical</a:t>
            </a:r>
            <a:endParaRPr b="0" i="0" sz="1400" u="none" cap="none" strike="noStrike">
              <a:solidFill>
                <a:schemeClr val="dk1"/>
              </a:solidFill>
              <a:latin typeface="Calibri"/>
              <a:ea typeface="Calibri"/>
              <a:cs typeface="Calibri"/>
              <a:sym typeface="Calibri"/>
            </a:endParaRPr>
          </a:p>
        </p:txBody>
      </p:sp>
      <p:sp>
        <p:nvSpPr>
          <p:cNvPr id="401" name="Google Shape;401;p34"/>
          <p:cNvSpPr/>
          <p:nvPr/>
        </p:nvSpPr>
        <p:spPr>
          <a:xfrm>
            <a:off x="6176610" y="3957141"/>
            <a:ext cx="5317000" cy="2247404"/>
          </a:xfrm>
          <a:prstGeom prst="roundRect">
            <a:avLst>
              <a:gd fmla="val 1198" name="adj"/>
            </a:avLst>
          </a:prstGeom>
          <a:solidFill>
            <a:srgbClr val="112836"/>
          </a:solidFill>
          <a:ln cap="flat" cmpd="sng" w="25375">
            <a:solidFill>
              <a:srgbClr val="4960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4"/>
          <p:cNvSpPr/>
          <p:nvPr/>
        </p:nvSpPr>
        <p:spPr>
          <a:xfrm>
            <a:off x="6381491" y="4162028"/>
            <a:ext cx="4907237" cy="26402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650"/>
              <a:buFont typeface="Unbounded"/>
              <a:buNone/>
            </a:pPr>
            <a:r>
              <a:rPr b="0" i="0" lang="en-US" sz="1650" u="none" cap="none" strike="noStrike">
                <a:solidFill>
                  <a:srgbClr val="CAD6DE"/>
                </a:solidFill>
                <a:latin typeface="Unbounded"/>
                <a:ea typeface="Unbounded"/>
                <a:cs typeface="Unbounded"/>
                <a:sym typeface="Unbounded"/>
              </a:rPr>
              <a:t>Panic and overflow checking</a:t>
            </a:r>
            <a:endParaRPr b="0" i="0" sz="1650" u="none" cap="none" strike="noStrike">
              <a:solidFill>
                <a:schemeClr val="dk1"/>
              </a:solidFill>
              <a:latin typeface="Calibri"/>
              <a:ea typeface="Calibri"/>
              <a:cs typeface="Calibri"/>
              <a:sym typeface="Calibri"/>
            </a:endParaRPr>
          </a:p>
        </p:txBody>
      </p:sp>
      <p:sp>
        <p:nvSpPr>
          <p:cNvPr id="403" name="Google Shape;403;p34"/>
          <p:cNvSpPr/>
          <p:nvPr/>
        </p:nvSpPr>
        <p:spPr>
          <a:xfrm>
            <a:off x="6381491" y="4522986"/>
            <a:ext cx="4907237" cy="1476673"/>
          </a:xfrm>
          <a:prstGeom prst="rect">
            <a:avLst/>
          </a:prstGeom>
          <a:noFill/>
          <a:ln>
            <a:noFill/>
          </a:ln>
        </p:spPr>
        <p:txBody>
          <a:bodyPr anchorCtr="0" anchor="t" bIns="0" lIns="0" spcFirstLastPara="1" rIns="0" wrap="square" tIns="71800">
            <a:noAutofit/>
          </a:bodyPr>
          <a:lstStyle/>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Automatically detects whether an operation can cause a runtime panic</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Examples: calling unwrap() on None values, arithmetic overflows</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Prevents unexpected runtime failures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5"/>
          <p:cNvSpPr/>
          <p:nvPr/>
        </p:nvSpPr>
        <p:spPr>
          <a:xfrm>
            <a:off x="698086" y="726678"/>
            <a:ext cx="10795524" cy="55731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500"/>
              <a:buFont typeface="Unbounded"/>
              <a:buNone/>
            </a:pPr>
            <a:r>
              <a:rPr b="0" i="0" lang="en-US" sz="3500" u="none" cap="none" strike="noStrike">
                <a:solidFill>
                  <a:srgbClr val="FFFFFF"/>
                </a:solidFill>
                <a:latin typeface="Unbounded"/>
                <a:ea typeface="Unbounded"/>
                <a:cs typeface="Unbounded"/>
                <a:sym typeface="Unbounded"/>
              </a:rPr>
              <a:t>Why Kani is So Useful</a:t>
            </a:r>
            <a:endParaRPr b="0" i="0" sz="3500" u="none" cap="none" strike="noStrike">
              <a:solidFill>
                <a:schemeClr val="dk1"/>
              </a:solidFill>
              <a:latin typeface="Calibri"/>
              <a:ea typeface="Calibri"/>
              <a:cs typeface="Calibri"/>
              <a:sym typeface="Calibri"/>
            </a:endParaRPr>
          </a:p>
        </p:txBody>
      </p:sp>
      <p:pic>
        <p:nvPicPr>
          <p:cNvPr descr="preencoded.png" id="410" name="Google Shape;410;p35"/>
          <p:cNvPicPr preferRelativeResize="0"/>
          <p:nvPr/>
        </p:nvPicPr>
        <p:blipFill rotWithShape="1">
          <a:blip r:embed="rId3">
            <a:alphaModFix/>
          </a:blip>
          <a:srcRect b="0" l="0" r="0" t="0"/>
          <a:stretch/>
        </p:blipFill>
        <p:spPr>
          <a:xfrm>
            <a:off x="698086" y="1644055"/>
            <a:ext cx="3478522" cy="4487267"/>
          </a:xfrm>
          <a:prstGeom prst="rect">
            <a:avLst/>
          </a:prstGeom>
          <a:noFill/>
          <a:ln>
            <a:noFill/>
          </a:ln>
        </p:spPr>
      </p:pic>
      <p:pic>
        <p:nvPicPr>
          <p:cNvPr descr="preencoded.png" id="411" name="Google Shape;411;p35"/>
          <p:cNvPicPr preferRelativeResize="0"/>
          <p:nvPr/>
        </p:nvPicPr>
        <p:blipFill rotWithShape="1">
          <a:blip r:embed="rId4">
            <a:alphaModFix/>
          </a:blip>
          <a:srcRect b="0" l="0" r="0" t="0"/>
          <a:stretch/>
        </p:blipFill>
        <p:spPr>
          <a:xfrm>
            <a:off x="2323645" y="1814513"/>
            <a:ext cx="227404" cy="227409"/>
          </a:xfrm>
          <a:prstGeom prst="rect">
            <a:avLst/>
          </a:prstGeom>
          <a:noFill/>
          <a:ln>
            <a:noFill/>
          </a:ln>
        </p:spPr>
      </p:pic>
      <p:sp>
        <p:nvSpPr>
          <p:cNvPr id="412" name="Google Shape;412;p35"/>
          <p:cNvSpPr/>
          <p:nvPr/>
        </p:nvSpPr>
        <p:spPr>
          <a:xfrm>
            <a:off x="912988" y="2402086"/>
            <a:ext cx="3048717" cy="27860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Total coverage (100%)</a:t>
            </a:r>
            <a:endParaRPr b="0" i="0" sz="1750" u="none" cap="none" strike="noStrike">
              <a:solidFill>
                <a:schemeClr val="dk1"/>
              </a:solidFill>
              <a:latin typeface="Calibri"/>
              <a:ea typeface="Calibri"/>
              <a:cs typeface="Calibri"/>
              <a:sym typeface="Calibri"/>
            </a:endParaRPr>
          </a:p>
        </p:txBody>
      </p:sp>
      <p:sp>
        <p:nvSpPr>
          <p:cNvPr id="413" name="Google Shape;413;p35"/>
          <p:cNvSpPr/>
          <p:nvPr/>
        </p:nvSpPr>
        <p:spPr>
          <a:xfrm>
            <a:off x="912988" y="2788642"/>
            <a:ext cx="3048717" cy="2786162"/>
          </a:xfrm>
          <a:prstGeom prst="rect">
            <a:avLst/>
          </a:prstGeom>
          <a:noFill/>
          <a:ln>
            <a:noFill/>
          </a:ln>
        </p:spPr>
        <p:txBody>
          <a:bodyPr anchorCtr="0" anchor="t" bIns="0" lIns="0" spcFirstLastPara="1" rIns="0" wrap="square" tIns="75800">
            <a:noAutofit/>
          </a:bodyPr>
          <a:lstStyle/>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Unlike traditional tests that only check inputs written by the programmer, Kani explores all possible execution paths</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Provides a concrete counterexample if it finds a violation</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Guarantees exhaustive verification across all scenarios</a:t>
            </a:r>
            <a:endParaRPr b="0" i="0" sz="1450" u="none" cap="none" strike="noStrike">
              <a:solidFill>
                <a:schemeClr val="dk1"/>
              </a:solidFill>
              <a:latin typeface="Calibri"/>
              <a:ea typeface="Calibri"/>
              <a:cs typeface="Calibri"/>
              <a:sym typeface="Calibri"/>
            </a:endParaRPr>
          </a:p>
        </p:txBody>
      </p:sp>
      <p:pic>
        <p:nvPicPr>
          <p:cNvPr descr="preencoded.png" id="414" name="Google Shape;414;p35"/>
          <p:cNvPicPr preferRelativeResize="0"/>
          <p:nvPr/>
        </p:nvPicPr>
        <p:blipFill rotWithShape="1">
          <a:blip r:embed="rId3">
            <a:alphaModFix/>
          </a:blip>
          <a:srcRect b="0" l="0" r="0" t="0"/>
          <a:stretch/>
        </p:blipFill>
        <p:spPr>
          <a:xfrm>
            <a:off x="4356586" y="1644055"/>
            <a:ext cx="3478522" cy="4487267"/>
          </a:xfrm>
          <a:prstGeom prst="rect">
            <a:avLst/>
          </a:prstGeom>
          <a:noFill/>
          <a:ln>
            <a:noFill/>
          </a:ln>
        </p:spPr>
      </p:pic>
      <p:pic>
        <p:nvPicPr>
          <p:cNvPr descr="preencoded.png" id="415" name="Google Shape;415;p35"/>
          <p:cNvPicPr preferRelativeResize="0"/>
          <p:nvPr/>
        </p:nvPicPr>
        <p:blipFill rotWithShape="1">
          <a:blip r:embed="rId5">
            <a:alphaModFix/>
          </a:blip>
          <a:srcRect b="0" l="0" r="0" t="0"/>
          <a:stretch/>
        </p:blipFill>
        <p:spPr>
          <a:xfrm>
            <a:off x="5982146" y="1814513"/>
            <a:ext cx="227404" cy="227409"/>
          </a:xfrm>
          <a:prstGeom prst="rect">
            <a:avLst/>
          </a:prstGeom>
          <a:noFill/>
          <a:ln>
            <a:noFill/>
          </a:ln>
        </p:spPr>
      </p:pic>
      <p:sp>
        <p:nvSpPr>
          <p:cNvPr id="416" name="Google Shape;416;p35"/>
          <p:cNvSpPr/>
          <p:nvPr/>
        </p:nvSpPr>
        <p:spPr>
          <a:xfrm>
            <a:off x="4571489" y="2402086"/>
            <a:ext cx="3048717" cy="5572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Higher confidence in critical systems</a:t>
            </a:r>
            <a:endParaRPr b="0" i="0" sz="1750" u="none" cap="none" strike="noStrike">
              <a:solidFill>
                <a:schemeClr val="dk1"/>
              </a:solidFill>
              <a:latin typeface="Calibri"/>
              <a:ea typeface="Calibri"/>
              <a:cs typeface="Calibri"/>
              <a:sym typeface="Calibri"/>
            </a:endParaRPr>
          </a:p>
        </p:txBody>
      </p:sp>
      <p:sp>
        <p:nvSpPr>
          <p:cNvPr id="417" name="Google Shape;417;p35"/>
          <p:cNvSpPr/>
          <p:nvPr/>
        </p:nvSpPr>
        <p:spPr>
          <a:xfrm>
            <a:off x="4571489" y="3067248"/>
            <a:ext cx="3048717" cy="2849166"/>
          </a:xfrm>
          <a:prstGeom prst="rect">
            <a:avLst/>
          </a:prstGeom>
          <a:noFill/>
          <a:ln>
            <a:noFill/>
          </a:ln>
        </p:spPr>
        <p:txBody>
          <a:bodyPr anchorCtr="0" anchor="t" bIns="0" lIns="0" spcFirstLastPara="1" rIns="0" wrap="square" tIns="75800">
            <a:noAutofit/>
          </a:bodyPr>
          <a:lstStyle/>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Helps achieve extremely high reliability standards in complex industrial fields</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Applications: automotive, aerospace, embedded systems</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Where a runtime error can be catastrophic</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Provides mathematical proof of correctness</a:t>
            </a:r>
            <a:endParaRPr b="0" i="0" sz="1450" u="none" cap="none" strike="noStrike">
              <a:solidFill>
                <a:schemeClr val="dk1"/>
              </a:solidFill>
              <a:latin typeface="Calibri"/>
              <a:ea typeface="Calibri"/>
              <a:cs typeface="Calibri"/>
              <a:sym typeface="Calibri"/>
            </a:endParaRPr>
          </a:p>
        </p:txBody>
      </p:sp>
      <p:pic>
        <p:nvPicPr>
          <p:cNvPr descr="preencoded.png" id="418" name="Google Shape;418;p35"/>
          <p:cNvPicPr preferRelativeResize="0"/>
          <p:nvPr/>
        </p:nvPicPr>
        <p:blipFill rotWithShape="1">
          <a:blip r:embed="rId3">
            <a:alphaModFix/>
          </a:blip>
          <a:srcRect b="0" l="0" r="0" t="0"/>
          <a:stretch/>
        </p:blipFill>
        <p:spPr>
          <a:xfrm>
            <a:off x="8015087" y="1644055"/>
            <a:ext cx="3478522" cy="4487267"/>
          </a:xfrm>
          <a:prstGeom prst="rect">
            <a:avLst/>
          </a:prstGeom>
          <a:noFill/>
          <a:ln>
            <a:noFill/>
          </a:ln>
        </p:spPr>
      </p:pic>
      <p:pic>
        <p:nvPicPr>
          <p:cNvPr descr="preencoded.png" id="419" name="Google Shape;419;p35"/>
          <p:cNvPicPr preferRelativeResize="0"/>
          <p:nvPr/>
        </p:nvPicPr>
        <p:blipFill rotWithShape="1">
          <a:blip r:embed="rId6">
            <a:alphaModFix/>
          </a:blip>
          <a:srcRect b="0" l="0" r="0" t="0"/>
          <a:stretch/>
        </p:blipFill>
        <p:spPr>
          <a:xfrm>
            <a:off x="9640646" y="1814513"/>
            <a:ext cx="227404" cy="227409"/>
          </a:xfrm>
          <a:prstGeom prst="rect">
            <a:avLst/>
          </a:prstGeom>
          <a:noFill/>
          <a:ln>
            <a:noFill/>
          </a:ln>
        </p:spPr>
      </p:pic>
      <p:sp>
        <p:nvSpPr>
          <p:cNvPr id="420" name="Google Shape;420;p35"/>
          <p:cNvSpPr/>
          <p:nvPr/>
        </p:nvSpPr>
        <p:spPr>
          <a:xfrm>
            <a:off x="8229989" y="2402086"/>
            <a:ext cx="3048717" cy="27860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Native integration</a:t>
            </a:r>
            <a:endParaRPr b="0" i="0" sz="1750" u="none" cap="none" strike="noStrike">
              <a:solidFill>
                <a:schemeClr val="dk1"/>
              </a:solidFill>
              <a:latin typeface="Calibri"/>
              <a:ea typeface="Calibri"/>
              <a:cs typeface="Calibri"/>
              <a:sym typeface="Calibri"/>
            </a:endParaRPr>
          </a:p>
        </p:txBody>
      </p:sp>
      <p:sp>
        <p:nvSpPr>
          <p:cNvPr id="421" name="Google Shape;421;p35"/>
          <p:cNvSpPr/>
          <p:nvPr/>
        </p:nvSpPr>
        <p:spPr>
          <a:xfrm>
            <a:off x="8229989" y="2788642"/>
            <a:ext cx="3048717" cy="2553593"/>
          </a:xfrm>
          <a:prstGeom prst="rect">
            <a:avLst/>
          </a:prstGeom>
          <a:noFill/>
          <a:ln>
            <a:noFill/>
          </a:ln>
        </p:spPr>
        <p:txBody>
          <a:bodyPr anchorCtr="0" anchor="t" bIns="0" lIns="0" spcFirstLastPara="1" rIns="0" wrap="square" tIns="75800">
            <a:noAutofit/>
          </a:bodyPr>
          <a:lstStyle/>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Integrates directly with Rust's package manager (cargo kani)</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Makes the execution of formal checks smooth within modern development workflows</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Seamless CI/CD integration</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No external tools or complex setup required</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6"/>
          <p:cNvSpPr/>
          <p:nvPr/>
        </p:nvSpPr>
        <p:spPr>
          <a:xfrm>
            <a:off x="698086" y="608409"/>
            <a:ext cx="10795524" cy="3693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300"/>
              <a:buFont typeface="Unbounded"/>
              <a:buNone/>
            </a:pPr>
            <a:r>
              <a:rPr b="0" i="0" lang="en-US" sz="2300" u="none" cap="none" strike="noStrike">
                <a:solidFill>
                  <a:srgbClr val="FFFFFF"/>
                </a:solidFill>
                <a:latin typeface="Unbounded"/>
                <a:ea typeface="Unbounded"/>
                <a:cs typeface="Unbounded"/>
                <a:sym typeface="Unbounded"/>
              </a:rPr>
              <a:t>Events in the FSM verified with KANI:</a:t>
            </a:r>
            <a:endParaRPr b="0" i="0" sz="2300" u="none" cap="none" strike="noStrike">
              <a:solidFill>
                <a:schemeClr val="dk1"/>
              </a:solidFill>
              <a:latin typeface="Calibri"/>
              <a:ea typeface="Calibri"/>
              <a:cs typeface="Calibri"/>
              <a:sym typeface="Calibri"/>
            </a:endParaRPr>
          </a:p>
        </p:txBody>
      </p:sp>
      <p:graphicFrame>
        <p:nvGraphicFramePr>
          <p:cNvPr id="428" name="Google Shape;428;p36"/>
          <p:cNvGraphicFramePr/>
          <p:nvPr/>
        </p:nvGraphicFramePr>
        <p:xfrm>
          <a:off x="285061" y="1184405"/>
          <a:ext cx="3000000" cy="3000000"/>
        </p:xfrm>
        <a:graphic>
          <a:graphicData uri="http://schemas.openxmlformats.org/drawingml/2006/table">
            <a:tbl>
              <a:tblPr>
                <a:noFill/>
                <a:tableStyleId>{07F727DA-F923-405E-B322-1FDDD4D9E247}</a:tableStyleId>
              </a:tblPr>
              <a:tblGrid>
                <a:gridCol w="2953425"/>
                <a:gridCol w="5503425"/>
                <a:gridCol w="2751700"/>
              </a:tblGrid>
              <a:tr h="493775">
                <a:tc>
                  <a:txBody>
                    <a:bodyPr/>
                    <a:lstStyle/>
                    <a:p>
                      <a:pPr indent="0" lvl="0" marL="0" marR="0" rtl="0" algn="l">
                        <a:spcBef>
                          <a:spcPts val="0"/>
                        </a:spcBef>
                        <a:spcAft>
                          <a:spcPts val="0"/>
                        </a:spcAft>
                        <a:buClr>
                          <a:srgbClr val="CAD6DE"/>
                        </a:buClr>
                        <a:buSzPts val="1150"/>
                        <a:buFont typeface="Unbounded"/>
                        <a:buNone/>
                      </a:pPr>
                      <a:r>
                        <a:rPr b="1" lang="en-US" sz="1150" u="none" cap="none" strike="noStrike">
                          <a:solidFill>
                            <a:srgbClr val="CAD6DE"/>
                          </a:solidFill>
                          <a:latin typeface="Unbounded"/>
                          <a:ea typeface="Unbounded"/>
                          <a:cs typeface="Unbounded"/>
                          <a:sym typeface="Unbounded"/>
                        </a:rPr>
                        <a:t>Event Name (SwarmEvent)</a:t>
                      </a:r>
                      <a:endParaRPr sz="1150" u="none" cap="none" strike="noStrike">
                        <a:latin typeface="Unbounded"/>
                        <a:ea typeface="Unbounded"/>
                        <a:cs typeface="Unbounded"/>
                        <a:sym typeface="Unbounded"/>
                      </a:endParaRPr>
                    </a:p>
                  </a:txBody>
                  <a:tcPr marT="6350" marB="6350" marR="125600" marL="125600"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150"/>
                        <a:buFont typeface="Unbounded"/>
                        <a:buNone/>
                      </a:pPr>
                      <a:r>
                        <a:rPr b="1" lang="en-US" sz="1150" u="none" cap="none" strike="noStrike">
                          <a:solidFill>
                            <a:srgbClr val="CAD6DE"/>
                          </a:solidFill>
                          <a:latin typeface="Unbounded"/>
                          <a:ea typeface="Unbounded"/>
                          <a:cs typeface="Unbounded"/>
                          <a:sym typeface="Unbounded"/>
                        </a:rPr>
                        <a:t>Event Description</a:t>
                      </a:r>
                      <a:endParaRPr sz="1150" u="none" cap="none" strike="noStrike">
                        <a:latin typeface="Unbounded"/>
                        <a:ea typeface="Unbounded"/>
                        <a:cs typeface="Unbounded"/>
                        <a:sym typeface="Unbounded"/>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150"/>
                        <a:buFont typeface="Unbounded"/>
                        <a:buNone/>
                      </a:pPr>
                      <a:r>
                        <a:rPr b="1" lang="en-US" sz="1150" u="none" cap="none" strike="noStrike">
                          <a:solidFill>
                            <a:srgbClr val="CAD6DE"/>
                          </a:solidFill>
                          <a:latin typeface="Unbounded"/>
                          <a:ea typeface="Unbounded"/>
                          <a:cs typeface="Unbounded"/>
                          <a:sym typeface="Unbounded"/>
                        </a:rPr>
                        <a:t>Previous State → Next State</a:t>
                      </a:r>
                      <a:endParaRPr sz="1150" u="none" cap="none" strike="noStrike">
                        <a:latin typeface="Unbounded"/>
                        <a:ea typeface="Unbounded"/>
                        <a:cs typeface="Unbounded"/>
                        <a:sym typeface="Unbounded"/>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1186825">
                <a:tc>
                  <a:txBody>
                    <a:bodyPr/>
                    <a:lstStyle/>
                    <a:p>
                      <a:pPr indent="0" lvl="0" marL="0" marR="0" rtl="0" algn="l">
                        <a:spcBef>
                          <a:spcPts val="0"/>
                        </a:spcBef>
                        <a:spcAft>
                          <a:spcPts val="0"/>
                        </a:spcAft>
                        <a:buClr>
                          <a:srgbClr val="CAD6DE"/>
                        </a:buClr>
                        <a:buSzPts val="1200"/>
                        <a:buFont typeface="Cabin"/>
                        <a:buNone/>
                      </a:pPr>
                      <a:r>
                        <a:rPr b="1" lang="en-US" sz="1200" u="none" cap="none" strike="noStrike">
                          <a:solidFill>
                            <a:srgbClr val="CAD6DE"/>
                          </a:solidFill>
                          <a:latin typeface="Cabin"/>
                          <a:ea typeface="Cabin"/>
                          <a:cs typeface="Cabin"/>
                          <a:sym typeface="Cabin"/>
                        </a:rPr>
                        <a:t>RegistrationSuccess { has_active_leader }</a:t>
                      </a:r>
                      <a:endParaRPr sz="1200" u="none" cap="none" strike="noStrike">
                        <a:latin typeface="Cabin"/>
                        <a:ea typeface="Cabin"/>
                        <a:cs typeface="Cabin"/>
                        <a:sym typeface="Cabin"/>
                      </a:endParaRPr>
                    </a:p>
                  </a:txBody>
                  <a:tcPr marT="6350" marB="6350" marR="125600" marL="125600"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lang="en-US" sz="1200" u="none" cap="none" strike="noStrike">
                          <a:solidFill>
                            <a:srgbClr val="CAD6DE"/>
                          </a:solidFill>
                          <a:latin typeface="Cabin"/>
                          <a:ea typeface="Cabin"/>
                          <a:cs typeface="Cabin"/>
                          <a:sym typeface="Cabin"/>
                        </a:rPr>
                        <a:t>Triggered when a drone completes registration. If no leader exists: Drone becomes a Candidate. If leader exists: Drone becomes a Follower.</a:t>
                      </a:r>
                      <a:endParaRPr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b="1" lang="en-US" sz="1200">
                          <a:solidFill>
                            <a:srgbClr val="CAD6DE"/>
                          </a:solidFill>
                          <a:latin typeface="Cabin"/>
                          <a:ea typeface="Cabin"/>
                          <a:cs typeface="Cabin"/>
                          <a:sym typeface="Cabin"/>
                        </a:rPr>
                        <a:t>if has_active_leader == false:</a:t>
                      </a:r>
                      <a:endParaRPr b="1" sz="1200">
                        <a:solidFill>
                          <a:srgbClr val="CAD6DE"/>
                        </a:solidFill>
                        <a:latin typeface="Cabin"/>
                        <a:ea typeface="Cabin"/>
                        <a:cs typeface="Cabin"/>
                        <a:sym typeface="Cabin"/>
                      </a:endParaRPr>
                    </a:p>
                    <a:p>
                      <a:pPr indent="0" lvl="0" marL="0" marR="0" rtl="0" algn="l">
                        <a:spcBef>
                          <a:spcPts val="0"/>
                        </a:spcBef>
                        <a:spcAft>
                          <a:spcPts val="0"/>
                        </a:spcAft>
                        <a:buClr>
                          <a:srgbClr val="CAD6DE"/>
                        </a:buClr>
                        <a:buSzPts val="1200"/>
                        <a:buFont typeface="Cabin"/>
                        <a:buNone/>
                      </a:pPr>
                      <a:r>
                        <a:rPr i="1" lang="en-US" sz="1200" u="none" cap="none" strike="noStrike">
                          <a:solidFill>
                            <a:srgbClr val="CAD6DE"/>
                          </a:solidFill>
                          <a:latin typeface="Cabin"/>
                          <a:ea typeface="Cabin"/>
                          <a:cs typeface="Cabin"/>
                          <a:sym typeface="Cabin"/>
                        </a:rPr>
                        <a:t>(Unregistered, None) → (Active, Candidate)</a:t>
                      </a:r>
                      <a:r>
                        <a:rPr i="1" lang="en-US" sz="1200">
                          <a:solidFill>
                            <a:srgbClr val="CAD6DE"/>
                          </a:solidFill>
                          <a:latin typeface="Cabin"/>
                          <a:ea typeface="Cabin"/>
                          <a:cs typeface="Cabin"/>
                          <a:sym typeface="Cabin"/>
                        </a:rPr>
                        <a:t>;</a:t>
                      </a:r>
                      <a:endParaRPr i="1" sz="1200">
                        <a:solidFill>
                          <a:srgbClr val="CAD6DE"/>
                        </a:solidFill>
                        <a:latin typeface="Cabin"/>
                        <a:ea typeface="Cabin"/>
                        <a:cs typeface="Cabin"/>
                        <a:sym typeface="Cabin"/>
                      </a:endParaRPr>
                    </a:p>
                    <a:p>
                      <a:pPr indent="0" lvl="0" marL="0" rtl="0" algn="l">
                        <a:spcBef>
                          <a:spcPts val="0"/>
                        </a:spcBef>
                        <a:spcAft>
                          <a:spcPts val="0"/>
                        </a:spcAft>
                        <a:buClr>
                          <a:srgbClr val="CAD6DE"/>
                        </a:buClr>
                        <a:buSzPts val="1200"/>
                        <a:buFont typeface="Cabin"/>
                        <a:buNone/>
                      </a:pPr>
                      <a:r>
                        <a:rPr b="1" lang="en-US" sz="1200">
                          <a:solidFill>
                            <a:srgbClr val="CAD6DE"/>
                          </a:solidFill>
                          <a:latin typeface="Cabin"/>
                          <a:ea typeface="Cabin"/>
                          <a:cs typeface="Cabin"/>
                          <a:sym typeface="Cabin"/>
                        </a:rPr>
                        <a:t>if has_active_leader == true:</a:t>
                      </a:r>
                      <a:endParaRPr b="1" sz="1200">
                        <a:solidFill>
                          <a:srgbClr val="CAD6DE"/>
                        </a:solidFill>
                        <a:latin typeface="Cabin"/>
                        <a:ea typeface="Cabin"/>
                        <a:cs typeface="Cabin"/>
                        <a:sym typeface="Cabin"/>
                      </a:endParaRPr>
                    </a:p>
                    <a:p>
                      <a:pPr indent="0" lvl="0" marL="0" marR="0" rtl="0" algn="l">
                        <a:spcBef>
                          <a:spcPts val="0"/>
                        </a:spcBef>
                        <a:spcAft>
                          <a:spcPts val="0"/>
                        </a:spcAft>
                        <a:buClr>
                          <a:srgbClr val="CAD6DE"/>
                        </a:buClr>
                        <a:buSzPts val="1200"/>
                        <a:buFont typeface="Cabin"/>
                        <a:buNone/>
                      </a:pPr>
                      <a:r>
                        <a:rPr i="1" lang="en-US" sz="1200" u="none" cap="none" strike="noStrike">
                          <a:solidFill>
                            <a:srgbClr val="CAD6DE"/>
                          </a:solidFill>
                          <a:latin typeface="Cabin"/>
                          <a:ea typeface="Cabin"/>
                          <a:cs typeface="Cabin"/>
                          <a:sym typeface="Cabin"/>
                        </a:rPr>
                        <a:t>(Unregistered, None) → (Active, Follower)</a:t>
                      </a:r>
                      <a:endParaRPr i="1"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883275">
                <a:tc>
                  <a:txBody>
                    <a:bodyPr/>
                    <a:lstStyle/>
                    <a:p>
                      <a:pPr indent="0" lvl="0" marL="0" marR="0" rtl="0" algn="l">
                        <a:spcBef>
                          <a:spcPts val="0"/>
                        </a:spcBef>
                        <a:spcAft>
                          <a:spcPts val="0"/>
                        </a:spcAft>
                        <a:buClr>
                          <a:srgbClr val="CAD6DE"/>
                        </a:buClr>
                        <a:buSzPts val="1200"/>
                        <a:buFont typeface="Cabin"/>
                        <a:buNone/>
                      </a:pPr>
                      <a:r>
                        <a:rPr b="1" lang="en-US" sz="1200" u="none" cap="none" strike="noStrike">
                          <a:solidFill>
                            <a:srgbClr val="CAD6DE"/>
                          </a:solidFill>
                          <a:latin typeface="Cabin"/>
                          <a:ea typeface="Cabin"/>
                          <a:cs typeface="Cabin"/>
                          <a:sym typeface="Cabin"/>
                        </a:rPr>
                        <a:t>LeaderSelection { is_chosen }</a:t>
                      </a:r>
                      <a:endParaRPr sz="1200" u="none" cap="none" strike="noStrike">
                        <a:latin typeface="Cabin"/>
                        <a:ea typeface="Cabin"/>
                        <a:cs typeface="Cabin"/>
                        <a:sym typeface="Cabin"/>
                      </a:endParaRPr>
                    </a:p>
                  </a:txBody>
                  <a:tcPr marT="6350" marB="6350" marR="125600" marL="125600"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lang="en-US" sz="1200" u="none" cap="none" strike="noStrike">
                          <a:solidFill>
                            <a:srgbClr val="CAD6DE"/>
                          </a:solidFill>
                          <a:latin typeface="Cabin"/>
                          <a:ea typeface="Cabin"/>
                          <a:cs typeface="Cabin"/>
                          <a:sym typeface="Cabin"/>
                        </a:rPr>
                        <a:t>Applied to Candidate drones during leader election. If selected (is_chosen == true): Drone becomes Leader. If not selected (is_chosen == false): Drone becomes Follower.</a:t>
                      </a:r>
                      <a:endParaRPr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b="1" lang="en-US" sz="1200">
                          <a:solidFill>
                            <a:srgbClr val="CAD6DE"/>
                          </a:solidFill>
                          <a:latin typeface="Cabin"/>
                          <a:ea typeface="Cabin"/>
                          <a:cs typeface="Cabin"/>
                          <a:sym typeface="Cabin"/>
                        </a:rPr>
                        <a:t>if is_chosen == true:</a:t>
                      </a:r>
                      <a:endParaRPr b="1" sz="1200">
                        <a:solidFill>
                          <a:srgbClr val="CAD6DE"/>
                        </a:solidFill>
                        <a:latin typeface="Cabin"/>
                        <a:ea typeface="Cabin"/>
                        <a:cs typeface="Cabin"/>
                        <a:sym typeface="Cabin"/>
                      </a:endParaRPr>
                    </a:p>
                    <a:p>
                      <a:pPr indent="0" lvl="0" marL="0" marR="0" rtl="0" algn="l">
                        <a:spcBef>
                          <a:spcPts val="0"/>
                        </a:spcBef>
                        <a:spcAft>
                          <a:spcPts val="0"/>
                        </a:spcAft>
                        <a:buClr>
                          <a:srgbClr val="CAD6DE"/>
                        </a:buClr>
                        <a:buSzPts val="1200"/>
                        <a:buFont typeface="Cabin"/>
                        <a:buNone/>
                      </a:pPr>
                      <a:r>
                        <a:rPr i="1" lang="en-US" sz="1200" u="none" cap="none" strike="noStrike">
                          <a:solidFill>
                            <a:srgbClr val="CAD6DE"/>
                          </a:solidFill>
                          <a:latin typeface="Cabin"/>
                          <a:ea typeface="Cabin"/>
                          <a:cs typeface="Cabin"/>
                          <a:sym typeface="Cabin"/>
                        </a:rPr>
                        <a:t>(Active, Candidate) → (Active, Leader)</a:t>
                      </a:r>
                      <a:r>
                        <a:rPr i="1" lang="en-US" sz="1200">
                          <a:solidFill>
                            <a:srgbClr val="CAD6DE"/>
                          </a:solidFill>
                          <a:latin typeface="Cabin"/>
                          <a:ea typeface="Cabin"/>
                          <a:cs typeface="Cabin"/>
                          <a:sym typeface="Cabin"/>
                        </a:rPr>
                        <a:t>;</a:t>
                      </a:r>
                      <a:r>
                        <a:rPr i="1" lang="en-US" sz="1200" u="none" cap="none" strike="noStrike">
                          <a:solidFill>
                            <a:srgbClr val="CAD6DE"/>
                          </a:solidFill>
                          <a:latin typeface="Cabin"/>
                          <a:ea typeface="Cabin"/>
                          <a:cs typeface="Cabin"/>
                          <a:sym typeface="Cabin"/>
                        </a:rPr>
                        <a:t> </a:t>
                      </a:r>
                      <a:endParaRPr i="1" sz="1200" u="none" cap="none" strike="noStrike">
                        <a:latin typeface="Cabin"/>
                        <a:ea typeface="Cabin"/>
                        <a:cs typeface="Cabin"/>
                        <a:sym typeface="Cabin"/>
                      </a:endParaRPr>
                    </a:p>
                    <a:p>
                      <a:pPr indent="0" lvl="0" marL="0" marR="0" rtl="0" algn="l">
                        <a:spcBef>
                          <a:spcPts val="0"/>
                        </a:spcBef>
                        <a:spcAft>
                          <a:spcPts val="0"/>
                        </a:spcAft>
                        <a:buClr>
                          <a:srgbClr val="CAD6DE"/>
                        </a:buClr>
                        <a:buSzPts val="1200"/>
                        <a:buFont typeface="Cabin"/>
                        <a:buNone/>
                      </a:pPr>
                      <a:r>
                        <a:rPr b="1" lang="en-US" sz="1200">
                          <a:solidFill>
                            <a:srgbClr val="CAD6DE"/>
                          </a:solidFill>
                          <a:latin typeface="Cabin"/>
                          <a:ea typeface="Cabin"/>
                          <a:cs typeface="Cabin"/>
                          <a:sym typeface="Cabin"/>
                        </a:rPr>
                        <a:t>if is_chosen == false:</a:t>
                      </a:r>
                      <a:endParaRPr b="1" sz="1200">
                        <a:solidFill>
                          <a:srgbClr val="CAD6DE"/>
                        </a:solidFill>
                        <a:latin typeface="Cabin"/>
                        <a:ea typeface="Cabin"/>
                        <a:cs typeface="Cabin"/>
                        <a:sym typeface="Cabin"/>
                      </a:endParaRPr>
                    </a:p>
                    <a:p>
                      <a:pPr indent="0" lvl="0" marL="0" marR="0" rtl="0" algn="l">
                        <a:spcBef>
                          <a:spcPts val="0"/>
                        </a:spcBef>
                        <a:spcAft>
                          <a:spcPts val="0"/>
                        </a:spcAft>
                        <a:buClr>
                          <a:srgbClr val="CAD6DE"/>
                        </a:buClr>
                        <a:buSzPts val="1200"/>
                        <a:buFont typeface="Cabin"/>
                        <a:buNone/>
                      </a:pPr>
                      <a:r>
                        <a:rPr i="1" lang="en-US" sz="1200" u="none" cap="none" strike="noStrike">
                          <a:solidFill>
                            <a:srgbClr val="CAD6DE"/>
                          </a:solidFill>
                          <a:latin typeface="Cabin"/>
                          <a:ea typeface="Cabin"/>
                          <a:cs typeface="Cabin"/>
                          <a:sym typeface="Cabin"/>
                        </a:rPr>
                        <a:t>(Active, Candidate) → (Active, Follower) </a:t>
                      </a:r>
                      <a:endParaRPr i="1"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884800">
                <a:tc>
                  <a:txBody>
                    <a:bodyPr/>
                    <a:lstStyle/>
                    <a:p>
                      <a:pPr indent="0" lvl="0" marL="0" marR="0" rtl="0" algn="l">
                        <a:spcBef>
                          <a:spcPts val="0"/>
                        </a:spcBef>
                        <a:spcAft>
                          <a:spcPts val="0"/>
                        </a:spcAft>
                        <a:buClr>
                          <a:srgbClr val="CAD6DE"/>
                        </a:buClr>
                        <a:buSzPts val="1200"/>
                        <a:buFont typeface="Cabin"/>
                        <a:buNone/>
                      </a:pPr>
                      <a:r>
                        <a:rPr b="1" lang="en-US" sz="1200" u="none" cap="none" strike="noStrike">
                          <a:solidFill>
                            <a:srgbClr val="CAD6DE"/>
                          </a:solidFill>
                          <a:latin typeface="Cabin"/>
                          <a:ea typeface="Cabin"/>
                          <a:cs typeface="Cabin"/>
                          <a:sym typeface="Cabin"/>
                        </a:rPr>
                        <a:t>HeartbeatTimeout</a:t>
                      </a:r>
                      <a:r>
                        <a:rPr b="1" lang="en-US" sz="1200">
                          <a:solidFill>
                            <a:srgbClr val="CAD6DE"/>
                          </a:solidFill>
                          <a:latin typeface="Cabin"/>
                          <a:ea typeface="Cabin"/>
                          <a:cs typeface="Cabin"/>
                          <a:sym typeface="Cabin"/>
                        </a:rPr>
                        <a:t> {elapsed_seconds}</a:t>
                      </a:r>
                      <a:endParaRPr sz="1200" u="none" cap="none" strike="noStrike">
                        <a:latin typeface="Cabin"/>
                        <a:ea typeface="Cabin"/>
                        <a:cs typeface="Cabin"/>
                        <a:sym typeface="Cabin"/>
                      </a:endParaRPr>
                    </a:p>
                  </a:txBody>
                  <a:tcPr marT="6350" marB="6350" marR="125600" marL="125600"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lang="en-US" sz="1200">
                          <a:solidFill>
                            <a:srgbClr val="CAD6DE"/>
                          </a:solidFill>
                          <a:latin typeface="Cabin"/>
                          <a:ea typeface="Cabin"/>
                          <a:cs typeface="Cabin"/>
                          <a:sym typeface="Cabin"/>
                        </a:rPr>
                        <a:t>Applied to drones when heartbeats are missing. If (5 &lt; elapsed_seconds  &lt; 10) drone is not yet considered failed, but it is suspected. If (</a:t>
                      </a:r>
                      <a:r>
                        <a:rPr lang="en-US" sz="1200">
                          <a:solidFill>
                            <a:srgbClr val="CAD6DE"/>
                          </a:solidFill>
                          <a:latin typeface="Cabin"/>
                          <a:ea typeface="Cabin"/>
                          <a:cs typeface="Cabin"/>
                          <a:sym typeface="Cabin"/>
                        </a:rPr>
                        <a:t>elapsed_seconds  &gt;= 10) drone is considered failed and is despawned from Gazebo,</a:t>
                      </a:r>
                      <a:endParaRPr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b="1" lang="en-US" sz="1200">
                          <a:solidFill>
                            <a:srgbClr val="CAD6DE"/>
                          </a:solidFill>
                          <a:latin typeface="Cabin"/>
                          <a:ea typeface="Cabin"/>
                          <a:cs typeface="Cabin"/>
                          <a:sym typeface="Cabin"/>
                        </a:rPr>
                        <a:t>If (5 &lt; elapsed_seconds  &lt; 10):</a:t>
                      </a:r>
                      <a:endParaRPr b="1" sz="1200">
                        <a:solidFill>
                          <a:srgbClr val="CAD6DE"/>
                        </a:solidFill>
                        <a:latin typeface="Cabin"/>
                        <a:ea typeface="Cabin"/>
                        <a:cs typeface="Cabin"/>
                        <a:sym typeface="Cabin"/>
                      </a:endParaRPr>
                    </a:p>
                    <a:p>
                      <a:pPr indent="0" lvl="0" marL="0" marR="0" rtl="0" algn="l">
                        <a:spcBef>
                          <a:spcPts val="0"/>
                        </a:spcBef>
                        <a:spcAft>
                          <a:spcPts val="0"/>
                        </a:spcAft>
                        <a:buClr>
                          <a:srgbClr val="CAD6DE"/>
                        </a:buClr>
                        <a:buSzPts val="1200"/>
                        <a:buFont typeface="Cabin"/>
                        <a:buNone/>
                      </a:pPr>
                      <a:r>
                        <a:rPr i="1" lang="en-US" sz="1200" u="none" cap="none" strike="noStrike">
                          <a:solidFill>
                            <a:srgbClr val="CAD6DE"/>
                          </a:solidFill>
                          <a:latin typeface="Cabin"/>
                          <a:ea typeface="Cabin"/>
                          <a:cs typeface="Cabin"/>
                          <a:sym typeface="Cabin"/>
                        </a:rPr>
                        <a:t>(Active, S2) → (Suspected, S2)</a:t>
                      </a:r>
                      <a:r>
                        <a:rPr i="1" lang="en-US" sz="1200">
                          <a:solidFill>
                            <a:srgbClr val="CAD6DE"/>
                          </a:solidFill>
                          <a:latin typeface="Cabin"/>
                          <a:ea typeface="Cabin"/>
                          <a:cs typeface="Cabin"/>
                          <a:sym typeface="Cabin"/>
                        </a:rPr>
                        <a:t>;</a:t>
                      </a:r>
                      <a:r>
                        <a:rPr i="1" lang="en-US" sz="1200">
                          <a:solidFill>
                            <a:srgbClr val="CAD6DE"/>
                          </a:solidFill>
                          <a:latin typeface="Cabin"/>
                          <a:ea typeface="Cabin"/>
                          <a:cs typeface="Cabin"/>
                          <a:sym typeface="Cabin"/>
                        </a:rPr>
                        <a:t> </a:t>
                      </a:r>
                      <a:endParaRPr i="1" sz="1200">
                        <a:solidFill>
                          <a:srgbClr val="CAD6DE"/>
                        </a:solidFill>
                        <a:latin typeface="Cabin"/>
                        <a:ea typeface="Cabin"/>
                        <a:cs typeface="Cabin"/>
                        <a:sym typeface="Cabin"/>
                      </a:endParaRPr>
                    </a:p>
                    <a:p>
                      <a:pPr indent="0" lvl="0" marL="0" marR="0" rtl="0" algn="l">
                        <a:spcBef>
                          <a:spcPts val="0"/>
                        </a:spcBef>
                        <a:spcAft>
                          <a:spcPts val="0"/>
                        </a:spcAft>
                        <a:buClr>
                          <a:srgbClr val="CAD6DE"/>
                        </a:buClr>
                        <a:buSzPts val="1200"/>
                        <a:buFont typeface="Cabin"/>
                        <a:buNone/>
                      </a:pPr>
                      <a:r>
                        <a:rPr b="1" lang="en-US" sz="1200">
                          <a:solidFill>
                            <a:srgbClr val="CAD6DE"/>
                          </a:solidFill>
                          <a:latin typeface="Cabin"/>
                          <a:ea typeface="Cabin"/>
                          <a:cs typeface="Cabin"/>
                          <a:sym typeface="Cabin"/>
                        </a:rPr>
                        <a:t>If (elapsed_seconds  &gt;= 10) </a:t>
                      </a:r>
                      <a:endParaRPr b="1" sz="1200">
                        <a:solidFill>
                          <a:srgbClr val="CAD6DE"/>
                        </a:solidFill>
                        <a:latin typeface="Cabin"/>
                        <a:ea typeface="Cabin"/>
                        <a:cs typeface="Cabin"/>
                        <a:sym typeface="Cabin"/>
                      </a:endParaRPr>
                    </a:p>
                    <a:p>
                      <a:pPr indent="0" lvl="0" marL="0" marR="0" rtl="0" algn="l">
                        <a:spcBef>
                          <a:spcPts val="0"/>
                        </a:spcBef>
                        <a:spcAft>
                          <a:spcPts val="0"/>
                        </a:spcAft>
                        <a:buClr>
                          <a:srgbClr val="CAD6DE"/>
                        </a:buClr>
                        <a:buSzPts val="1200"/>
                        <a:buFont typeface="Cabin"/>
                        <a:buNone/>
                      </a:pPr>
                      <a:r>
                        <a:rPr i="1" lang="en-US" sz="1200">
                          <a:solidFill>
                            <a:srgbClr val="CAD6DE"/>
                          </a:solidFill>
                          <a:latin typeface="Cabin"/>
                          <a:ea typeface="Cabin"/>
                          <a:cs typeface="Cabin"/>
                          <a:sym typeface="Cabin"/>
                        </a:rPr>
                        <a:t>(Active, S2) → (Failed, S2) </a:t>
                      </a:r>
                      <a:endParaRPr i="1"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327700">
                <a:tc>
                  <a:txBody>
                    <a:bodyPr/>
                    <a:lstStyle/>
                    <a:p>
                      <a:pPr indent="0" lvl="0" marL="0" marR="0" rtl="0" algn="l">
                        <a:spcBef>
                          <a:spcPts val="0"/>
                        </a:spcBef>
                        <a:spcAft>
                          <a:spcPts val="0"/>
                        </a:spcAft>
                        <a:buClr>
                          <a:srgbClr val="CAD6DE"/>
                        </a:buClr>
                        <a:buSzPts val="1200"/>
                        <a:buFont typeface="Cabin"/>
                        <a:buNone/>
                      </a:pPr>
                      <a:r>
                        <a:rPr b="1" lang="en-US" sz="1200" u="none" cap="none" strike="noStrike">
                          <a:solidFill>
                            <a:srgbClr val="CAD6DE"/>
                          </a:solidFill>
                          <a:latin typeface="Cabin"/>
                          <a:ea typeface="Cabin"/>
                          <a:cs typeface="Cabin"/>
                          <a:sym typeface="Cabin"/>
                        </a:rPr>
                        <a:t>HeartbeatRecovered</a:t>
                      </a:r>
                      <a:endParaRPr sz="1200" u="none" cap="none" strike="noStrike">
                        <a:latin typeface="Cabin"/>
                        <a:ea typeface="Cabin"/>
                        <a:cs typeface="Cabin"/>
                        <a:sym typeface="Cabin"/>
                      </a:endParaRPr>
                    </a:p>
                  </a:txBody>
                  <a:tcPr marT="6350" marB="6350" marR="125600" marL="125600"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lang="en-US" sz="1200" u="none" cap="none" strike="noStrike">
                          <a:solidFill>
                            <a:srgbClr val="CAD6DE"/>
                          </a:solidFill>
                          <a:latin typeface="Cabin"/>
                          <a:ea typeface="Cabin"/>
                          <a:cs typeface="Cabin"/>
                          <a:sym typeface="Cabin"/>
                        </a:rPr>
                        <a:t>Heartbeat received within 10 seconds</a:t>
                      </a:r>
                      <a:endParaRPr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lang="en-US" sz="1200" u="none" cap="none" strike="noStrike">
                          <a:solidFill>
                            <a:srgbClr val="CAD6DE"/>
                          </a:solidFill>
                          <a:latin typeface="Cabin"/>
                          <a:ea typeface="Cabin"/>
                          <a:cs typeface="Cabin"/>
                          <a:sym typeface="Cabin"/>
                        </a:rPr>
                        <a:t>(Suspected, S2) → (Active, S2)</a:t>
                      </a:r>
                      <a:endParaRPr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1008150">
                <a:tc>
                  <a:txBody>
                    <a:bodyPr/>
                    <a:lstStyle/>
                    <a:p>
                      <a:pPr indent="0" lvl="0" marL="0" marR="0" rtl="0" algn="l">
                        <a:spcBef>
                          <a:spcPts val="0"/>
                        </a:spcBef>
                        <a:spcAft>
                          <a:spcPts val="0"/>
                        </a:spcAft>
                        <a:buClr>
                          <a:srgbClr val="CAD6DE"/>
                        </a:buClr>
                        <a:buSzPts val="1200"/>
                        <a:buFont typeface="Cabin"/>
                        <a:buNone/>
                      </a:pPr>
                      <a:r>
                        <a:rPr b="1" lang="en-US" sz="1200" u="none" cap="none" strike="noStrike">
                          <a:solidFill>
                            <a:srgbClr val="CAD6DE"/>
                          </a:solidFill>
                          <a:latin typeface="Cabin"/>
                          <a:ea typeface="Cabin"/>
                          <a:cs typeface="Cabin"/>
                          <a:sym typeface="Cabin"/>
                        </a:rPr>
                        <a:t>LeaderFailedReelectionTrigger</a:t>
                      </a:r>
                      <a:endParaRPr sz="1200" u="none" cap="none" strike="noStrike">
                        <a:latin typeface="Cabin"/>
                        <a:ea typeface="Cabin"/>
                        <a:cs typeface="Cabin"/>
                        <a:sym typeface="Cabin"/>
                      </a:endParaRPr>
                    </a:p>
                  </a:txBody>
                  <a:tcPr marT="6350" marB="6350" marR="125600" marL="125600"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lang="en-US" sz="1200" u="none" cap="none" strike="noStrike">
                          <a:solidFill>
                            <a:srgbClr val="CAD6DE"/>
                          </a:solidFill>
                          <a:latin typeface="Cabin"/>
                          <a:ea typeface="Cabin"/>
                          <a:cs typeface="Cabin"/>
                          <a:sym typeface="Cabin"/>
                        </a:rPr>
                        <a:t>The active Leader drone fails; triggers all Followers to enter election candidate status.</a:t>
                      </a:r>
                      <a:endParaRPr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lang="en-US" sz="1200" u="none" cap="none" strike="noStrike">
                          <a:solidFill>
                            <a:srgbClr val="CAD6DE"/>
                          </a:solidFill>
                          <a:latin typeface="Cabin"/>
                          <a:ea typeface="Cabin"/>
                          <a:cs typeface="Cabin"/>
                          <a:sym typeface="Cabin"/>
                        </a:rPr>
                        <a:t>(Active, Follower) → (Active, Candidate);</a:t>
                      </a:r>
                      <a:endParaRPr sz="1200" u="none" cap="none" strike="noStrike">
                        <a:latin typeface="Cabin"/>
                        <a:ea typeface="Cabin"/>
                        <a:cs typeface="Cabin"/>
                        <a:sym typeface="Cabin"/>
                      </a:endParaRPr>
                    </a:p>
                    <a:p>
                      <a:pPr indent="0" lvl="0" marL="0" marR="0" rtl="0" algn="l">
                        <a:spcBef>
                          <a:spcPts val="0"/>
                        </a:spcBef>
                        <a:spcAft>
                          <a:spcPts val="0"/>
                        </a:spcAft>
                        <a:buClr>
                          <a:srgbClr val="CAD6DE"/>
                        </a:buClr>
                        <a:buSzPts val="1200"/>
                        <a:buFont typeface="Cabin"/>
                        <a:buNone/>
                      </a:pPr>
                      <a:r>
                        <a:rPr lang="en-US" sz="1200" u="none" cap="none" strike="noStrike">
                          <a:solidFill>
                            <a:srgbClr val="CAD6DE"/>
                          </a:solidFill>
                          <a:latin typeface="Cabin"/>
                          <a:ea typeface="Cabin"/>
                          <a:cs typeface="Cabin"/>
                          <a:sym typeface="Cabin"/>
                        </a:rPr>
                        <a:t>(Suspected, Follower) → (Suspected, Candidate)</a:t>
                      </a:r>
                      <a:endParaRPr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535025">
                <a:tc>
                  <a:txBody>
                    <a:bodyPr/>
                    <a:lstStyle/>
                    <a:p>
                      <a:pPr indent="0" lvl="0" marL="0" marR="0" rtl="0" algn="l">
                        <a:spcBef>
                          <a:spcPts val="0"/>
                        </a:spcBef>
                        <a:spcAft>
                          <a:spcPts val="0"/>
                        </a:spcAft>
                        <a:buClr>
                          <a:srgbClr val="CAD6DE"/>
                        </a:buClr>
                        <a:buSzPts val="1200"/>
                        <a:buFont typeface="Cabin"/>
                        <a:buNone/>
                      </a:pPr>
                      <a:r>
                        <a:rPr b="1" lang="en-US" sz="1200" u="none" cap="none" strike="noStrike">
                          <a:solidFill>
                            <a:srgbClr val="CAD6DE"/>
                          </a:solidFill>
                          <a:latin typeface="Cabin"/>
                          <a:ea typeface="Cabin"/>
                          <a:cs typeface="Cabin"/>
                          <a:sym typeface="Cabin"/>
                        </a:rPr>
                        <a:t>RepairCompleted</a:t>
                      </a:r>
                      <a:endParaRPr sz="1200" u="none" cap="none" strike="noStrike">
                        <a:latin typeface="Cabin"/>
                        <a:ea typeface="Cabin"/>
                        <a:cs typeface="Cabin"/>
                        <a:sym typeface="Cabin"/>
                      </a:endParaRPr>
                    </a:p>
                  </a:txBody>
                  <a:tcPr marT="6350" marB="6350" marR="125600" marL="125600" anchor="ctr">
                    <a:lnL cap="flat" cmpd="sng" w="12700">
                      <a:solidFill>
                        <a:srgbClr val="4A5C6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lang="en-US" sz="1200" u="none" cap="none" strike="noStrike">
                          <a:solidFill>
                            <a:srgbClr val="CAD6DE"/>
                          </a:solidFill>
                          <a:latin typeface="Cabin"/>
                          <a:ea typeface="Cabin"/>
                          <a:cs typeface="Cabin"/>
                          <a:sym typeface="Cabin"/>
                        </a:rPr>
                        <a:t>Container unpaused/repaired; resets drone to initial state ready for re-registration.</a:t>
                      </a:r>
                      <a:endParaRPr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11283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200"/>
                        <a:buFont typeface="Cabin"/>
                        <a:buNone/>
                      </a:pPr>
                      <a:r>
                        <a:rPr lang="en-US" sz="1200" u="none" cap="none" strike="noStrike">
                          <a:solidFill>
                            <a:srgbClr val="CAD6DE"/>
                          </a:solidFill>
                          <a:latin typeface="Cabin"/>
                          <a:ea typeface="Cabin"/>
                          <a:cs typeface="Cabin"/>
                          <a:sym typeface="Cabin"/>
                        </a:rPr>
                        <a:t>(Failed, None) → (Unregistered, None)</a:t>
                      </a:r>
                      <a:endParaRPr sz="1200" u="none" cap="none" strike="noStrike">
                        <a:latin typeface="Cabin"/>
                        <a:ea typeface="Cabin"/>
                        <a:cs typeface="Cabin"/>
                        <a:sym typeface="Cabin"/>
                      </a:endParaRPr>
                    </a:p>
                  </a:txBody>
                  <a:tcPr marT="6350" marB="6350" marR="125600" marL="125600" anchor="ctr">
                    <a:lnL cap="flat" cmpd="sng" w="12700">
                      <a:solidFill>
                        <a:srgbClr val="11283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bl>
          </a:graphicData>
        </a:graphic>
      </p:graphicFrame>
      <p:cxnSp>
        <p:nvCxnSpPr>
          <p:cNvPr id="429" name="Google Shape;429;p36"/>
          <p:cNvCxnSpPr/>
          <p:nvPr/>
        </p:nvCxnSpPr>
        <p:spPr>
          <a:xfrm>
            <a:off x="3238450" y="1131675"/>
            <a:ext cx="9300" cy="5130300"/>
          </a:xfrm>
          <a:prstGeom prst="straightConnector1">
            <a:avLst/>
          </a:prstGeom>
          <a:noFill/>
          <a:ln cap="flat" cmpd="sng" w="9525">
            <a:solidFill>
              <a:schemeClr val="dk2"/>
            </a:solidFill>
            <a:prstDash val="solid"/>
            <a:round/>
            <a:headEnd len="med" w="med" type="none"/>
            <a:tailEnd len="med" w="med" type="none"/>
          </a:ln>
        </p:spPr>
      </p:cxnSp>
      <p:cxnSp>
        <p:nvCxnSpPr>
          <p:cNvPr id="430" name="Google Shape;430;p36"/>
          <p:cNvCxnSpPr/>
          <p:nvPr/>
        </p:nvCxnSpPr>
        <p:spPr>
          <a:xfrm>
            <a:off x="8732575" y="1131675"/>
            <a:ext cx="9300" cy="5130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7"/>
          <p:cNvSpPr/>
          <p:nvPr/>
        </p:nvSpPr>
        <p:spPr>
          <a:xfrm>
            <a:off x="698086" y="548580"/>
            <a:ext cx="10795524" cy="498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100"/>
              <a:buFont typeface="Unbounded"/>
              <a:buNone/>
            </a:pPr>
            <a:r>
              <a:rPr b="0" i="0" lang="en-US" sz="3100" u="none" cap="none" strike="noStrike">
                <a:solidFill>
                  <a:srgbClr val="FFFFFF"/>
                </a:solidFill>
                <a:latin typeface="Unbounded"/>
                <a:ea typeface="Unbounded"/>
                <a:cs typeface="Unbounded"/>
                <a:sym typeface="Unbounded"/>
              </a:rPr>
              <a:t>Kani's Logical Workflow</a:t>
            </a:r>
            <a:endParaRPr b="0" i="0" sz="3100" u="none" cap="none" strike="noStrike">
              <a:solidFill>
                <a:schemeClr val="dk1"/>
              </a:solidFill>
              <a:latin typeface="Calibri"/>
              <a:ea typeface="Calibri"/>
              <a:cs typeface="Calibri"/>
              <a:sym typeface="Calibri"/>
            </a:endParaRPr>
          </a:p>
        </p:txBody>
      </p:sp>
      <p:sp>
        <p:nvSpPr>
          <p:cNvPr id="437" name="Google Shape;437;p37"/>
          <p:cNvSpPr/>
          <p:nvPr/>
        </p:nvSpPr>
        <p:spPr>
          <a:xfrm>
            <a:off x="698086" y="1335484"/>
            <a:ext cx="10795524" cy="50184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Kani verifies safety properties through a structured three-phase process — from generating all possible states to mathematically proving (or disproving) a property holds.</a:t>
            </a:r>
            <a:endParaRPr b="0" i="0" sz="1300" u="none" cap="none" strike="noStrike">
              <a:solidFill>
                <a:schemeClr val="dk1"/>
              </a:solidFill>
              <a:latin typeface="Calibri"/>
              <a:ea typeface="Calibri"/>
              <a:cs typeface="Calibri"/>
              <a:sym typeface="Calibri"/>
            </a:endParaRPr>
          </a:p>
        </p:txBody>
      </p:sp>
      <p:pic>
        <p:nvPicPr>
          <p:cNvPr descr="preencoded.png" id="438" name="Google Shape;438;p37"/>
          <p:cNvPicPr preferRelativeResize="0"/>
          <p:nvPr/>
        </p:nvPicPr>
        <p:blipFill rotWithShape="1">
          <a:blip r:embed="rId3">
            <a:alphaModFix/>
          </a:blip>
          <a:srcRect b="0" l="0" r="0" t="0"/>
          <a:stretch/>
        </p:blipFill>
        <p:spPr>
          <a:xfrm>
            <a:off x="698086" y="1999456"/>
            <a:ext cx="3598475" cy="678160"/>
          </a:xfrm>
          <a:prstGeom prst="rect">
            <a:avLst/>
          </a:prstGeom>
          <a:noFill/>
          <a:ln>
            <a:noFill/>
          </a:ln>
        </p:spPr>
      </p:pic>
      <p:sp>
        <p:nvSpPr>
          <p:cNvPr id="439" name="Google Shape;439;p37"/>
          <p:cNvSpPr/>
          <p:nvPr/>
        </p:nvSpPr>
        <p:spPr>
          <a:xfrm>
            <a:off x="867547" y="2821682"/>
            <a:ext cx="3259552" cy="2493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50"/>
              <a:buFont typeface="Unbounded"/>
              <a:buNone/>
            </a:pPr>
            <a:r>
              <a:rPr b="0" i="0" lang="en-US" sz="1550" u="none" cap="none" strike="noStrike">
                <a:solidFill>
                  <a:srgbClr val="CAD6DE"/>
                </a:solidFill>
                <a:latin typeface="Unbounded"/>
                <a:ea typeface="Unbounded"/>
                <a:cs typeface="Unbounded"/>
                <a:sym typeface="Unbounded"/>
              </a:rPr>
              <a:t>Phase 1: Setup</a:t>
            </a:r>
            <a:endParaRPr b="0" i="0" sz="1550" u="none" cap="none" strike="noStrike">
              <a:solidFill>
                <a:schemeClr val="dk1"/>
              </a:solidFill>
              <a:latin typeface="Calibri"/>
              <a:ea typeface="Calibri"/>
              <a:cs typeface="Calibri"/>
              <a:sym typeface="Calibri"/>
            </a:endParaRPr>
          </a:p>
        </p:txBody>
      </p:sp>
      <p:sp>
        <p:nvSpPr>
          <p:cNvPr id="440" name="Google Shape;440;p37"/>
          <p:cNvSpPr/>
          <p:nvPr/>
        </p:nvSpPr>
        <p:spPr>
          <a:xfrm>
            <a:off x="867547" y="3157438"/>
            <a:ext cx="3259552" cy="25727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onsolas"/>
              <a:buNone/>
            </a:pPr>
            <a:r>
              <a:rPr b="0" i="0" lang="en-US" sz="1300" u="none" cap="none" strike="noStrike">
                <a:solidFill>
                  <a:srgbClr val="CAD6DE"/>
                </a:solidFill>
                <a:highlight>
                  <a:srgbClr val="1E3543"/>
                </a:highlight>
                <a:latin typeface="Consolas"/>
                <a:ea typeface="Consolas"/>
                <a:cs typeface="Consolas"/>
                <a:sym typeface="Consolas"/>
              </a:rPr>
              <a:t>kani::any()</a:t>
            </a:r>
            <a:r>
              <a:rPr b="0" i="0" lang="en-US" sz="1300" u="none" cap="none" strike="noStrike">
                <a:solidFill>
                  <a:srgbClr val="CAD6DE"/>
                </a:solidFill>
                <a:latin typeface="Cabin"/>
                <a:ea typeface="Cabin"/>
                <a:cs typeface="Cabin"/>
                <a:sym typeface="Cabin"/>
              </a:rPr>
              <a:t> + </a:t>
            </a:r>
            <a:r>
              <a:rPr b="0" i="0" lang="en-US" sz="1300" u="none" cap="none" strike="noStrike">
                <a:solidFill>
                  <a:srgbClr val="CAD6DE"/>
                </a:solidFill>
                <a:highlight>
                  <a:srgbClr val="1E3543"/>
                </a:highlight>
                <a:latin typeface="Consolas"/>
                <a:ea typeface="Consolas"/>
                <a:cs typeface="Consolas"/>
                <a:sym typeface="Consolas"/>
              </a:rPr>
              <a:t>kani::assume(...)</a:t>
            </a:r>
            <a:endParaRPr b="0" i="0" sz="1300" u="none" cap="none" strike="noStrike">
              <a:solidFill>
                <a:schemeClr val="dk1"/>
              </a:solidFill>
              <a:latin typeface="Calibri"/>
              <a:ea typeface="Calibri"/>
              <a:cs typeface="Calibri"/>
              <a:sym typeface="Calibri"/>
            </a:endParaRPr>
          </a:p>
        </p:txBody>
      </p:sp>
      <p:sp>
        <p:nvSpPr>
          <p:cNvPr id="441" name="Google Shape;441;p37"/>
          <p:cNvSpPr/>
          <p:nvPr/>
        </p:nvSpPr>
        <p:spPr>
          <a:xfrm>
            <a:off x="867547" y="3501132"/>
            <a:ext cx="3259552" cy="1606352"/>
          </a:xfrm>
          <a:prstGeom prst="rect">
            <a:avLst/>
          </a:prstGeom>
          <a:noFill/>
          <a:ln>
            <a:noFill/>
          </a:ln>
        </p:spPr>
        <p:txBody>
          <a:bodyPr anchorCtr="0" anchor="t" bIns="0" lIns="0" spcFirstLastPara="1" rIns="0" wrap="square" tIns="67800">
            <a:noAutofit/>
          </a:bodyPr>
          <a:lstStyle/>
          <a:p>
            <a:pPr indent="-264160" lvl="0" marL="264160" marR="0" rtl="0" algn="l">
              <a:lnSpc>
                <a:spcPct val="123000"/>
              </a:lnSpc>
              <a:spcBef>
                <a:spcPts val="0"/>
              </a:spcBef>
              <a:spcAft>
                <a:spcPts val="0"/>
              </a:spcAft>
              <a:buClr>
                <a:srgbClr val="CAD6DE"/>
              </a:buClr>
              <a:buSzPts val="1300"/>
              <a:buFont typeface="Cabin"/>
              <a:buChar char="•"/>
            </a:pPr>
            <a:r>
              <a:rPr b="1" i="0" lang="en-US" sz="1300" u="none" cap="none" strike="noStrike">
                <a:solidFill>
                  <a:srgbClr val="CAD6DE"/>
                </a:solidFill>
                <a:latin typeface="Cabin"/>
                <a:ea typeface="Cabin"/>
                <a:cs typeface="Cabin"/>
                <a:sym typeface="Cabin"/>
              </a:rPr>
              <a:t>kani::any()</a:t>
            </a:r>
            <a:r>
              <a:rPr b="0" i="0" lang="en-US" sz="1300" u="none" cap="none" strike="noStrike">
                <a:solidFill>
                  <a:srgbClr val="CAD6DE"/>
                </a:solidFill>
                <a:latin typeface="Cabin"/>
                <a:ea typeface="Cabin"/>
                <a:cs typeface="Cabin"/>
                <a:sym typeface="Cabin"/>
              </a:rPr>
              <a:t> generates </a:t>
            </a:r>
            <a:r>
              <a:rPr b="0" i="1" lang="en-US" sz="1300" u="none" cap="none" strike="noStrike">
                <a:solidFill>
                  <a:srgbClr val="CAD6DE"/>
                </a:solidFill>
                <a:latin typeface="Cabin"/>
                <a:ea typeface="Cabin"/>
                <a:cs typeface="Cabin"/>
                <a:sym typeface="Cabin"/>
              </a:rPr>
              <a:t>all possible</a:t>
            </a:r>
            <a:r>
              <a:rPr b="0" i="0" lang="en-US" sz="1300" u="none" cap="none" strike="noStrike">
                <a:solidFill>
                  <a:srgbClr val="CAD6DE"/>
                </a:solidFill>
                <a:latin typeface="Cabin"/>
                <a:ea typeface="Cabin"/>
                <a:cs typeface="Cabin"/>
                <a:sym typeface="Cabin"/>
              </a:rPr>
              <a:t> values and states</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CAD6DE"/>
              </a:buClr>
              <a:buSzPts val="1300"/>
              <a:buFont typeface="Cabin"/>
              <a:buChar char="•"/>
            </a:pPr>
            <a:r>
              <a:rPr b="1" i="0" lang="en-US" sz="1300" u="none" cap="none" strike="noStrike">
                <a:solidFill>
                  <a:srgbClr val="CAD6DE"/>
                </a:solidFill>
                <a:latin typeface="Cabin"/>
                <a:ea typeface="Cabin"/>
                <a:cs typeface="Cabin"/>
                <a:sym typeface="Cabin"/>
              </a:rPr>
              <a:t>kani::assume(...)</a:t>
            </a:r>
            <a:r>
              <a:rPr b="0" i="0" lang="en-US" sz="1300" u="none" cap="none" strike="noStrike">
                <a:solidFill>
                  <a:srgbClr val="CAD6DE"/>
                </a:solidFill>
                <a:latin typeface="Cabin"/>
                <a:ea typeface="Cabin"/>
                <a:cs typeface="Cabin"/>
                <a:sym typeface="Cabin"/>
              </a:rPr>
              <a:t> filters out invalid or absurd combinations</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Only </a:t>
            </a:r>
            <a:r>
              <a:rPr b="1" i="0" lang="en-US" sz="1300" u="none" cap="none" strike="noStrike">
                <a:solidFill>
                  <a:srgbClr val="CAD6DE"/>
                </a:solidFill>
                <a:latin typeface="Cabin"/>
                <a:ea typeface="Cabin"/>
                <a:cs typeface="Cabin"/>
                <a:sym typeface="Cabin"/>
              </a:rPr>
              <a:t>valid initial states</a:t>
            </a:r>
            <a:r>
              <a:rPr b="0" i="0" lang="en-US" sz="1300" u="none" cap="none" strike="noStrike">
                <a:solidFill>
                  <a:srgbClr val="CAD6DE"/>
                </a:solidFill>
                <a:latin typeface="Cabin"/>
                <a:ea typeface="Cabin"/>
                <a:cs typeface="Cabin"/>
                <a:sym typeface="Cabin"/>
              </a:rPr>
              <a:t> remain on the table</a:t>
            </a:r>
            <a:endParaRPr b="0" i="0" sz="1300" u="none" cap="none" strike="noStrike">
              <a:solidFill>
                <a:schemeClr val="dk1"/>
              </a:solidFill>
              <a:latin typeface="Calibri"/>
              <a:ea typeface="Calibri"/>
              <a:cs typeface="Calibri"/>
              <a:sym typeface="Calibri"/>
            </a:endParaRPr>
          </a:p>
        </p:txBody>
      </p:sp>
      <p:pic>
        <p:nvPicPr>
          <p:cNvPr descr="preencoded.png" id="442" name="Google Shape;442;p37"/>
          <p:cNvPicPr preferRelativeResize="0"/>
          <p:nvPr/>
        </p:nvPicPr>
        <p:blipFill rotWithShape="1">
          <a:blip r:embed="rId4">
            <a:alphaModFix/>
          </a:blip>
          <a:srcRect b="0" l="0" r="0" t="0"/>
          <a:stretch/>
        </p:blipFill>
        <p:spPr>
          <a:xfrm>
            <a:off x="4296560" y="1999456"/>
            <a:ext cx="3598475" cy="678160"/>
          </a:xfrm>
          <a:prstGeom prst="rect">
            <a:avLst/>
          </a:prstGeom>
          <a:noFill/>
          <a:ln>
            <a:noFill/>
          </a:ln>
        </p:spPr>
      </p:pic>
      <p:sp>
        <p:nvSpPr>
          <p:cNvPr id="443" name="Google Shape;443;p37"/>
          <p:cNvSpPr/>
          <p:nvPr/>
        </p:nvSpPr>
        <p:spPr>
          <a:xfrm>
            <a:off x="4466022" y="2821682"/>
            <a:ext cx="3259552" cy="2493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50"/>
              <a:buFont typeface="Unbounded"/>
              <a:buNone/>
            </a:pPr>
            <a:r>
              <a:rPr b="0" i="0" lang="en-US" sz="1550" u="none" cap="none" strike="noStrike">
                <a:solidFill>
                  <a:srgbClr val="CAD6DE"/>
                </a:solidFill>
                <a:latin typeface="Unbounded"/>
                <a:ea typeface="Unbounded"/>
                <a:cs typeface="Unbounded"/>
                <a:sym typeface="Unbounded"/>
              </a:rPr>
              <a:t>Phase 2: Execution</a:t>
            </a:r>
            <a:endParaRPr b="0" i="0" sz="1550" u="none" cap="none" strike="noStrike">
              <a:solidFill>
                <a:schemeClr val="dk1"/>
              </a:solidFill>
              <a:latin typeface="Calibri"/>
              <a:ea typeface="Calibri"/>
              <a:cs typeface="Calibri"/>
              <a:sym typeface="Calibri"/>
            </a:endParaRPr>
          </a:p>
        </p:txBody>
      </p:sp>
      <p:sp>
        <p:nvSpPr>
          <p:cNvPr id="444" name="Google Shape;444;p37"/>
          <p:cNvSpPr/>
          <p:nvPr/>
        </p:nvSpPr>
        <p:spPr>
          <a:xfrm>
            <a:off x="4466022" y="3157438"/>
            <a:ext cx="3259552"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Code Execution / State Transition Loop</a:t>
            </a:r>
            <a:endParaRPr b="0" i="0" sz="1300" u="none" cap="none" strike="noStrike">
              <a:solidFill>
                <a:schemeClr val="dk1"/>
              </a:solidFill>
              <a:latin typeface="Calibri"/>
              <a:ea typeface="Calibri"/>
              <a:cs typeface="Calibri"/>
              <a:sym typeface="Calibri"/>
            </a:endParaRPr>
          </a:p>
        </p:txBody>
      </p:sp>
      <p:sp>
        <p:nvSpPr>
          <p:cNvPr id="445" name="Google Shape;445;p37"/>
          <p:cNvSpPr/>
          <p:nvPr/>
        </p:nvSpPr>
        <p:spPr>
          <a:xfrm>
            <a:off x="4466022" y="3494782"/>
            <a:ext cx="3259552" cy="1606352"/>
          </a:xfrm>
          <a:prstGeom prst="rect">
            <a:avLst/>
          </a:prstGeom>
          <a:noFill/>
          <a:ln>
            <a:noFill/>
          </a:ln>
        </p:spPr>
        <p:txBody>
          <a:bodyPr anchorCtr="0" anchor="t" bIns="0" lIns="0" spcFirstLastPara="1" rIns="0" wrap="square" tIns="67800">
            <a:noAutofit/>
          </a:bodyPr>
          <a:lstStyle/>
          <a:p>
            <a:pPr indent="-264160" lvl="0" marL="26416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Kani runs the code through </a:t>
            </a:r>
            <a:r>
              <a:rPr b="1" i="0" lang="en-US" sz="1300" u="none" cap="none" strike="noStrike">
                <a:solidFill>
                  <a:srgbClr val="CAD6DE"/>
                </a:solidFill>
                <a:latin typeface="Cabin"/>
                <a:ea typeface="Cabin"/>
                <a:cs typeface="Cabin"/>
                <a:sym typeface="Cabin"/>
              </a:rPr>
              <a:t>state transitions</a:t>
            </a:r>
            <a:r>
              <a:rPr b="0" i="0" lang="en-US" sz="1300" u="none" cap="none" strike="noStrike">
                <a:solidFill>
                  <a:srgbClr val="CAD6DE"/>
                </a:solidFill>
                <a:latin typeface="Cabin"/>
                <a:ea typeface="Cabin"/>
                <a:cs typeface="Cabin"/>
                <a:sym typeface="Cabin"/>
              </a:rPr>
              <a:t> (or loop iterations)</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Each valid state from Phase 1 is used as a starting point</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All reachable execution paths are explored</a:t>
            </a:r>
            <a:endParaRPr b="0" i="0" sz="1300" u="none" cap="none" strike="noStrike">
              <a:solidFill>
                <a:schemeClr val="dk1"/>
              </a:solidFill>
              <a:latin typeface="Calibri"/>
              <a:ea typeface="Calibri"/>
              <a:cs typeface="Calibri"/>
              <a:sym typeface="Calibri"/>
            </a:endParaRPr>
          </a:p>
        </p:txBody>
      </p:sp>
      <p:pic>
        <p:nvPicPr>
          <p:cNvPr descr="preencoded.png" id="446" name="Google Shape;446;p37"/>
          <p:cNvPicPr preferRelativeResize="0"/>
          <p:nvPr/>
        </p:nvPicPr>
        <p:blipFill rotWithShape="1">
          <a:blip r:embed="rId5">
            <a:alphaModFix/>
          </a:blip>
          <a:srcRect b="0" l="0" r="0" t="0"/>
          <a:stretch/>
        </p:blipFill>
        <p:spPr>
          <a:xfrm>
            <a:off x="7895035" y="1999456"/>
            <a:ext cx="3598475" cy="678160"/>
          </a:xfrm>
          <a:prstGeom prst="rect">
            <a:avLst/>
          </a:prstGeom>
          <a:noFill/>
          <a:ln>
            <a:noFill/>
          </a:ln>
        </p:spPr>
      </p:pic>
      <p:sp>
        <p:nvSpPr>
          <p:cNvPr id="447" name="Google Shape;447;p37"/>
          <p:cNvSpPr/>
          <p:nvPr/>
        </p:nvSpPr>
        <p:spPr>
          <a:xfrm>
            <a:off x="8064497" y="2821682"/>
            <a:ext cx="3259552" cy="2493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50"/>
              <a:buFont typeface="Unbounded"/>
              <a:buNone/>
            </a:pPr>
            <a:r>
              <a:rPr b="0" i="0" lang="en-US" sz="1550" u="none" cap="none" strike="noStrike">
                <a:solidFill>
                  <a:srgbClr val="CAD6DE"/>
                </a:solidFill>
                <a:latin typeface="Unbounded"/>
                <a:ea typeface="Unbounded"/>
                <a:cs typeface="Unbounded"/>
                <a:sym typeface="Unbounded"/>
              </a:rPr>
              <a:t>Phase 3: Verification</a:t>
            </a:r>
            <a:endParaRPr b="0" i="0" sz="1550" u="none" cap="none" strike="noStrike">
              <a:solidFill>
                <a:schemeClr val="dk1"/>
              </a:solidFill>
              <a:latin typeface="Calibri"/>
              <a:ea typeface="Calibri"/>
              <a:cs typeface="Calibri"/>
              <a:sym typeface="Calibri"/>
            </a:endParaRPr>
          </a:p>
        </p:txBody>
      </p:sp>
      <p:sp>
        <p:nvSpPr>
          <p:cNvPr id="448" name="Google Shape;448;p37"/>
          <p:cNvSpPr/>
          <p:nvPr/>
        </p:nvSpPr>
        <p:spPr>
          <a:xfrm>
            <a:off x="8064497" y="3157438"/>
            <a:ext cx="3259552" cy="25727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onsolas"/>
              <a:buNone/>
            </a:pPr>
            <a:r>
              <a:rPr b="0" i="0" lang="en-US" sz="1300" u="none" cap="none" strike="noStrike">
                <a:solidFill>
                  <a:srgbClr val="CAD6DE"/>
                </a:solidFill>
                <a:highlight>
                  <a:srgbClr val="1E3543"/>
                </a:highlight>
                <a:latin typeface="Consolas"/>
                <a:ea typeface="Consolas"/>
                <a:cs typeface="Consolas"/>
                <a:sym typeface="Consolas"/>
              </a:rPr>
              <a:t>kani::assert(...)</a:t>
            </a:r>
            <a:endParaRPr b="0" i="0" sz="1300" u="none" cap="none" strike="noStrike">
              <a:solidFill>
                <a:schemeClr val="dk1"/>
              </a:solidFill>
              <a:latin typeface="Calibri"/>
              <a:ea typeface="Calibri"/>
              <a:cs typeface="Calibri"/>
              <a:sym typeface="Calibri"/>
            </a:endParaRPr>
          </a:p>
        </p:txBody>
      </p:sp>
      <p:sp>
        <p:nvSpPr>
          <p:cNvPr id="449" name="Google Shape;449;p37"/>
          <p:cNvSpPr/>
          <p:nvPr/>
        </p:nvSpPr>
        <p:spPr>
          <a:xfrm>
            <a:off x="8064497" y="3501132"/>
            <a:ext cx="3259552" cy="1619052"/>
          </a:xfrm>
          <a:prstGeom prst="rect">
            <a:avLst/>
          </a:prstGeom>
          <a:noFill/>
          <a:ln>
            <a:noFill/>
          </a:ln>
        </p:spPr>
        <p:txBody>
          <a:bodyPr anchorCtr="0" anchor="t" bIns="0" lIns="0" spcFirstLastPara="1" rIns="0" wrap="square" tIns="67800">
            <a:noAutofit/>
          </a:bodyPr>
          <a:lstStyle/>
          <a:p>
            <a:pPr indent="-264160" lvl="0" marL="26416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Kani checks if </a:t>
            </a:r>
            <a:r>
              <a:rPr b="0" i="1" lang="en-US" sz="1300" u="none" cap="none" strike="noStrike">
                <a:solidFill>
                  <a:srgbClr val="CAD6DE"/>
                </a:solidFill>
                <a:latin typeface="Cabin"/>
                <a:ea typeface="Cabin"/>
                <a:cs typeface="Cabin"/>
                <a:sym typeface="Cabin"/>
              </a:rPr>
              <a:t>any single trace</a:t>
            </a:r>
            <a:r>
              <a:rPr b="0" i="0" lang="en-US" sz="1300" u="none" cap="none" strike="noStrike">
                <a:solidFill>
                  <a:srgbClr val="CAD6DE"/>
                </a:solidFill>
                <a:latin typeface="Cabin"/>
                <a:ea typeface="Cabin"/>
                <a:cs typeface="Cabin"/>
                <a:sym typeface="Cabin"/>
              </a:rPr>
              <a:t> makes the property </a:t>
            </a:r>
            <a:r>
              <a:rPr b="1" i="0" lang="en-US" sz="1300" u="none" cap="none" strike="noStrike">
                <a:solidFill>
                  <a:srgbClr val="CAD6DE"/>
                </a:solidFill>
                <a:latin typeface="Cabin"/>
                <a:ea typeface="Cabin"/>
                <a:cs typeface="Cabin"/>
                <a:sym typeface="Cabin"/>
              </a:rPr>
              <a:t>FALSE</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000000"/>
              </a:buClr>
              <a:buSzPts val="1300"/>
              <a:buFont typeface="Cabin"/>
              <a:buChar char="•"/>
            </a:pPr>
            <a:r>
              <a:rPr b="0" i="0" lang="en-US" sz="1300" u="none" cap="none" strike="noStrike">
                <a:solidFill>
                  <a:srgbClr val="000000"/>
                </a:solidFill>
                <a:latin typeface="Cabin"/>
                <a:ea typeface="Cabin"/>
                <a:cs typeface="Cabin"/>
                <a:sym typeface="Cabin"/>
              </a:rPr>
              <a:t>✅</a:t>
            </a:r>
            <a:r>
              <a:rPr b="0" i="0" lang="en-US" sz="1300" u="none" cap="none" strike="noStrike">
                <a:solidFill>
                  <a:srgbClr val="CAD6DE"/>
                </a:solidFill>
                <a:latin typeface="Cabin"/>
                <a:ea typeface="Cabin"/>
                <a:cs typeface="Cabin"/>
                <a:sym typeface="Cabin"/>
              </a:rPr>
              <a:t> </a:t>
            </a:r>
            <a:r>
              <a:rPr b="1" i="0" lang="en-US" sz="1300" u="none" cap="none" strike="noStrike">
                <a:solidFill>
                  <a:srgbClr val="CAD6DE"/>
                </a:solidFill>
                <a:latin typeface="Cabin"/>
                <a:ea typeface="Cabin"/>
                <a:cs typeface="Cabin"/>
                <a:sym typeface="Cabin"/>
              </a:rPr>
              <a:t>VERIFIED</a:t>
            </a:r>
            <a:r>
              <a:rPr b="0" i="0" lang="en-US" sz="1300" u="none" cap="none" strike="noStrike">
                <a:solidFill>
                  <a:srgbClr val="CAD6DE"/>
                </a:solidFill>
                <a:latin typeface="Cabin"/>
                <a:ea typeface="Cabin"/>
                <a:cs typeface="Cabin"/>
                <a:sym typeface="Cabin"/>
              </a:rPr>
              <a:t> — property holds in ALL valid cases</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000000"/>
              </a:buClr>
              <a:buSzPts val="1300"/>
              <a:buFont typeface="Cabin"/>
              <a:buChar char="•"/>
            </a:pPr>
            <a:r>
              <a:rPr b="0" i="0" lang="en-US" sz="1300" u="none" cap="none" strike="noStrike">
                <a:solidFill>
                  <a:srgbClr val="000000"/>
                </a:solidFill>
                <a:latin typeface="Cabin"/>
                <a:ea typeface="Cabin"/>
                <a:cs typeface="Cabin"/>
                <a:sym typeface="Cabin"/>
              </a:rPr>
              <a:t>❌</a:t>
            </a:r>
            <a:r>
              <a:rPr b="0" i="0" lang="en-US" sz="1300" u="none" cap="none" strike="noStrike">
                <a:solidFill>
                  <a:srgbClr val="CAD6DE"/>
                </a:solidFill>
                <a:latin typeface="Cabin"/>
                <a:ea typeface="Cabin"/>
                <a:cs typeface="Cabin"/>
                <a:sym typeface="Cabin"/>
              </a:rPr>
              <a:t> </a:t>
            </a:r>
            <a:r>
              <a:rPr b="1" i="0" lang="en-US" sz="1300" u="none" cap="none" strike="noStrike">
                <a:solidFill>
                  <a:srgbClr val="CAD6DE"/>
                </a:solidFill>
                <a:latin typeface="Cabin"/>
                <a:ea typeface="Cabin"/>
                <a:cs typeface="Cabin"/>
                <a:sym typeface="Cabin"/>
              </a:rPr>
              <a:t>ERROR</a:t>
            </a:r>
            <a:r>
              <a:rPr b="0" i="0" lang="en-US" sz="1300" u="none" cap="none" strike="noStrike">
                <a:solidFill>
                  <a:srgbClr val="CAD6DE"/>
                </a:solidFill>
                <a:latin typeface="Cabin"/>
                <a:ea typeface="Cabin"/>
                <a:cs typeface="Cabin"/>
                <a:sym typeface="Cabin"/>
              </a:rPr>
              <a:t> — stops and shows exact counterexample</a:t>
            </a:r>
            <a:endParaRPr b="0" i="0" sz="1300" u="none" cap="none" strike="noStrike">
              <a:solidFill>
                <a:schemeClr val="dk1"/>
              </a:solidFill>
              <a:latin typeface="Calibri"/>
              <a:ea typeface="Calibri"/>
              <a:cs typeface="Calibri"/>
              <a:sym typeface="Calibri"/>
            </a:endParaRPr>
          </a:p>
        </p:txBody>
      </p:sp>
      <p:sp>
        <p:nvSpPr>
          <p:cNvPr id="450" name="Google Shape;450;p37"/>
          <p:cNvSpPr/>
          <p:nvPr/>
        </p:nvSpPr>
        <p:spPr>
          <a:xfrm>
            <a:off x="698086" y="5451773"/>
            <a:ext cx="10795524" cy="860326"/>
          </a:xfrm>
          <a:prstGeom prst="roundRect">
            <a:avLst>
              <a:gd fmla="val 2956"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1" name="Google Shape;451;p37"/>
          <p:cNvPicPr preferRelativeResize="0"/>
          <p:nvPr/>
        </p:nvPicPr>
        <p:blipFill rotWithShape="1">
          <a:blip r:embed="rId6">
            <a:alphaModFix/>
          </a:blip>
          <a:srcRect b="0" l="0" r="0" t="0"/>
          <a:stretch/>
        </p:blipFill>
        <p:spPr>
          <a:xfrm>
            <a:off x="867547" y="5661323"/>
            <a:ext cx="211926" cy="169466"/>
          </a:xfrm>
          <a:prstGeom prst="rect">
            <a:avLst/>
          </a:prstGeom>
          <a:noFill/>
          <a:ln>
            <a:noFill/>
          </a:ln>
        </p:spPr>
      </p:pic>
      <p:sp>
        <p:nvSpPr>
          <p:cNvPr id="452" name="Google Shape;452;p37"/>
          <p:cNvSpPr/>
          <p:nvPr/>
        </p:nvSpPr>
        <p:spPr>
          <a:xfrm>
            <a:off x="1248934" y="5638205"/>
            <a:ext cx="10075214" cy="50184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FFFFFF"/>
              </a:buClr>
              <a:buSzPts val="1300"/>
              <a:buFont typeface="Cabin"/>
              <a:buNone/>
            </a:pPr>
            <a:r>
              <a:rPr b="1" i="0" lang="en-US" sz="1300" u="none" cap="none" strike="noStrike">
                <a:solidFill>
                  <a:srgbClr val="FFFFFF"/>
                </a:solidFill>
                <a:latin typeface="Cabin"/>
                <a:ea typeface="Cabin"/>
                <a:cs typeface="Cabin"/>
                <a:sym typeface="Cabin"/>
              </a:rPr>
              <a:t>Key insight:</a:t>
            </a:r>
            <a:r>
              <a:rPr b="0" i="0" lang="en-US" sz="1300" u="none" cap="none" strike="noStrike">
                <a:solidFill>
                  <a:srgbClr val="FFFFFF"/>
                </a:solidFill>
                <a:latin typeface="Cabin"/>
                <a:ea typeface="Cabin"/>
                <a:cs typeface="Cabin"/>
                <a:sym typeface="Cabin"/>
              </a:rPr>
              <a:t> Kani performs </a:t>
            </a:r>
            <a:r>
              <a:rPr b="0" i="1" lang="en-US" sz="1300" u="none" cap="none" strike="noStrike">
                <a:solidFill>
                  <a:srgbClr val="FFFFFF"/>
                </a:solidFill>
                <a:latin typeface="Cabin"/>
                <a:ea typeface="Cabin"/>
                <a:cs typeface="Cabin"/>
                <a:sym typeface="Cabin"/>
              </a:rPr>
              <a:t>exhaustive</a:t>
            </a:r>
            <a:r>
              <a:rPr b="0" i="0" lang="en-US" sz="1300" u="none" cap="none" strike="noStrike">
                <a:solidFill>
                  <a:srgbClr val="FFFFFF"/>
                </a:solidFill>
                <a:latin typeface="Cabin"/>
                <a:ea typeface="Cabin"/>
                <a:cs typeface="Cabin"/>
                <a:sym typeface="Cabin"/>
              </a:rPr>
              <a:t> mathematical verification — not random sampling. If no counterexample exists across all valid paths, the property is guaranteed to hold.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8"/>
          <p:cNvSpPr/>
          <p:nvPr/>
        </p:nvSpPr>
        <p:spPr>
          <a:xfrm>
            <a:off x="698086" y="548580"/>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Kani Implementation:</a:t>
            </a:r>
            <a:endParaRPr b="0" i="0" sz="3650" u="none" cap="none" strike="noStrike">
              <a:solidFill>
                <a:schemeClr val="dk1"/>
              </a:solidFill>
              <a:latin typeface="Calibri"/>
              <a:ea typeface="Calibri"/>
              <a:cs typeface="Calibri"/>
              <a:sym typeface="Calibri"/>
            </a:endParaRPr>
          </a:p>
        </p:txBody>
      </p:sp>
      <p:sp>
        <p:nvSpPr>
          <p:cNvPr id="459" name="Google Shape;459;p38"/>
          <p:cNvSpPr/>
          <p:nvPr/>
        </p:nvSpPr>
        <p:spPr>
          <a:xfrm>
            <a:off x="698086" y="1534220"/>
            <a:ext cx="10795524"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The implementation of a formal model verification with Kani is based on verifying specific properties to ensure robustness and correctness of the FSM analyzed. We can make this by using two very important functions:</a:t>
            </a:r>
            <a:endParaRPr b="0" i="0" sz="1550" u="none" cap="none" strike="noStrike">
              <a:solidFill>
                <a:schemeClr val="dk1"/>
              </a:solidFill>
              <a:latin typeface="Calibri"/>
              <a:ea typeface="Calibri"/>
              <a:cs typeface="Calibri"/>
              <a:sym typeface="Calibri"/>
            </a:endParaRPr>
          </a:p>
        </p:txBody>
      </p:sp>
      <p:sp>
        <p:nvSpPr>
          <p:cNvPr id="460" name="Google Shape;460;p38"/>
          <p:cNvSpPr/>
          <p:nvPr/>
        </p:nvSpPr>
        <p:spPr>
          <a:xfrm>
            <a:off x="698086" y="2396927"/>
            <a:ext cx="10795524" cy="963910"/>
          </a:xfrm>
          <a:prstGeom prst="rect">
            <a:avLst/>
          </a:prstGeom>
          <a:noFill/>
          <a:ln>
            <a:noFill/>
          </a:ln>
        </p:spPr>
        <p:txBody>
          <a:bodyPr anchorCtr="0" anchor="t" bIns="0" lIns="0" spcFirstLastPara="1" rIns="0" wrap="square" tIns="79775">
            <a:noAutofit/>
          </a:bodyPr>
          <a:lstStyle/>
          <a:p>
            <a:pPr indent="0" lvl="0" marL="0" marR="0" rtl="0" algn="l">
              <a:lnSpc>
                <a:spcPct val="133000"/>
              </a:lnSpc>
              <a:spcBef>
                <a:spcPts val="0"/>
              </a:spcBef>
              <a:spcAft>
                <a:spcPts val="0"/>
              </a:spcAft>
              <a:buClr>
                <a:srgbClr val="CAD6DE"/>
              </a:buClr>
              <a:buSzPts val="1550"/>
              <a:buFont typeface="Cabin"/>
              <a:buNone/>
            </a:pPr>
            <a:r>
              <a:rPr b="1" i="0" lang="en-US" sz="1550" u="none" cap="none" strike="noStrike">
                <a:solidFill>
                  <a:srgbClr val="CAD6DE"/>
                </a:solidFill>
                <a:latin typeface="Cabin"/>
                <a:ea typeface="Cabin"/>
                <a:cs typeface="Cabin"/>
                <a:sym typeface="Cabin"/>
              </a:rPr>
              <a:t>kani::assume</a:t>
            </a:r>
            <a:r>
              <a:rPr b="0" i="0" lang="en-US" sz="1550" u="none" cap="none" strike="noStrike">
                <a:solidFill>
                  <a:srgbClr val="CAD6DE"/>
                </a:solidFill>
                <a:latin typeface="Cabin"/>
                <a:ea typeface="Cabin"/>
                <a:cs typeface="Cabin"/>
                <a:sym typeface="Cabin"/>
              </a:rPr>
              <a:t> — Defines valid pre-conditions of the system in formal logic. It tells Kani to consider only sensible initial configurations (e.g., if the starting state is </a:t>
            </a:r>
            <a:r>
              <a:rPr b="0" i="0" lang="en-US" sz="1550" u="none" cap="none" strike="noStrike">
                <a:solidFill>
                  <a:srgbClr val="CAD6DE"/>
                </a:solidFill>
                <a:highlight>
                  <a:srgbClr val="1E3543"/>
                </a:highlight>
                <a:latin typeface="Consolas"/>
                <a:ea typeface="Consolas"/>
                <a:cs typeface="Consolas"/>
                <a:sym typeface="Consolas"/>
              </a:rPr>
              <a:t>Unregistered</a:t>
            </a:r>
            <a:r>
              <a:rPr b="0" i="0" lang="en-US" sz="1550" u="none" cap="none" strike="noStrike">
                <a:solidFill>
                  <a:srgbClr val="CAD6DE"/>
                </a:solidFill>
                <a:latin typeface="Cabin"/>
                <a:ea typeface="Cabin"/>
                <a:cs typeface="Cabin"/>
                <a:sym typeface="Cabin"/>
              </a:rPr>
              <a:t> or </a:t>
            </a:r>
            <a:r>
              <a:rPr b="0" i="0" lang="en-US" sz="1550" u="none" cap="none" strike="noStrike">
                <a:solidFill>
                  <a:srgbClr val="CAD6DE"/>
                </a:solidFill>
                <a:highlight>
                  <a:srgbClr val="1E3543"/>
                </a:highlight>
                <a:latin typeface="Consolas"/>
                <a:ea typeface="Consolas"/>
                <a:cs typeface="Consolas"/>
                <a:sym typeface="Consolas"/>
              </a:rPr>
              <a:t>Failed</a:t>
            </a:r>
            <a:r>
              <a:rPr b="0" i="0" lang="en-US" sz="1550" u="none" cap="none" strike="noStrike">
                <a:solidFill>
                  <a:srgbClr val="CAD6DE"/>
                </a:solidFill>
                <a:latin typeface="Cabin"/>
                <a:ea typeface="Cabin"/>
                <a:cs typeface="Cabin"/>
                <a:sym typeface="Cabin"/>
              </a:rPr>
              <a:t>, assume initial role S2 is </a:t>
            </a:r>
            <a:r>
              <a:rPr b="0" i="0" lang="en-US" sz="1550" u="none" cap="none" strike="noStrike">
                <a:solidFill>
                  <a:srgbClr val="CAD6DE"/>
                </a:solidFill>
                <a:highlight>
                  <a:srgbClr val="1E3543"/>
                </a:highlight>
                <a:latin typeface="Consolas"/>
                <a:ea typeface="Consolas"/>
                <a:cs typeface="Consolas"/>
                <a:sym typeface="Consolas"/>
              </a:rPr>
              <a:t>None</a:t>
            </a:r>
            <a:r>
              <a:rPr b="0" i="0" lang="en-US" sz="1550" u="none" cap="none" strike="noStrike">
                <a:solidFill>
                  <a:srgbClr val="CAD6DE"/>
                </a:solidFill>
                <a:latin typeface="Cabin"/>
                <a:ea typeface="Cabin"/>
                <a:cs typeface="Cabin"/>
                <a:sym typeface="Cabin"/>
              </a:rPr>
              <a:t>). This ensures states always start from valid starting conditions.</a:t>
            </a:r>
            <a:endParaRPr b="0" i="0" sz="1550" u="none" cap="none" strike="noStrike">
              <a:solidFill>
                <a:schemeClr val="dk1"/>
              </a:solidFill>
              <a:latin typeface="Calibri"/>
              <a:ea typeface="Calibri"/>
              <a:cs typeface="Calibri"/>
              <a:sym typeface="Calibri"/>
            </a:endParaRPr>
          </a:p>
        </p:txBody>
      </p:sp>
      <p:pic>
        <p:nvPicPr>
          <p:cNvPr descr="preencoded.png" id="461" name="Google Shape;461;p38"/>
          <p:cNvPicPr preferRelativeResize="0"/>
          <p:nvPr/>
        </p:nvPicPr>
        <p:blipFill rotWithShape="1">
          <a:blip r:embed="rId3">
            <a:alphaModFix/>
          </a:blip>
          <a:srcRect b="0" l="0" r="0" t="0"/>
          <a:stretch/>
        </p:blipFill>
        <p:spPr>
          <a:xfrm>
            <a:off x="698086" y="3585170"/>
            <a:ext cx="10795524" cy="1502668"/>
          </a:xfrm>
          <a:prstGeom prst="rect">
            <a:avLst/>
          </a:prstGeom>
          <a:noFill/>
          <a:ln>
            <a:noFill/>
          </a:ln>
        </p:spPr>
      </p:pic>
      <p:sp>
        <p:nvSpPr>
          <p:cNvPr id="462" name="Google Shape;462;p38"/>
          <p:cNvSpPr/>
          <p:nvPr/>
        </p:nvSpPr>
        <p:spPr>
          <a:xfrm>
            <a:off x="698086" y="5312172"/>
            <a:ext cx="10795524"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This is an example of how to use </a:t>
            </a:r>
            <a:r>
              <a:rPr b="1" i="0" lang="en-US" sz="1550" u="none" cap="none" strike="noStrike">
                <a:solidFill>
                  <a:srgbClr val="CAD6DE"/>
                </a:solidFill>
                <a:latin typeface="Cabin"/>
                <a:ea typeface="Cabin"/>
                <a:cs typeface="Cabin"/>
                <a:sym typeface="Cabin"/>
              </a:rPr>
              <a:t>kani::assume</a:t>
            </a:r>
            <a:r>
              <a:rPr b="0" i="0" lang="en-US" sz="1550" u="none" cap="none" strike="noStrike">
                <a:solidFill>
                  <a:srgbClr val="CAD6DE"/>
                </a:solidFill>
                <a:latin typeface="Cabin"/>
                <a:ea typeface="Cabin"/>
                <a:cs typeface="Cabin"/>
                <a:sym typeface="Cabin"/>
              </a:rPr>
              <a:t>, here I'm using it to make an assumption in the block of code used to prove the property of </a:t>
            </a:r>
            <a:r>
              <a:rPr b="1" i="0" lang="en-US" sz="1550" u="none" cap="none" strike="noStrike">
                <a:solidFill>
                  <a:srgbClr val="CAD6DE"/>
                </a:solidFill>
                <a:latin typeface="Cabin"/>
                <a:ea typeface="Cabin"/>
                <a:cs typeface="Cabin"/>
                <a:sym typeface="Cabin"/>
              </a:rPr>
              <a:t>Inactive role invariant </a:t>
            </a:r>
            <a:r>
              <a:rPr b="0" i="0" lang="en-US" sz="1550" u="none" cap="none" strike="noStrike">
                <a:solidFill>
                  <a:srgbClr val="CAD6DE"/>
                </a:solidFill>
                <a:latin typeface="Cabin"/>
                <a:ea typeface="Cabin"/>
                <a:cs typeface="Cabin"/>
                <a:sym typeface="Cabin"/>
              </a:rPr>
              <a:t>(Harnesses verification function in the code)</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9"/>
          <p:cNvSpPr/>
          <p:nvPr/>
        </p:nvSpPr>
        <p:spPr>
          <a:xfrm>
            <a:off x="698086" y="548580"/>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Kani Implementation:</a:t>
            </a:r>
            <a:endParaRPr b="0" i="0" sz="3650" u="none" cap="none" strike="noStrike">
              <a:solidFill>
                <a:schemeClr val="dk1"/>
              </a:solidFill>
              <a:latin typeface="Calibri"/>
              <a:ea typeface="Calibri"/>
              <a:cs typeface="Calibri"/>
              <a:sym typeface="Calibri"/>
            </a:endParaRPr>
          </a:p>
        </p:txBody>
      </p:sp>
      <p:sp>
        <p:nvSpPr>
          <p:cNvPr id="469" name="Google Shape;469;p39"/>
          <p:cNvSpPr/>
          <p:nvPr/>
        </p:nvSpPr>
        <p:spPr>
          <a:xfrm>
            <a:off x="698086" y="1534220"/>
            <a:ext cx="10795524" cy="963910"/>
          </a:xfrm>
          <a:prstGeom prst="rect">
            <a:avLst/>
          </a:prstGeom>
          <a:noFill/>
          <a:ln>
            <a:noFill/>
          </a:ln>
        </p:spPr>
        <p:txBody>
          <a:bodyPr anchorCtr="0" anchor="t" bIns="0" lIns="0" spcFirstLastPara="1" rIns="0" wrap="square" tIns="79775">
            <a:noAutofit/>
          </a:bodyPr>
          <a:lstStyle/>
          <a:p>
            <a:pPr indent="0" lvl="0" marL="0" marR="0" rtl="0" algn="l">
              <a:lnSpc>
                <a:spcPct val="133000"/>
              </a:lnSpc>
              <a:spcBef>
                <a:spcPts val="0"/>
              </a:spcBef>
              <a:spcAft>
                <a:spcPts val="0"/>
              </a:spcAft>
              <a:buClr>
                <a:srgbClr val="CAD6DE"/>
              </a:buClr>
              <a:buSzPts val="1550"/>
              <a:buFont typeface="Cabin"/>
              <a:buNone/>
            </a:pPr>
            <a:r>
              <a:rPr b="1" i="0" lang="en-US" sz="1550" u="none" cap="none" strike="noStrike">
                <a:solidFill>
                  <a:srgbClr val="CAD6DE"/>
                </a:solidFill>
                <a:latin typeface="Cabin"/>
                <a:ea typeface="Cabin"/>
                <a:cs typeface="Cabin"/>
                <a:sym typeface="Cabin"/>
              </a:rPr>
              <a:t>kani::assert</a:t>
            </a:r>
            <a:r>
              <a:rPr b="0" i="0" lang="en-US" sz="1550" u="none" cap="none" strike="noStrike">
                <a:solidFill>
                  <a:srgbClr val="CAD6DE"/>
                </a:solidFill>
                <a:latin typeface="Cabin"/>
                <a:ea typeface="Cabin"/>
                <a:cs typeface="Cabin"/>
                <a:sym typeface="Cabin"/>
              </a:rPr>
              <a:t> — Defines the safety property to be proven. It tells Kani to mathematically verify a specific condition (e.g., after applying an event, if the new state S1 is </a:t>
            </a:r>
            <a:r>
              <a:rPr b="0" i="0" lang="en-US" sz="1550" u="none" cap="none" strike="noStrike">
                <a:solidFill>
                  <a:srgbClr val="CAD6DE"/>
                </a:solidFill>
                <a:highlight>
                  <a:srgbClr val="1E3543"/>
                </a:highlight>
                <a:latin typeface="Consolas"/>
                <a:ea typeface="Consolas"/>
                <a:cs typeface="Consolas"/>
                <a:sym typeface="Consolas"/>
              </a:rPr>
              <a:t>Unregistered</a:t>
            </a:r>
            <a:r>
              <a:rPr b="0" i="0" lang="en-US" sz="1550" u="none" cap="none" strike="noStrike">
                <a:solidFill>
                  <a:srgbClr val="CAD6DE"/>
                </a:solidFill>
                <a:latin typeface="Cabin"/>
                <a:ea typeface="Cabin"/>
                <a:cs typeface="Cabin"/>
                <a:sym typeface="Cabin"/>
              </a:rPr>
              <a:t> or </a:t>
            </a:r>
            <a:r>
              <a:rPr b="0" i="0" lang="en-US" sz="1550" u="none" cap="none" strike="noStrike">
                <a:solidFill>
                  <a:srgbClr val="CAD6DE"/>
                </a:solidFill>
                <a:highlight>
                  <a:srgbClr val="1E3543"/>
                </a:highlight>
                <a:latin typeface="Consolas"/>
                <a:ea typeface="Consolas"/>
                <a:cs typeface="Consolas"/>
                <a:sym typeface="Consolas"/>
              </a:rPr>
              <a:t>Failed</a:t>
            </a:r>
            <a:r>
              <a:rPr b="0" i="0" lang="en-US" sz="1550" u="none" cap="none" strike="noStrike">
                <a:solidFill>
                  <a:srgbClr val="CAD6DE"/>
                </a:solidFill>
                <a:latin typeface="Cabin"/>
                <a:ea typeface="Cabin"/>
                <a:cs typeface="Cabin"/>
                <a:sym typeface="Cabin"/>
              </a:rPr>
              <a:t>, verify that role S2 is </a:t>
            </a:r>
            <a:r>
              <a:rPr b="1" i="0" lang="en-US" sz="1550" u="none" cap="none" strike="noStrike">
                <a:solidFill>
                  <a:srgbClr val="CAD6DE"/>
                </a:solidFill>
                <a:latin typeface="Cabin"/>
                <a:ea typeface="Cabin"/>
                <a:cs typeface="Cabin"/>
                <a:sym typeface="Cabin"/>
              </a:rPr>
              <a:t>mandatorily</a:t>
            </a:r>
            <a:r>
              <a:rPr b="0" i="0" lang="en-US" sz="1550" u="none" cap="none" strike="noStrike">
                <a:solidFill>
                  <a:srgbClr val="CAD6DE"/>
                </a:solidFill>
                <a:latin typeface="Cabin"/>
                <a:ea typeface="Cabin"/>
                <a:cs typeface="Cabin"/>
                <a:sym typeface="Cabin"/>
              </a:rPr>
              <a:t> </a:t>
            </a:r>
            <a:r>
              <a:rPr b="0" i="0" lang="en-US" sz="1550" u="none" cap="none" strike="noStrike">
                <a:solidFill>
                  <a:srgbClr val="CAD6DE"/>
                </a:solidFill>
                <a:highlight>
                  <a:srgbClr val="1E3543"/>
                </a:highlight>
                <a:latin typeface="Consolas"/>
                <a:ea typeface="Consolas"/>
                <a:cs typeface="Consolas"/>
                <a:sym typeface="Consolas"/>
              </a:rPr>
              <a:t>None</a:t>
            </a:r>
            <a:r>
              <a:rPr b="0" i="0" lang="en-US" sz="1550" u="none" cap="none" strike="noStrike">
                <a:solidFill>
                  <a:srgbClr val="CAD6DE"/>
                </a:solidFill>
                <a:latin typeface="Cabin"/>
                <a:ea typeface="Cabin"/>
                <a:cs typeface="Cabin"/>
                <a:sym typeface="Cabin"/>
              </a:rPr>
              <a:t>). If any single event or combination of events violates this rule, Kani immediately stops and reports an error with the exact counterexample.</a:t>
            </a:r>
            <a:endParaRPr b="0" i="0" sz="1550" u="none" cap="none" strike="noStrike">
              <a:solidFill>
                <a:schemeClr val="dk1"/>
              </a:solidFill>
              <a:latin typeface="Calibri"/>
              <a:ea typeface="Calibri"/>
              <a:cs typeface="Calibri"/>
              <a:sym typeface="Calibri"/>
            </a:endParaRPr>
          </a:p>
        </p:txBody>
      </p:sp>
      <p:pic>
        <p:nvPicPr>
          <p:cNvPr descr="preencoded.png" id="470" name="Google Shape;470;p39"/>
          <p:cNvPicPr preferRelativeResize="0"/>
          <p:nvPr/>
        </p:nvPicPr>
        <p:blipFill rotWithShape="1">
          <a:blip r:embed="rId3">
            <a:alphaModFix/>
          </a:blip>
          <a:srcRect b="0" l="0" r="0" t="0"/>
          <a:stretch/>
        </p:blipFill>
        <p:spPr>
          <a:xfrm>
            <a:off x="698086" y="2722463"/>
            <a:ext cx="10795524" cy="1354832"/>
          </a:xfrm>
          <a:prstGeom prst="rect">
            <a:avLst/>
          </a:prstGeom>
          <a:noFill/>
          <a:ln>
            <a:noFill/>
          </a:ln>
        </p:spPr>
      </p:pic>
      <p:sp>
        <p:nvSpPr>
          <p:cNvPr id="471" name="Google Shape;471;p39"/>
          <p:cNvSpPr/>
          <p:nvPr/>
        </p:nvSpPr>
        <p:spPr>
          <a:xfrm>
            <a:off x="698086" y="4301629"/>
            <a:ext cx="10795524"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This is an example of how to use </a:t>
            </a:r>
            <a:r>
              <a:rPr b="1" i="0" lang="en-US" sz="1550" u="none" cap="none" strike="noStrike">
                <a:solidFill>
                  <a:srgbClr val="CAD6DE"/>
                </a:solidFill>
                <a:latin typeface="Cabin"/>
                <a:ea typeface="Cabin"/>
                <a:cs typeface="Cabin"/>
                <a:sym typeface="Cabin"/>
              </a:rPr>
              <a:t>kani::assert</a:t>
            </a:r>
            <a:r>
              <a:rPr b="0" i="0" lang="en-US" sz="1550" u="none" cap="none" strike="noStrike">
                <a:solidFill>
                  <a:srgbClr val="CAD6DE"/>
                </a:solidFill>
                <a:latin typeface="Cabin"/>
                <a:ea typeface="Cabin"/>
                <a:cs typeface="Cabin"/>
                <a:sym typeface="Cabin"/>
              </a:rPr>
              <a:t>, kani checks whether there is even a single trace/combination among the valid ones that makes the property FALSE.</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0"/>
          <p:cNvSpPr/>
          <p:nvPr/>
        </p:nvSpPr>
        <p:spPr>
          <a:xfrm>
            <a:off x="698086" y="710605"/>
            <a:ext cx="10795524" cy="52804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300"/>
              <a:buFont typeface="Unbounded"/>
              <a:buNone/>
            </a:pPr>
            <a:r>
              <a:rPr b="0" i="0" lang="en-US" sz="3300" u="none" cap="none" strike="noStrike">
                <a:solidFill>
                  <a:srgbClr val="FFFFFF"/>
                </a:solidFill>
                <a:latin typeface="Unbounded"/>
                <a:ea typeface="Unbounded"/>
                <a:cs typeface="Unbounded"/>
                <a:sym typeface="Unbounded"/>
              </a:rPr>
              <a:t>Verified Properties:</a:t>
            </a:r>
            <a:endParaRPr b="0" i="0" sz="3300" u="none" cap="none" strike="noStrike">
              <a:solidFill>
                <a:schemeClr val="dk1"/>
              </a:solidFill>
              <a:latin typeface="Calibri"/>
              <a:ea typeface="Calibri"/>
              <a:cs typeface="Calibri"/>
              <a:sym typeface="Calibri"/>
            </a:endParaRPr>
          </a:p>
        </p:txBody>
      </p:sp>
      <p:sp>
        <p:nvSpPr>
          <p:cNvPr id="478" name="Google Shape;478;p40"/>
          <p:cNvSpPr/>
          <p:nvPr/>
        </p:nvSpPr>
        <p:spPr>
          <a:xfrm>
            <a:off x="698086" y="1561802"/>
            <a:ext cx="11405108" cy="272752"/>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Located in the </a:t>
            </a:r>
            <a:r>
              <a:rPr b="1" i="0" lang="en-US" sz="1400" u="none" cap="none" strike="noStrike">
                <a:solidFill>
                  <a:srgbClr val="CAD6DE"/>
                </a:solidFill>
                <a:latin typeface="Cabin"/>
                <a:ea typeface="Cabin"/>
                <a:cs typeface="Cabin"/>
                <a:sym typeface="Cabin"/>
              </a:rPr>
              <a:t>Kani_verify/ directory</a:t>
            </a:r>
            <a:r>
              <a:rPr b="0" i="0" lang="en-US" sz="1400" u="none" cap="none" strike="noStrike">
                <a:solidFill>
                  <a:srgbClr val="CAD6DE"/>
                </a:solidFill>
                <a:latin typeface="Cabin"/>
                <a:ea typeface="Cabin"/>
                <a:cs typeface="Cabin"/>
                <a:sym typeface="Cabin"/>
              </a:rPr>
              <a:t>, proof harnesses written for the Kani model checker mathematically verify the following properties:</a:t>
            </a:r>
            <a:endParaRPr b="0" i="0" sz="1400" u="none" cap="none" strike="noStrike">
              <a:solidFill>
                <a:schemeClr val="dk1"/>
              </a:solidFill>
              <a:latin typeface="Calibri"/>
              <a:ea typeface="Calibri"/>
              <a:cs typeface="Calibri"/>
              <a:sym typeface="Calibri"/>
            </a:endParaRPr>
          </a:p>
        </p:txBody>
      </p:sp>
      <p:graphicFrame>
        <p:nvGraphicFramePr>
          <p:cNvPr id="479" name="Google Shape;479;p40"/>
          <p:cNvGraphicFramePr/>
          <p:nvPr/>
        </p:nvGraphicFramePr>
        <p:xfrm>
          <a:off x="698086" y="2016323"/>
          <a:ext cx="3000000" cy="3000000"/>
        </p:xfrm>
        <a:graphic>
          <a:graphicData uri="http://schemas.openxmlformats.org/drawingml/2006/table">
            <a:tbl>
              <a:tblPr>
                <a:noFill/>
                <a:tableStyleId>{07F727DA-F923-405E-B322-1FDDD4D9E247}</a:tableStyleId>
              </a:tblPr>
              <a:tblGrid>
                <a:gridCol w="2698875"/>
                <a:gridCol w="4318200"/>
                <a:gridCol w="3778425"/>
              </a:tblGrid>
              <a:tr h="482500">
                <a:tc>
                  <a:txBody>
                    <a:bodyPr/>
                    <a:lstStyle/>
                    <a:p>
                      <a:pPr indent="0" lvl="0" marL="0" marR="0" rtl="0" algn="l">
                        <a:spcBef>
                          <a:spcPts val="0"/>
                        </a:spcBef>
                        <a:spcAft>
                          <a:spcPts val="0"/>
                        </a:spcAft>
                        <a:buClr>
                          <a:srgbClr val="CAD6DE"/>
                        </a:buClr>
                        <a:buSzPts val="1400"/>
                        <a:buFont typeface="Cabin"/>
                        <a:buNone/>
                      </a:pPr>
                      <a:r>
                        <a:rPr b="1" lang="en-US" sz="1400" u="none" cap="none" strike="noStrike">
                          <a:solidFill>
                            <a:srgbClr val="CAD6DE"/>
                          </a:solidFill>
                          <a:latin typeface="Cabin"/>
                          <a:ea typeface="Cabin"/>
                          <a:cs typeface="Cabin"/>
                          <a:sym typeface="Cabin"/>
                        </a:rPr>
                        <a:t>Property</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400"/>
                        <a:buFont typeface="Cabin"/>
                        <a:buNone/>
                      </a:pPr>
                      <a:r>
                        <a:rPr b="1" lang="en-US" sz="1400" u="none" cap="none" strike="noStrike">
                          <a:solidFill>
                            <a:srgbClr val="CAD6DE"/>
                          </a:solidFill>
                          <a:latin typeface="Cabin"/>
                          <a:ea typeface="Cabin"/>
                          <a:cs typeface="Cabin"/>
                          <a:sym typeface="Cabin"/>
                        </a:rPr>
                        <a:t>Description</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400"/>
                        <a:buFont typeface="Cabin"/>
                        <a:buNone/>
                      </a:pPr>
                      <a:r>
                        <a:rPr b="1" lang="en-US" sz="1400" u="none" cap="none" strike="noStrike">
                          <a:solidFill>
                            <a:srgbClr val="CAD6DE"/>
                          </a:solidFill>
                          <a:latin typeface="Cabin"/>
                          <a:ea typeface="Cabin"/>
                          <a:cs typeface="Cabin"/>
                          <a:sym typeface="Cabin"/>
                        </a:rPr>
                        <a:t>Significance</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1031150">
                <a:tc>
                  <a:txBody>
                    <a:bodyPr/>
                    <a:lstStyle/>
                    <a:p>
                      <a:pPr indent="0" lvl="0" marL="0" marR="0" rtl="0" algn="l">
                        <a:spcBef>
                          <a:spcPts val="0"/>
                        </a:spcBef>
                        <a:spcAft>
                          <a:spcPts val="0"/>
                        </a:spcAft>
                        <a:buClr>
                          <a:srgbClr val="CAD6DE"/>
                        </a:buClr>
                        <a:buSzPts val="1400"/>
                        <a:buFont typeface="Cabin"/>
                        <a:buNone/>
                      </a:pPr>
                      <a:r>
                        <a:rPr b="1" lang="en-US" sz="1400" u="none" cap="none" strike="noStrike">
                          <a:solidFill>
                            <a:srgbClr val="CAD6DE"/>
                          </a:solidFill>
                          <a:latin typeface="Cabin"/>
                          <a:ea typeface="Cabin"/>
                          <a:cs typeface="Cabin"/>
                          <a:sym typeface="Cabin"/>
                        </a:rPr>
                        <a:t>Inactive Role Invariant</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400"/>
                        <a:buFont typeface="Cabin"/>
                        <a:buNone/>
                      </a:pPr>
                      <a:r>
                        <a:rPr lang="en-US" sz="1400" u="none" cap="none" strike="noStrike">
                          <a:solidFill>
                            <a:srgbClr val="CAD6DE"/>
                          </a:solidFill>
                          <a:latin typeface="Cabin"/>
                          <a:ea typeface="Cabin"/>
                          <a:cs typeface="Cabin"/>
                          <a:sym typeface="Cabin"/>
                        </a:rPr>
                        <a:t>An Unregistered or Failed drone must ALWAYS have S2 = None.</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400"/>
                        <a:buFont typeface="Cabin"/>
                        <a:buNone/>
                      </a:pPr>
                      <a:r>
                        <a:rPr lang="en-US" sz="1400" u="none" cap="none" strike="noStrike">
                          <a:solidFill>
                            <a:srgbClr val="CAD6DE"/>
                          </a:solidFill>
                          <a:latin typeface="Cabin"/>
                          <a:ea typeface="Cabin"/>
                          <a:cs typeface="Cabin"/>
                          <a:sym typeface="Cabin"/>
                        </a:rPr>
                        <a:t>Ensures that drones without operational status cannot hold any swarm role, preventing invalid state combinations.</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1303900">
                <a:tc>
                  <a:txBody>
                    <a:bodyPr/>
                    <a:lstStyle/>
                    <a:p>
                      <a:pPr indent="0" lvl="0" marL="0" marR="0" rtl="0" algn="l">
                        <a:spcBef>
                          <a:spcPts val="0"/>
                        </a:spcBef>
                        <a:spcAft>
                          <a:spcPts val="0"/>
                        </a:spcAft>
                        <a:buClr>
                          <a:srgbClr val="CAD6DE"/>
                        </a:buClr>
                        <a:buSzPts val="1400"/>
                        <a:buFont typeface="Cabin"/>
                        <a:buNone/>
                      </a:pPr>
                      <a:r>
                        <a:rPr b="1" lang="en-US" sz="1400" u="none" cap="none" strike="noStrike">
                          <a:solidFill>
                            <a:srgbClr val="CAD6DE"/>
                          </a:solidFill>
                          <a:latin typeface="Cabin"/>
                          <a:ea typeface="Cabin"/>
                          <a:cs typeface="Cabin"/>
                          <a:sym typeface="Cabin"/>
                        </a:rPr>
                        <a:t>Suspected Role Preservation</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400"/>
                        <a:buFont typeface="Cabin"/>
                        <a:buNone/>
                      </a:pPr>
                      <a:r>
                        <a:rPr lang="en-US" sz="1400" u="none" cap="none" strike="noStrike">
                          <a:solidFill>
                            <a:srgbClr val="CAD6DE"/>
                          </a:solidFill>
                          <a:latin typeface="Cabin"/>
                          <a:ea typeface="Cabin"/>
                          <a:cs typeface="Cabin"/>
                          <a:sym typeface="Cabin"/>
                        </a:rPr>
                        <a:t>Entering Suspected or recovering back to Active preserves the S2 role unchanged.</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400"/>
                        <a:buFont typeface="Cabin"/>
                        <a:buNone/>
                      </a:pPr>
                      <a:r>
                        <a:rPr lang="en-US" sz="1400" u="none" cap="none" strike="noStrike">
                          <a:solidFill>
                            <a:srgbClr val="CAD6DE"/>
                          </a:solidFill>
                          <a:latin typeface="Cabin"/>
                          <a:ea typeface="Cabin"/>
                          <a:cs typeface="Cabin"/>
                          <a:sym typeface="Cabin"/>
                        </a:rPr>
                        <a:t>Guarantees that temporary health degradation does not affect role assignment, maintaining swarm structure during transient failures.</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r h="1300725">
                <a:tc>
                  <a:txBody>
                    <a:bodyPr/>
                    <a:lstStyle/>
                    <a:p>
                      <a:pPr indent="0" lvl="0" marL="0" marR="0" rtl="0" algn="l">
                        <a:spcBef>
                          <a:spcPts val="0"/>
                        </a:spcBef>
                        <a:spcAft>
                          <a:spcPts val="0"/>
                        </a:spcAft>
                        <a:buClr>
                          <a:srgbClr val="CAD6DE"/>
                        </a:buClr>
                        <a:buSzPts val="1400"/>
                        <a:buFont typeface="Cabin"/>
                        <a:buNone/>
                      </a:pPr>
                      <a:r>
                        <a:rPr b="1" lang="en-US" sz="1400" u="none" cap="none" strike="noStrike">
                          <a:solidFill>
                            <a:srgbClr val="CAD6DE"/>
                          </a:solidFill>
                          <a:latin typeface="Cabin"/>
                          <a:ea typeface="Cabin"/>
                          <a:cs typeface="Cabin"/>
                          <a:sym typeface="Cabin"/>
                        </a:rPr>
                        <a:t>Single Leader &amp; Recovery Invariant</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400"/>
                        <a:buFont typeface="Cabin"/>
                        <a:buNone/>
                      </a:pPr>
                      <a:r>
                        <a:rPr lang="en-US" sz="1400" u="none" cap="none" strike="noStrike">
                          <a:solidFill>
                            <a:srgbClr val="CAD6DE"/>
                          </a:solidFill>
                          <a:latin typeface="Cabin"/>
                          <a:ea typeface="Cabin"/>
                          <a:cs typeface="Cabin"/>
                          <a:sym typeface="Cabin"/>
                        </a:rPr>
                        <a:t>In any valid swarm state, at most one active Leader exists. Upon Leader failure, re-election guarantees a single new Leader without violating the invariant when repaired drones rejoin.</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c>
                  <a:txBody>
                    <a:bodyPr/>
                    <a:lstStyle/>
                    <a:p>
                      <a:pPr indent="0" lvl="0" marL="0" marR="0" rtl="0" algn="l">
                        <a:spcBef>
                          <a:spcPts val="0"/>
                        </a:spcBef>
                        <a:spcAft>
                          <a:spcPts val="0"/>
                        </a:spcAft>
                        <a:buClr>
                          <a:srgbClr val="CAD6DE"/>
                        </a:buClr>
                        <a:buSzPts val="1400"/>
                        <a:buFont typeface="Cabin"/>
                        <a:buNone/>
                      </a:pPr>
                      <a:r>
                        <a:rPr lang="en-US" sz="1400" u="none" cap="none" strike="noStrike">
                          <a:solidFill>
                            <a:srgbClr val="CAD6DE"/>
                          </a:solidFill>
                          <a:latin typeface="Cabin"/>
                          <a:ea typeface="Cabin"/>
                          <a:cs typeface="Cabin"/>
                          <a:sym typeface="Cabin"/>
                        </a:rPr>
                        <a:t>Ensures swarm coordinat</a:t>
                      </a:r>
                      <a:r>
                        <a:rPr lang="en-US">
                          <a:solidFill>
                            <a:srgbClr val="CAD6DE"/>
                          </a:solidFill>
                          <a:latin typeface="Cabin"/>
                          <a:ea typeface="Cabin"/>
                          <a:cs typeface="Cabin"/>
                          <a:sym typeface="Cabin"/>
                        </a:rPr>
                        <a:t>or has one leader and shows that recovery re-election is never triggered prematurely before the 10-second no-heartbeat bound is exceeded.</a:t>
                      </a:r>
                      <a:endParaRPr sz="1400" u="none" cap="none" strike="noStrike">
                        <a:latin typeface="Cabin"/>
                        <a:ea typeface="Cabin"/>
                        <a:cs typeface="Cabin"/>
                        <a:sym typeface="Cabin"/>
                      </a:endParaRPr>
                    </a:p>
                  </a:txBody>
                  <a:tcPr marT="6350" marB="6350" marR="179525" marL="179525" anchor="ctr">
                    <a:lnL cap="flat" cmpd="sng" w="12700">
                      <a:solidFill>
                        <a:srgbClr val="4A5C66"/>
                      </a:solidFill>
                      <a:prstDash val="solid"/>
                      <a:round/>
                      <a:headEnd len="sm" w="sm" type="none"/>
                      <a:tailEnd len="sm" w="sm" type="none"/>
                    </a:lnL>
                    <a:lnR cap="flat" cmpd="sng" w="12700">
                      <a:solidFill>
                        <a:srgbClr val="4A5C66"/>
                      </a:solidFill>
                      <a:prstDash val="solid"/>
                      <a:round/>
                      <a:headEnd len="sm" w="sm" type="none"/>
                      <a:tailEnd len="sm" w="sm" type="none"/>
                    </a:lnR>
                    <a:lnT cap="flat" cmpd="sng" w="12700">
                      <a:solidFill>
                        <a:srgbClr val="4A5C66"/>
                      </a:solidFill>
                      <a:prstDash val="solid"/>
                      <a:round/>
                      <a:headEnd len="sm" w="sm" type="none"/>
                      <a:tailEnd len="sm" w="sm" type="none"/>
                    </a:lnT>
                    <a:lnB cap="flat" cmpd="sng" w="12700">
                      <a:solidFill>
                        <a:srgbClr val="4A5C66"/>
                      </a:solidFill>
                      <a:prstDash val="solid"/>
                      <a:round/>
                      <a:headEnd len="sm" w="sm" type="none"/>
                      <a:tailEnd len="sm" w="sm" type="none"/>
                    </a:lnB>
                    <a:solidFill>
                      <a:srgbClr val="112836"/>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descr="preencoded.png" id="485" name="Google Shape;485;p41"/>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486" name="Google Shape;486;p41"/>
          <p:cNvSpPr/>
          <p:nvPr/>
        </p:nvSpPr>
        <p:spPr>
          <a:xfrm>
            <a:off x="5269971" y="2080220"/>
            <a:ext cx="6223638" cy="176004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lang="en-US" sz="3650">
                <a:solidFill>
                  <a:srgbClr val="FFFFFF"/>
                </a:solidFill>
                <a:latin typeface="Unbounded"/>
                <a:ea typeface="Unbounded"/>
                <a:cs typeface="Unbounded"/>
                <a:sym typeface="Unbounded"/>
              </a:rPr>
              <a:t>Drone Agent Implementation</a:t>
            </a:r>
            <a:endParaRPr b="0" i="0" sz="3650" u="none" cap="none" strike="noStrike">
              <a:solidFill>
                <a:schemeClr val="dk1"/>
              </a:solidFill>
              <a:latin typeface="Calibri"/>
              <a:ea typeface="Calibri"/>
              <a:cs typeface="Calibri"/>
              <a:sym typeface="Calibri"/>
            </a:endParaRPr>
          </a:p>
        </p:txBody>
      </p:sp>
      <p:sp>
        <p:nvSpPr>
          <p:cNvPr id="487" name="Google Shape;487;p41"/>
          <p:cNvSpPr/>
          <p:nvPr/>
        </p:nvSpPr>
        <p:spPr>
          <a:xfrm>
            <a:off x="5269971" y="4139406"/>
            <a:ext cx="6223638"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A988B"/>
              </a:buClr>
              <a:buSzPts val="1550"/>
              <a:buFont typeface="Cabin"/>
              <a:buNone/>
            </a:pPr>
            <a:r>
              <a:rPr b="0" i="0" lang="en-US" sz="1550" u="none" cap="none" strike="noStrike">
                <a:solidFill>
                  <a:srgbClr val="0A988B"/>
                </a:solidFill>
                <a:latin typeface="Cabin"/>
                <a:ea typeface="Cabin"/>
                <a:cs typeface="Cabin"/>
                <a:sym typeface="Cabin"/>
              </a:rPr>
              <a:t>Drones</a:t>
            </a:r>
            <a:r>
              <a:rPr lang="en-US" sz="1550">
                <a:solidFill>
                  <a:srgbClr val="0A988B"/>
                </a:solidFill>
                <a:latin typeface="Cabin"/>
                <a:ea typeface="Cabin"/>
                <a:cs typeface="Cabin"/>
                <a:sym typeface="Cabin"/>
              </a:rPr>
              <a:t> </a:t>
            </a:r>
            <a:r>
              <a:rPr b="0" i="0" lang="en-US" sz="1550" u="none" cap="none" strike="noStrike">
                <a:solidFill>
                  <a:srgbClr val="CAD6DE"/>
                </a:solidFill>
                <a:latin typeface="Cabin"/>
                <a:ea typeface="Cabin"/>
                <a:cs typeface="Cabin"/>
                <a:sym typeface="Cabin"/>
              </a:rPr>
              <a:t>— Each drone agent is an independent </a:t>
            </a:r>
            <a:r>
              <a:rPr lang="en-US" sz="1550">
                <a:solidFill>
                  <a:srgbClr val="CAD6DE"/>
                </a:solidFill>
                <a:latin typeface="Cabin"/>
                <a:ea typeface="Cabin"/>
                <a:cs typeface="Cabin"/>
                <a:sym typeface="Cabin"/>
              </a:rPr>
              <a:t>component</a:t>
            </a:r>
            <a:r>
              <a:rPr b="0" i="0" lang="en-US" sz="1550" u="none" cap="none" strike="noStrike">
                <a:solidFill>
                  <a:srgbClr val="CAD6DE"/>
                </a:solidFill>
                <a:latin typeface="Cabin"/>
                <a:ea typeface="Cabin"/>
                <a:cs typeface="Cabin"/>
                <a:sym typeface="Cabin"/>
              </a:rPr>
              <a:t> communicating via asynchronous messages</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2"/>
          <p:cNvSpPr/>
          <p:nvPr/>
        </p:nvSpPr>
        <p:spPr>
          <a:xfrm>
            <a:off x="698086" y="336905"/>
            <a:ext cx="10795500" cy="357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50"/>
              <a:buFont typeface="Unbounded"/>
              <a:buNone/>
            </a:pPr>
            <a:r>
              <a:rPr b="0" i="0" lang="en-US" sz="2250" u="none" cap="none" strike="noStrike">
                <a:solidFill>
                  <a:srgbClr val="FFFFFF"/>
                </a:solidFill>
                <a:latin typeface="Unbounded"/>
                <a:ea typeface="Unbounded"/>
                <a:cs typeface="Unbounded"/>
                <a:sym typeface="Unbounded"/>
              </a:rPr>
              <a:t>Drone Agent Architecture:</a:t>
            </a:r>
            <a:endParaRPr b="0" i="0" sz="2250" u="none" cap="none" strike="noStrike">
              <a:solidFill>
                <a:schemeClr val="dk1"/>
              </a:solidFill>
              <a:latin typeface="Calibri"/>
              <a:ea typeface="Calibri"/>
              <a:cs typeface="Calibri"/>
              <a:sym typeface="Calibri"/>
            </a:endParaRPr>
          </a:p>
        </p:txBody>
      </p:sp>
      <p:sp>
        <p:nvSpPr>
          <p:cNvPr id="494" name="Google Shape;494;p42"/>
          <p:cNvSpPr/>
          <p:nvPr/>
        </p:nvSpPr>
        <p:spPr>
          <a:xfrm>
            <a:off x="698075" y="805425"/>
            <a:ext cx="11251500" cy="593100"/>
          </a:xfrm>
          <a:prstGeom prst="rect">
            <a:avLst/>
          </a:prstGeom>
          <a:noFill/>
          <a:ln>
            <a:noFill/>
          </a:ln>
        </p:spPr>
        <p:txBody>
          <a:bodyPr anchorCtr="0" anchor="t" bIns="0" lIns="0" spcFirstLastPara="1" rIns="0" wrap="square" tIns="0">
            <a:noAutofit/>
          </a:bodyPr>
          <a:lstStyle/>
          <a:p>
            <a:pPr indent="0" lvl="0" marL="0" marR="0" rtl="0" algn="l">
              <a:lnSpc>
                <a:spcPct val="107000"/>
              </a:lnSpc>
              <a:spcBef>
                <a:spcPts val="0"/>
              </a:spcBef>
              <a:spcAft>
                <a:spcPts val="0"/>
              </a:spcAft>
              <a:buClr>
                <a:srgbClr val="CAD6DE"/>
              </a:buClr>
              <a:buSzPts val="1150"/>
              <a:buFont typeface="Consolas"/>
              <a:buNone/>
            </a:pPr>
            <a:r>
              <a:rPr b="0" i="0" lang="en-US" sz="1150" u="none" cap="none" strike="noStrike">
                <a:solidFill>
                  <a:srgbClr val="CAD6DE"/>
                </a:solidFill>
                <a:highlight>
                  <a:srgbClr val="1E3543"/>
                </a:highlight>
                <a:latin typeface="Consolas"/>
                <a:ea typeface="Consolas"/>
                <a:cs typeface="Consolas"/>
                <a:sym typeface="Consolas"/>
              </a:rPr>
              <a:t>drone_agent_wrapper.py</a:t>
            </a:r>
            <a:r>
              <a:rPr b="0" i="0" lang="en-US" sz="1150" u="none" cap="none" strike="noStrike">
                <a:solidFill>
                  <a:srgbClr val="CAD6DE"/>
                </a:solidFill>
                <a:latin typeface="Cabin"/>
                <a:ea typeface="Cabin"/>
                <a:cs typeface="Cabin"/>
                <a:sym typeface="Cabin"/>
              </a:rPr>
              <a:t> is the ROS 2 node (written in Python) that represents the onboard intelligence of an individual drone within the swarm. It is not the centralized coordinator, but rather the Individual Agent running inside each drone's container/process (corresponding to the Drone_1, Drone_2, ..., Drone_N blocks in the architecture diagram).</a:t>
            </a:r>
            <a:endParaRPr b="0" i="0" sz="1150" u="none" cap="none" strike="noStrike">
              <a:solidFill>
                <a:schemeClr val="dk1"/>
              </a:solidFill>
              <a:latin typeface="Calibri"/>
              <a:ea typeface="Calibri"/>
              <a:cs typeface="Calibri"/>
              <a:sym typeface="Calibri"/>
            </a:endParaRPr>
          </a:p>
        </p:txBody>
      </p:sp>
      <p:sp>
        <p:nvSpPr>
          <p:cNvPr id="495" name="Google Shape;495;p42"/>
          <p:cNvSpPr/>
          <p:nvPr/>
        </p:nvSpPr>
        <p:spPr>
          <a:xfrm>
            <a:off x="698074" y="1318186"/>
            <a:ext cx="10795500" cy="285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Key Responsibilities:</a:t>
            </a:r>
            <a:endParaRPr b="0" i="0" sz="1800" u="none" cap="none" strike="noStrike">
              <a:solidFill>
                <a:schemeClr val="dk1"/>
              </a:solidFill>
              <a:latin typeface="Calibri"/>
              <a:ea typeface="Calibri"/>
              <a:cs typeface="Calibri"/>
              <a:sym typeface="Calibri"/>
            </a:endParaRPr>
          </a:p>
        </p:txBody>
      </p:sp>
      <p:pic>
        <p:nvPicPr>
          <p:cNvPr descr="preencoded.png" id="496" name="Google Shape;496;p42"/>
          <p:cNvPicPr preferRelativeResize="0"/>
          <p:nvPr/>
        </p:nvPicPr>
        <p:blipFill rotWithShape="1">
          <a:blip r:embed="rId3">
            <a:alphaModFix/>
          </a:blip>
          <a:srcRect b="0" l="0" r="0" t="0"/>
          <a:stretch/>
        </p:blipFill>
        <p:spPr>
          <a:xfrm>
            <a:off x="698074" y="1715160"/>
            <a:ext cx="10795524" cy="1136352"/>
          </a:xfrm>
          <a:prstGeom prst="rect">
            <a:avLst/>
          </a:prstGeom>
          <a:noFill/>
          <a:ln>
            <a:noFill/>
          </a:ln>
        </p:spPr>
      </p:pic>
      <p:pic>
        <p:nvPicPr>
          <p:cNvPr descr="preencoded.png" id="497" name="Google Shape;497;p42"/>
          <p:cNvPicPr preferRelativeResize="0"/>
          <p:nvPr/>
        </p:nvPicPr>
        <p:blipFill rotWithShape="1">
          <a:blip r:embed="rId4">
            <a:alphaModFix/>
          </a:blip>
          <a:srcRect b="0" l="0" r="0" t="0"/>
          <a:stretch/>
        </p:blipFill>
        <p:spPr>
          <a:xfrm>
            <a:off x="862673" y="2192204"/>
            <a:ext cx="182260" cy="182265"/>
          </a:xfrm>
          <a:prstGeom prst="rect">
            <a:avLst/>
          </a:prstGeom>
          <a:noFill/>
          <a:ln>
            <a:noFill/>
          </a:ln>
        </p:spPr>
      </p:pic>
      <p:sp>
        <p:nvSpPr>
          <p:cNvPr id="498" name="Google Shape;498;p42"/>
          <p:cNvSpPr/>
          <p:nvPr/>
        </p:nvSpPr>
        <p:spPr>
          <a:xfrm>
            <a:off x="1270947" y="1849403"/>
            <a:ext cx="10088400" cy="178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Heartbeat &amp; Registration (Telemetry)</a:t>
            </a:r>
            <a:endParaRPr b="0" i="0" sz="1100" u="none" cap="none" strike="noStrike">
              <a:solidFill>
                <a:schemeClr val="dk1"/>
              </a:solidFill>
              <a:latin typeface="Calibri"/>
              <a:ea typeface="Calibri"/>
              <a:cs typeface="Calibri"/>
              <a:sym typeface="Calibri"/>
            </a:endParaRPr>
          </a:p>
        </p:txBody>
      </p:sp>
      <p:sp>
        <p:nvSpPr>
          <p:cNvPr id="499" name="Google Shape;499;p42"/>
          <p:cNvSpPr/>
          <p:nvPr/>
        </p:nvSpPr>
        <p:spPr>
          <a:xfrm>
            <a:off x="1270947" y="2072447"/>
            <a:ext cx="10088400" cy="644700"/>
          </a:xfrm>
          <a:prstGeom prst="rect">
            <a:avLst/>
          </a:prstGeom>
          <a:noFill/>
          <a:ln>
            <a:noFill/>
          </a:ln>
        </p:spPr>
        <p:txBody>
          <a:bodyPr anchorCtr="0" anchor="t" bIns="0" lIns="0" spcFirstLastPara="1" rIns="0" wrap="square" tIns="60775">
            <a:noAutofit/>
          </a:bodyPr>
          <a:lstStyle/>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Periodically publishes the drone's online status and current coordinates</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Allows the Rust Coordinator to detect and track the drone</a:t>
            </a:r>
            <a:endParaRPr b="0" i="0" sz="1150" u="none" cap="none" strike="noStrike">
              <a:solidFill>
                <a:schemeClr val="dk1"/>
              </a:solidFill>
              <a:latin typeface="Calibri"/>
              <a:ea typeface="Calibri"/>
              <a:cs typeface="Calibri"/>
              <a:sym typeface="Calibri"/>
            </a:endParaRPr>
          </a:p>
        </p:txBody>
      </p:sp>
      <p:pic>
        <p:nvPicPr>
          <p:cNvPr descr="preencoded.png" id="500" name="Google Shape;500;p42"/>
          <p:cNvPicPr preferRelativeResize="0"/>
          <p:nvPr/>
        </p:nvPicPr>
        <p:blipFill rotWithShape="1">
          <a:blip r:embed="rId5">
            <a:alphaModFix/>
          </a:blip>
          <a:srcRect b="0" l="0" r="0" t="0"/>
          <a:stretch/>
        </p:blipFill>
        <p:spPr>
          <a:xfrm>
            <a:off x="722125" y="3759899"/>
            <a:ext cx="10795523" cy="908550"/>
          </a:xfrm>
          <a:prstGeom prst="rect">
            <a:avLst/>
          </a:prstGeom>
          <a:noFill/>
          <a:ln>
            <a:noFill/>
          </a:ln>
        </p:spPr>
      </p:pic>
      <p:pic>
        <p:nvPicPr>
          <p:cNvPr descr="preencoded.png" id="501" name="Google Shape;501;p42"/>
          <p:cNvPicPr preferRelativeResize="0"/>
          <p:nvPr/>
        </p:nvPicPr>
        <p:blipFill rotWithShape="1">
          <a:blip r:embed="rId6">
            <a:alphaModFix/>
          </a:blip>
          <a:srcRect b="0" l="0" r="0" t="0"/>
          <a:stretch/>
        </p:blipFill>
        <p:spPr>
          <a:xfrm>
            <a:off x="886735" y="3953460"/>
            <a:ext cx="182260" cy="182265"/>
          </a:xfrm>
          <a:prstGeom prst="rect">
            <a:avLst/>
          </a:prstGeom>
          <a:noFill/>
          <a:ln>
            <a:noFill/>
          </a:ln>
        </p:spPr>
      </p:pic>
      <p:sp>
        <p:nvSpPr>
          <p:cNvPr id="502" name="Google Shape;502;p42"/>
          <p:cNvSpPr/>
          <p:nvPr/>
        </p:nvSpPr>
        <p:spPr>
          <a:xfrm>
            <a:off x="1295010" y="3858159"/>
            <a:ext cx="10088400" cy="178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Local Navigation</a:t>
            </a:r>
            <a:endParaRPr b="0" i="0" sz="1100" u="none" cap="none" strike="noStrike">
              <a:solidFill>
                <a:schemeClr val="dk1"/>
              </a:solidFill>
              <a:latin typeface="Calibri"/>
              <a:ea typeface="Calibri"/>
              <a:cs typeface="Calibri"/>
              <a:sym typeface="Calibri"/>
            </a:endParaRPr>
          </a:p>
        </p:txBody>
      </p:sp>
      <p:sp>
        <p:nvSpPr>
          <p:cNvPr id="503" name="Google Shape;503;p42"/>
          <p:cNvSpPr/>
          <p:nvPr/>
        </p:nvSpPr>
        <p:spPr>
          <a:xfrm>
            <a:off x="1295000" y="3826725"/>
            <a:ext cx="10088400" cy="516900"/>
          </a:xfrm>
          <a:prstGeom prst="rect">
            <a:avLst/>
          </a:prstGeom>
          <a:noFill/>
          <a:ln>
            <a:noFill/>
          </a:ln>
        </p:spPr>
        <p:txBody>
          <a:bodyPr anchorCtr="0" anchor="t" bIns="0" lIns="0" spcFirstLastPara="1" rIns="0" wrap="square" tIns="60775">
            <a:noAutofit/>
          </a:bodyPr>
          <a:lstStyle/>
          <a:p>
            <a:pPr indent="0" lvl="0" marL="0" rtl="0" algn="l">
              <a:lnSpc>
                <a:spcPct val="110000"/>
              </a:lnSpc>
              <a:spcBef>
                <a:spcPts val="0"/>
              </a:spcBef>
              <a:spcAft>
                <a:spcPts val="0"/>
              </a:spcAft>
              <a:buNone/>
            </a:pPr>
            <a:r>
              <a:t/>
            </a:r>
            <a:endParaRPr sz="1150">
              <a:solidFill>
                <a:srgbClr val="CAD6DE"/>
              </a:solidFill>
              <a:latin typeface="Cabin"/>
              <a:ea typeface="Cabin"/>
              <a:cs typeface="Cabin"/>
              <a:sym typeface="Cabin"/>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Receives 3D target destinations (x, y, z) via </a:t>
            </a:r>
            <a:r>
              <a:rPr b="0" i="0" lang="en-US" sz="1150" u="none" cap="none" strike="noStrike">
                <a:solidFill>
                  <a:srgbClr val="CAD6DE"/>
                </a:solidFill>
                <a:highlight>
                  <a:srgbClr val="1E3543"/>
                </a:highlight>
                <a:latin typeface="Consolas"/>
                <a:ea typeface="Consolas"/>
                <a:cs typeface="Consolas"/>
                <a:sym typeface="Consolas"/>
              </a:rPr>
              <a:t>/swarm/goto</a:t>
            </a:r>
            <a:r>
              <a:rPr b="0" i="0" lang="en-US" sz="1150" u="none" cap="none" strike="noStrike">
                <a:solidFill>
                  <a:srgbClr val="CAD6DE"/>
                </a:solidFill>
                <a:latin typeface="Cabin"/>
                <a:ea typeface="Cabin"/>
                <a:cs typeface="Cabin"/>
                <a:sym typeface="Cabin"/>
              </a:rPr>
              <a:t> topic from Rust Coordinator</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Enables the drone to reach the point and perform steady hovering</a:t>
            </a:r>
            <a:endParaRPr b="0" i="0" sz="1150" u="none" cap="none" strike="noStrike">
              <a:solidFill>
                <a:schemeClr val="dk1"/>
              </a:solidFill>
              <a:latin typeface="Calibri"/>
              <a:ea typeface="Calibri"/>
              <a:cs typeface="Calibri"/>
              <a:sym typeface="Calibri"/>
            </a:endParaRPr>
          </a:p>
        </p:txBody>
      </p:sp>
      <p:pic>
        <p:nvPicPr>
          <p:cNvPr descr="preencoded.png" id="504" name="Google Shape;504;p42"/>
          <p:cNvPicPr preferRelativeResize="0"/>
          <p:nvPr/>
        </p:nvPicPr>
        <p:blipFill rotWithShape="1">
          <a:blip r:embed="rId7">
            <a:alphaModFix/>
          </a:blip>
          <a:srcRect b="0" l="0" r="0" t="0"/>
          <a:stretch/>
        </p:blipFill>
        <p:spPr>
          <a:xfrm>
            <a:off x="760636" y="4822874"/>
            <a:ext cx="10795525" cy="729357"/>
          </a:xfrm>
          <a:prstGeom prst="rect">
            <a:avLst/>
          </a:prstGeom>
          <a:noFill/>
          <a:ln>
            <a:noFill/>
          </a:ln>
        </p:spPr>
      </p:pic>
      <p:pic>
        <p:nvPicPr>
          <p:cNvPr descr="preencoded.png" id="505" name="Google Shape;505;p42"/>
          <p:cNvPicPr preferRelativeResize="0"/>
          <p:nvPr/>
        </p:nvPicPr>
        <p:blipFill rotWithShape="1">
          <a:blip r:embed="rId8">
            <a:alphaModFix/>
          </a:blip>
          <a:srcRect b="0" l="0" r="0" t="0"/>
          <a:stretch/>
        </p:blipFill>
        <p:spPr>
          <a:xfrm>
            <a:off x="925235" y="5096419"/>
            <a:ext cx="182260" cy="182265"/>
          </a:xfrm>
          <a:prstGeom prst="rect">
            <a:avLst/>
          </a:prstGeom>
          <a:noFill/>
          <a:ln>
            <a:noFill/>
          </a:ln>
        </p:spPr>
      </p:pic>
      <p:sp>
        <p:nvSpPr>
          <p:cNvPr id="506" name="Google Shape;506;p42"/>
          <p:cNvSpPr/>
          <p:nvPr/>
        </p:nvSpPr>
        <p:spPr>
          <a:xfrm>
            <a:off x="1333510" y="4957117"/>
            <a:ext cx="10088400" cy="178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3D Decentralized Obstacle Avoidance (Artificial Potential Fields - APF)</a:t>
            </a:r>
            <a:endParaRPr b="0" i="0" sz="1100" u="none" cap="none" strike="noStrike">
              <a:solidFill>
                <a:schemeClr val="dk1"/>
              </a:solidFill>
              <a:latin typeface="Calibri"/>
              <a:ea typeface="Calibri"/>
              <a:cs typeface="Calibri"/>
              <a:sym typeface="Calibri"/>
            </a:endParaRPr>
          </a:p>
        </p:txBody>
      </p:sp>
      <p:sp>
        <p:nvSpPr>
          <p:cNvPr id="507" name="Google Shape;507;p42"/>
          <p:cNvSpPr/>
          <p:nvPr/>
        </p:nvSpPr>
        <p:spPr>
          <a:xfrm>
            <a:off x="1333510" y="5180161"/>
            <a:ext cx="10088400" cy="195600"/>
          </a:xfrm>
          <a:prstGeom prst="rect">
            <a:avLst/>
          </a:prstGeom>
          <a:noFill/>
          <a:ln>
            <a:noFill/>
          </a:ln>
        </p:spPr>
        <p:txBody>
          <a:bodyPr anchorCtr="0" anchor="t" bIns="0" lIns="0" spcFirstLastPara="1" rIns="0" wrap="square" tIns="60775">
            <a:noAutofit/>
          </a:bodyPr>
          <a:lstStyle/>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Applies 3D repulsive forces to prevent collisions between neighboring drones</a:t>
            </a:r>
            <a:endParaRPr b="0" i="0" sz="1150" u="none" cap="none" strike="noStrike">
              <a:solidFill>
                <a:schemeClr val="dk1"/>
              </a:solidFill>
              <a:latin typeface="Calibri"/>
              <a:ea typeface="Calibri"/>
              <a:cs typeface="Calibri"/>
              <a:sym typeface="Calibri"/>
            </a:endParaRPr>
          </a:p>
        </p:txBody>
      </p:sp>
      <p:pic>
        <p:nvPicPr>
          <p:cNvPr descr="preencoded.png" id="508" name="Google Shape;508;p42"/>
          <p:cNvPicPr preferRelativeResize="0"/>
          <p:nvPr/>
        </p:nvPicPr>
        <p:blipFill rotWithShape="1">
          <a:blip r:embed="rId9">
            <a:alphaModFix/>
          </a:blip>
          <a:srcRect b="0" l="0" r="0" t="0"/>
          <a:stretch/>
        </p:blipFill>
        <p:spPr>
          <a:xfrm>
            <a:off x="760636" y="5669310"/>
            <a:ext cx="10795524" cy="908546"/>
          </a:xfrm>
          <a:prstGeom prst="rect">
            <a:avLst/>
          </a:prstGeom>
          <a:noFill/>
          <a:ln>
            <a:noFill/>
          </a:ln>
        </p:spPr>
      </p:pic>
      <p:pic>
        <p:nvPicPr>
          <p:cNvPr descr="preencoded.png" id="509" name="Google Shape;509;p42"/>
          <p:cNvPicPr preferRelativeResize="0"/>
          <p:nvPr/>
        </p:nvPicPr>
        <p:blipFill rotWithShape="1">
          <a:blip r:embed="rId10">
            <a:alphaModFix/>
          </a:blip>
          <a:srcRect b="0" l="0" r="0" t="0"/>
          <a:stretch/>
        </p:blipFill>
        <p:spPr>
          <a:xfrm>
            <a:off x="925235" y="6032451"/>
            <a:ext cx="182260" cy="182265"/>
          </a:xfrm>
          <a:prstGeom prst="rect">
            <a:avLst/>
          </a:prstGeom>
          <a:noFill/>
          <a:ln>
            <a:noFill/>
          </a:ln>
        </p:spPr>
      </p:pic>
      <p:sp>
        <p:nvSpPr>
          <p:cNvPr id="510" name="Google Shape;510;p42"/>
          <p:cNvSpPr/>
          <p:nvPr/>
        </p:nvSpPr>
        <p:spPr>
          <a:xfrm>
            <a:off x="1333510" y="5803553"/>
            <a:ext cx="10088400" cy="178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Layered Takeoff/Transit Strategy</a:t>
            </a:r>
            <a:endParaRPr b="0" i="0" sz="1100" u="none" cap="none" strike="noStrike">
              <a:solidFill>
                <a:schemeClr val="dk1"/>
              </a:solidFill>
              <a:latin typeface="Calibri"/>
              <a:ea typeface="Calibri"/>
              <a:cs typeface="Calibri"/>
              <a:sym typeface="Calibri"/>
            </a:endParaRPr>
          </a:p>
        </p:txBody>
      </p:sp>
      <p:sp>
        <p:nvSpPr>
          <p:cNvPr id="511" name="Google Shape;511;p42"/>
          <p:cNvSpPr/>
          <p:nvPr/>
        </p:nvSpPr>
        <p:spPr>
          <a:xfrm>
            <a:off x="1333510" y="6026597"/>
            <a:ext cx="10088400" cy="417000"/>
          </a:xfrm>
          <a:prstGeom prst="rect">
            <a:avLst/>
          </a:prstGeom>
          <a:noFill/>
          <a:ln>
            <a:noFill/>
          </a:ln>
        </p:spPr>
        <p:txBody>
          <a:bodyPr anchorCtr="0" anchor="t" bIns="0" lIns="0" spcFirstLastPara="1" rIns="0" wrap="square" tIns="60775">
            <a:noAutofit/>
          </a:bodyPr>
          <a:lstStyle/>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Manages differentiated transit altitudes (e.g., vertical ascent before horizontal movement)</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Prevents physical collisions during takeoff and formation phase</a:t>
            </a:r>
            <a:endParaRPr b="0" i="0" sz="1150" u="none" cap="none" strike="noStrike">
              <a:solidFill>
                <a:schemeClr val="dk1"/>
              </a:solidFill>
              <a:latin typeface="Calibri"/>
              <a:ea typeface="Calibri"/>
              <a:cs typeface="Calibri"/>
              <a:sym typeface="Calibri"/>
            </a:endParaRPr>
          </a:p>
        </p:txBody>
      </p:sp>
      <p:sp>
        <p:nvSpPr>
          <p:cNvPr id="512" name="Google Shape;512;p42"/>
          <p:cNvSpPr txBox="1"/>
          <p:nvPr/>
        </p:nvSpPr>
        <p:spPr>
          <a:xfrm>
            <a:off x="635513" y="3198363"/>
            <a:ext cx="10669800" cy="5886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0"/>
              </a:spcAft>
              <a:buNone/>
            </a:pPr>
            <a:r>
              <a:rPr lang="en-US" sz="1250">
                <a:solidFill>
                  <a:srgbClr val="CAD6DE"/>
                </a:solidFill>
                <a:latin typeface="Cabin"/>
                <a:ea typeface="Cabin"/>
                <a:cs typeface="Cabin"/>
                <a:sym typeface="Cabin"/>
              </a:rPr>
              <a:t>The drone agent implements a sophisticated local control loop running at 20 Hz that combines attractive forces toward the target destination with repulsive forces from neighboring drones to achieve safe, collision-free navigation.</a:t>
            </a:r>
            <a:endParaRPr/>
          </a:p>
        </p:txBody>
      </p:sp>
      <p:sp>
        <p:nvSpPr>
          <p:cNvPr id="513" name="Google Shape;513;p42"/>
          <p:cNvSpPr txBox="1"/>
          <p:nvPr/>
        </p:nvSpPr>
        <p:spPr>
          <a:xfrm>
            <a:off x="635525" y="2962563"/>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04000"/>
              </a:lnSpc>
              <a:spcBef>
                <a:spcPts val="0"/>
              </a:spcBef>
              <a:spcAft>
                <a:spcPts val="0"/>
              </a:spcAft>
              <a:buNone/>
            </a:pPr>
            <a:r>
              <a:rPr b="1" lang="en-US" sz="1300">
                <a:solidFill>
                  <a:srgbClr val="CAD6DE"/>
                </a:solidFill>
                <a:latin typeface="Unbounded"/>
                <a:ea typeface="Unbounded"/>
                <a:cs typeface="Unbounded"/>
                <a:sym typeface="Unbounded"/>
              </a:rPr>
              <a:t>Collision Avoidance</a:t>
            </a:r>
            <a:endParaRPr sz="13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3"/>
          <p:cNvSpPr/>
          <p:nvPr/>
        </p:nvSpPr>
        <p:spPr>
          <a:xfrm>
            <a:off x="698086" y="548580"/>
            <a:ext cx="10795524" cy="498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100"/>
              <a:buFont typeface="Unbounded"/>
              <a:buNone/>
            </a:pPr>
            <a:r>
              <a:rPr b="0" i="0" lang="en-US" sz="3100" u="none" cap="none" strike="noStrike">
                <a:solidFill>
                  <a:srgbClr val="FFFFFF"/>
                </a:solidFill>
                <a:latin typeface="Unbounded"/>
                <a:ea typeface="Unbounded"/>
                <a:cs typeface="Unbounded"/>
                <a:sym typeface="Unbounded"/>
              </a:rPr>
              <a:t>ROS 2 Integration with Drone Wrapper</a:t>
            </a:r>
            <a:endParaRPr b="0" i="0" sz="3100" u="none" cap="none" strike="noStrike">
              <a:solidFill>
                <a:schemeClr val="dk1"/>
              </a:solidFill>
              <a:latin typeface="Calibri"/>
              <a:ea typeface="Calibri"/>
              <a:cs typeface="Calibri"/>
              <a:sym typeface="Calibri"/>
            </a:endParaRPr>
          </a:p>
        </p:txBody>
      </p:sp>
      <p:pic>
        <p:nvPicPr>
          <p:cNvPr descr="preencoded.png" id="520" name="Google Shape;520;p43"/>
          <p:cNvPicPr preferRelativeResize="0"/>
          <p:nvPr/>
        </p:nvPicPr>
        <p:blipFill rotWithShape="1">
          <a:blip r:embed="rId3">
            <a:alphaModFix/>
          </a:blip>
          <a:srcRect b="0" l="0" r="0" t="0"/>
          <a:stretch/>
        </p:blipFill>
        <p:spPr>
          <a:xfrm>
            <a:off x="698086" y="1425476"/>
            <a:ext cx="5863483" cy="4110236"/>
          </a:xfrm>
          <a:prstGeom prst="rect">
            <a:avLst/>
          </a:prstGeom>
          <a:noFill/>
          <a:ln>
            <a:noFill/>
          </a:ln>
        </p:spPr>
      </p:pic>
      <p:sp>
        <p:nvSpPr>
          <p:cNvPr id="521" name="Google Shape;521;p43"/>
          <p:cNvSpPr/>
          <p:nvPr/>
        </p:nvSpPr>
        <p:spPr>
          <a:xfrm>
            <a:off x="962795" y="1613991"/>
            <a:ext cx="5410263" cy="498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50"/>
              <a:buFont typeface="Unbounded"/>
              <a:buNone/>
            </a:pPr>
            <a:r>
              <a:rPr b="0" i="0" lang="en-US" sz="1550" u="none" cap="none" strike="noStrike">
                <a:solidFill>
                  <a:srgbClr val="CAD6DE"/>
                </a:solidFill>
                <a:latin typeface="Unbounded"/>
                <a:ea typeface="Unbounded"/>
                <a:cs typeface="Unbounded"/>
                <a:sym typeface="Unbounded"/>
              </a:rPr>
              <a:t>Architecture &amp; Inheritance from the Framework (rclpy)</a:t>
            </a:r>
            <a:endParaRPr b="0" i="0" sz="1550" u="none" cap="none" strike="noStrike">
              <a:solidFill>
                <a:schemeClr val="dk1"/>
              </a:solidFill>
              <a:latin typeface="Calibri"/>
              <a:ea typeface="Calibri"/>
              <a:cs typeface="Calibri"/>
              <a:sym typeface="Calibri"/>
            </a:endParaRPr>
          </a:p>
        </p:txBody>
      </p:sp>
      <p:sp>
        <p:nvSpPr>
          <p:cNvPr id="522" name="Google Shape;522;p43"/>
          <p:cNvSpPr/>
          <p:nvPr/>
        </p:nvSpPr>
        <p:spPr>
          <a:xfrm>
            <a:off x="962795" y="2256730"/>
            <a:ext cx="5410263" cy="759123"/>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In the drone_wrapper file it is used the </a:t>
            </a:r>
            <a:r>
              <a:rPr b="1" i="0" lang="en-US" sz="1300" u="none" cap="none" strike="noStrike">
                <a:solidFill>
                  <a:srgbClr val="CAD6DE"/>
                </a:solidFill>
                <a:latin typeface="Cabin"/>
                <a:ea typeface="Cabin"/>
                <a:cs typeface="Cabin"/>
                <a:sym typeface="Cabin"/>
              </a:rPr>
              <a:t>official ROS 2 client library for Python</a:t>
            </a:r>
            <a:r>
              <a:rPr b="0" i="0" lang="en-US" sz="1300" u="none" cap="none" strike="noStrike">
                <a:solidFill>
                  <a:srgbClr val="CAD6DE"/>
                </a:solidFill>
                <a:latin typeface="Cabin"/>
                <a:ea typeface="Cabin"/>
                <a:cs typeface="Cabin"/>
                <a:sym typeface="Cabin"/>
              </a:rPr>
              <a:t>, </a:t>
            </a:r>
            <a:r>
              <a:rPr b="0" i="0" lang="en-US" sz="1300" u="none" cap="none" strike="noStrike">
                <a:solidFill>
                  <a:srgbClr val="CAD6DE"/>
                </a:solidFill>
                <a:highlight>
                  <a:srgbClr val="1E3543"/>
                </a:highlight>
                <a:latin typeface="Consolas"/>
                <a:ea typeface="Consolas"/>
                <a:cs typeface="Consolas"/>
                <a:sym typeface="Consolas"/>
              </a:rPr>
              <a:t>rclpy</a:t>
            </a:r>
            <a:r>
              <a:rPr b="0" i="0" lang="en-US" sz="1300" u="none" cap="none" strike="noStrike">
                <a:solidFill>
                  <a:srgbClr val="CAD6DE"/>
                </a:solidFill>
                <a:latin typeface="Cabin"/>
                <a:ea typeface="Cabin"/>
                <a:cs typeface="Cabin"/>
                <a:sym typeface="Cabin"/>
              </a:rPr>
              <a:t>. The main class inherits directly from the base ROS 2 </a:t>
            </a:r>
            <a:r>
              <a:rPr b="0" i="0" lang="en-US" sz="1300" u="none" cap="none" strike="noStrike">
                <a:solidFill>
                  <a:srgbClr val="CAD6DE"/>
                </a:solidFill>
                <a:highlight>
                  <a:srgbClr val="1E3543"/>
                </a:highlight>
                <a:latin typeface="Consolas"/>
                <a:ea typeface="Consolas"/>
                <a:cs typeface="Consolas"/>
                <a:sym typeface="Consolas"/>
              </a:rPr>
              <a:t>Node</a:t>
            </a:r>
            <a:r>
              <a:rPr b="0" i="0" lang="en-US" sz="1300" u="none" cap="none" strike="noStrike">
                <a:solidFill>
                  <a:srgbClr val="CAD6DE"/>
                </a:solidFill>
                <a:latin typeface="Cabin"/>
                <a:ea typeface="Cabin"/>
                <a:cs typeface="Cabin"/>
                <a:sym typeface="Cabin"/>
              </a:rPr>
              <a:t> class:</a:t>
            </a:r>
            <a:endParaRPr b="0" i="0" sz="1300" u="none" cap="none" strike="noStrike">
              <a:solidFill>
                <a:schemeClr val="dk1"/>
              </a:solidFill>
              <a:latin typeface="Calibri"/>
              <a:ea typeface="Calibri"/>
              <a:cs typeface="Calibri"/>
              <a:sym typeface="Calibri"/>
            </a:endParaRPr>
          </a:p>
        </p:txBody>
      </p:sp>
      <p:pic>
        <p:nvPicPr>
          <p:cNvPr descr="preencoded.png" id="523" name="Google Shape;523;p43"/>
          <p:cNvPicPr preferRelativeResize="0"/>
          <p:nvPr/>
        </p:nvPicPr>
        <p:blipFill rotWithShape="1">
          <a:blip r:embed="rId4">
            <a:alphaModFix/>
          </a:blip>
          <a:srcRect b="0" l="0" r="0" t="0"/>
          <a:stretch/>
        </p:blipFill>
        <p:spPr>
          <a:xfrm>
            <a:off x="962795" y="3177977"/>
            <a:ext cx="4598674" cy="816967"/>
          </a:xfrm>
          <a:prstGeom prst="rect">
            <a:avLst/>
          </a:prstGeom>
          <a:noFill/>
          <a:ln>
            <a:noFill/>
          </a:ln>
        </p:spPr>
      </p:pic>
      <p:sp>
        <p:nvSpPr>
          <p:cNvPr id="524" name="Google Shape;524;p43"/>
          <p:cNvSpPr/>
          <p:nvPr/>
        </p:nvSpPr>
        <p:spPr>
          <a:xfrm>
            <a:off x="962795" y="4157067"/>
            <a:ext cx="5410263" cy="50184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This transforms the Python script into a </a:t>
            </a:r>
            <a:r>
              <a:rPr b="1" i="0" lang="en-US" sz="1300" u="none" cap="none" strike="noStrike">
                <a:solidFill>
                  <a:srgbClr val="CAD6DE"/>
                </a:solidFill>
                <a:latin typeface="Cabin"/>
                <a:ea typeface="Cabin"/>
                <a:cs typeface="Cabin"/>
                <a:sym typeface="Cabin"/>
              </a:rPr>
              <a:t>native node of the ROS 2 graph</a:t>
            </a:r>
            <a:r>
              <a:rPr b="0" i="0" lang="en-US" sz="1300" u="none" cap="none" strike="noStrike">
                <a:solidFill>
                  <a:srgbClr val="CAD6DE"/>
                </a:solidFill>
                <a:latin typeface="Cabin"/>
                <a:ea typeface="Cabin"/>
                <a:cs typeface="Cabin"/>
                <a:sym typeface="Cabin"/>
              </a:rPr>
              <a:t>, capable of:</a:t>
            </a:r>
            <a:endParaRPr b="0" i="0" sz="1300" u="none" cap="none" strike="noStrike">
              <a:solidFill>
                <a:schemeClr val="dk1"/>
              </a:solidFill>
              <a:latin typeface="Calibri"/>
              <a:ea typeface="Calibri"/>
              <a:cs typeface="Calibri"/>
              <a:sym typeface="Calibri"/>
            </a:endParaRPr>
          </a:p>
        </p:txBody>
      </p:sp>
      <p:sp>
        <p:nvSpPr>
          <p:cNvPr id="525" name="Google Shape;525;p43"/>
          <p:cNvSpPr/>
          <p:nvPr/>
        </p:nvSpPr>
        <p:spPr>
          <a:xfrm>
            <a:off x="962795" y="4788595"/>
            <a:ext cx="5410263" cy="558602"/>
          </a:xfrm>
          <a:prstGeom prst="rect">
            <a:avLst/>
          </a:prstGeom>
          <a:noFill/>
          <a:ln>
            <a:noFill/>
          </a:ln>
        </p:spPr>
        <p:txBody>
          <a:bodyPr anchorCtr="0" anchor="t" bIns="0" lIns="0" spcFirstLastPara="1" rIns="0" wrap="square" tIns="67800">
            <a:noAutofit/>
          </a:bodyPr>
          <a:lstStyle/>
          <a:p>
            <a:pPr indent="-264160" lvl="0" marL="26416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Publishing and subscribing to topics</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Managing asynchronous timers via the executor (</a:t>
            </a:r>
            <a:r>
              <a:rPr b="0" i="0" lang="en-US" sz="1300" u="none" cap="none" strike="noStrike">
                <a:solidFill>
                  <a:srgbClr val="CAD6DE"/>
                </a:solidFill>
                <a:highlight>
                  <a:srgbClr val="1E3543"/>
                </a:highlight>
                <a:latin typeface="Consolas"/>
                <a:ea typeface="Consolas"/>
                <a:cs typeface="Consolas"/>
                <a:sym typeface="Consolas"/>
              </a:rPr>
              <a:t>rclpy.spin(node)</a:t>
            </a:r>
            <a:r>
              <a:rPr b="0" i="0" lang="en-US" sz="1300" u="none" cap="none" strike="noStrike">
                <a:solidFill>
                  <a:srgbClr val="CAD6DE"/>
                </a:solidFill>
                <a:latin typeface="Cabin"/>
                <a:ea typeface="Cabin"/>
                <a:cs typeface="Cabin"/>
                <a:sym typeface="Cabin"/>
              </a:rPr>
              <a:t>)</a:t>
            </a:r>
            <a:endParaRPr b="0" i="0" sz="1300" u="none" cap="none" strike="noStrike">
              <a:solidFill>
                <a:schemeClr val="dk1"/>
              </a:solidFill>
              <a:latin typeface="Calibri"/>
              <a:ea typeface="Calibri"/>
              <a:cs typeface="Calibri"/>
              <a:sym typeface="Calibri"/>
            </a:endParaRPr>
          </a:p>
        </p:txBody>
      </p:sp>
      <p:pic>
        <p:nvPicPr>
          <p:cNvPr descr="preencoded.png" id="526" name="Google Shape;526;p43"/>
          <p:cNvPicPr preferRelativeResize="0"/>
          <p:nvPr/>
        </p:nvPicPr>
        <p:blipFill rotWithShape="1">
          <a:blip r:embed="rId5">
            <a:alphaModFix/>
          </a:blip>
          <a:srcRect b="0" l="0" r="0" t="0"/>
          <a:stretch/>
        </p:blipFill>
        <p:spPr>
          <a:xfrm>
            <a:off x="6981452" y="1425476"/>
            <a:ext cx="4518408" cy="3949005"/>
          </a:xfrm>
          <a:prstGeom prst="rect">
            <a:avLst/>
          </a:prstGeom>
          <a:noFill/>
          <a:ln>
            <a:noFill/>
          </a:ln>
        </p:spPr>
      </p:pic>
      <p:sp>
        <p:nvSpPr>
          <p:cNvPr id="527" name="Google Shape;527;p43"/>
          <p:cNvSpPr/>
          <p:nvPr/>
        </p:nvSpPr>
        <p:spPr>
          <a:xfrm>
            <a:off x="7246161" y="1613991"/>
            <a:ext cx="4065188" cy="498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50"/>
              <a:buFont typeface="Unbounded"/>
              <a:buNone/>
            </a:pPr>
            <a:r>
              <a:rPr b="0" i="0" lang="en-US" sz="1550" u="none" cap="none" strike="noStrike">
                <a:solidFill>
                  <a:srgbClr val="CAD6DE"/>
                </a:solidFill>
                <a:latin typeface="Unbounded"/>
                <a:ea typeface="Unbounded"/>
                <a:cs typeface="Unbounded"/>
                <a:sym typeface="Unbounded"/>
              </a:rPr>
              <a:t>Quality of Service (QoS Profile) Configuration</a:t>
            </a:r>
            <a:endParaRPr b="0" i="0" sz="1550" u="none" cap="none" strike="noStrike">
              <a:solidFill>
                <a:schemeClr val="dk1"/>
              </a:solidFill>
              <a:latin typeface="Calibri"/>
              <a:ea typeface="Calibri"/>
              <a:cs typeface="Calibri"/>
              <a:sym typeface="Calibri"/>
            </a:endParaRPr>
          </a:p>
        </p:txBody>
      </p:sp>
      <p:sp>
        <p:nvSpPr>
          <p:cNvPr id="528" name="Google Shape;528;p43"/>
          <p:cNvSpPr/>
          <p:nvPr/>
        </p:nvSpPr>
        <p:spPr>
          <a:xfrm>
            <a:off x="7246161" y="2256730"/>
            <a:ext cx="4065188" cy="752773"/>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To ensure </a:t>
            </a:r>
            <a:r>
              <a:rPr b="1" i="0" lang="en-US" sz="1300" u="none" cap="none" strike="noStrike">
                <a:solidFill>
                  <a:srgbClr val="CAD6DE"/>
                </a:solidFill>
                <a:latin typeface="Cabin"/>
                <a:ea typeface="Cabin"/>
                <a:cs typeface="Cabin"/>
                <a:sym typeface="Cabin"/>
              </a:rPr>
              <a:t>reliable communication</a:t>
            </a:r>
            <a:r>
              <a:rPr b="0" i="0" lang="en-US" sz="1300" u="none" cap="none" strike="noStrike">
                <a:solidFill>
                  <a:srgbClr val="CAD6DE"/>
                </a:solidFill>
                <a:latin typeface="Cabin"/>
                <a:ea typeface="Cabin"/>
                <a:cs typeface="Cabin"/>
                <a:sym typeface="Cabin"/>
              </a:rPr>
              <a:t> with the Rust Coordinator and the Fast-DDS network, a custom </a:t>
            </a:r>
            <a:r>
              <a:rPr b="1" i="0" lang="en-US" sz="1300" u="none" cap="none" strike="noStrike">
                <a:solidFill>
                  <a:srgbClr val="CAD6DE"/>
                </a:solidFill>
                <a:latin typeface="Cabin"/>
                <a:ea typeface="Cabin"/>
                <a:cs typeface="Cabin"/>
                <a:sym typeface="Cabin"/>
              </a:rPr>
              <a:t>QoS (Quality of Service)</a:t>
            </a:r>
            <a:r>
              <a:rPr b="0" i="0" lang="en-US" sz="1300" u="none" cap="none" strike="noStrike">
                <a:solidFill>
                  <a:srgbClr val="CAD6DE"/>
                </a:solidFill>
                <a:latin typeface="Cabin"/>
                <a:ea typeface="Cabin"/>
                <a:cs typeface="Cabin"/>
                <a:sym typeface="Cabin"/>
              </a:rPr>
              <a:t> profile is configured:</a:t>
            </a:r>
            <a:endParaRPr b="0" i="0" sz="1300" u="none" cap="none" strike="noStrike">
              <a:solidFill>
                <a:schemeClr val="dk1"/>
              </a:solidFill>
              <a:latin typeface="Calibri"/>
              <a:ea typeface="Calibri"/>
              <a:cs typeface="Calibri"/>
              <a:sym typeface="Calibri"/>
            </a:endParaRPr>
          </a:p>
        </p:txBody>
      </p:sp>
      <p:pic>
        <p:nvPicPr>
          <p:cNvPr descr="preencoded.png" id="529" name="Google Shape;529;p43"/>
          <p:cNvPicPr preferRelativeResize="0"/>
          <p:nvPr/>
        </p:nvPicPr>
        <p:blipFill rotWithShape="1">
          <a:blip r:embed="rId6">
            <a:alphaModFix/>
          </a:blip>
          <a:srcRect b="0" l="0" r="0" t="0"/>
          <a:stretch/>
        </p:blipFill>
        <p:spPr>
          <a:xfrm>
            <a:off x="7246161" y="3171627"/>
            <a:ext cx="3455405" cy="1099443"/>
          </a:xfrm>
          <a:prstGeom prst="rect">
            <a:avLst/>
          </a:prstGeom>
          <a:noFill/>
          <a:ln>
            <a:noFill/>
          </a:ln>
        </p:spPr>
      </p:pic>
      <p:sp>
        <p:nvSpPr>
          <p:cNvPr id="530" name="Google Shape;530;p43"/>
          <p:cNvSpPr/>
          <p:nvPr/>
        </p:nvSpPr>
        <p:spPr>
          <a:xfrm>
            <a:off x="7246161" y="4433193"/>
            <a:ext cx="4065188" cy="752773"/>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This ensures that </a:t>
            </a:r>
            <a:r>
              <a:rPr b="1" i="0" lang="en-US" sz="1300" u="none" cap="none" strike="noStrike">
                <a:solidFill>
                  <a:srgbClr val="CAD6DE"/>
                </a:solidFill>
                <a:latin typeface="Cabin"/>
                <a:ea typeface="Cabin"/>
                <a:cs typeface="Cabin"/>
                <a:sym typeface="Cabin"/>
              </a:rPr>
              <a:t>critical messages</a:t>
            </a:r>
            <a:r>
              <a:rPr b="0" i="0" lang="en-US" sz="1300" u="none" cap="none" strike="noStrike">
                <a:solidFill>
                  <a:srgbClr val="CAD6DE"/>
                </a:solidFill>
                <a:latin typeface="Cabin"/>
                <a:ea typeface="Cabin"/>
                <a:cs typeface="Cabin"/>
                <a:sym typeface="Cabin"/>
              </a:rPr>
              <a:t> — such as registration and formation commands — are </a:t>
            </a:r>
            <a:r>
              <a:rPr b="1" i="0" lang="en-US" sz="1300" u="none" cap="none" strike="noStrike">
                <a:solidFill>
                  <a:srgbClr val="CAD6DE"/>
                </a:solidFill>
                <a:latin typeface="Cabin"/>
                <a:ea typeface="Cabin"/>
                <a:cs typeface="Cabin"/>
                <a:sym typeface="Cabin"/>
              </a:rPr>
              <a:t>not lost</a:t>
            </a:r>
            <a:r>
              <a:rPr b="0" i="0" lang="en-US" sz="1300" u="none" cap="none" strike="noStrike">
                <a:solidFill>
                  <a:srgbClr val="CAD6DE"/>
                </a:solidFill>
                <a:latin typeface="Cabin"/>
                <a:ea typeface="Cabin"/>
                <a:cs typeface="Cabin"/>
                <a:sym typeface="Cabin"/>
              </a:rPr>
              <a:t> over the DDS network.</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4"/>
          <p:cNvSpPr/>
          <p:nvPr/>
        </p:nvSpPr>
        <p:spPr>
          <a:xfrm>
            <a:off x="698086" y="548580"/>
            <a:ext cx="10795524" cy="93880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lang="en-US" sz="2950">
                <a:solidFill>
                  <a:srgbClr val="FFFFFF"/>
                </a:solidFill>
                <a:latin typeface="Unbounded"/>
                <a:ea typeface="Unbounded"/>
                <a:cs typeface="Unbounded"/>
                <a:sym typeface="Unbounded"/>
              </a:rPr>
              <a:t>Drone’s Communication Topics:</a:t>
            </a:r>
            <a:endParaRPr b="0" i="0" sz="2950" u="none" cap="none" strike="noStrike">
              <a:solidFill>
                <a:schemeClr val="dk1"/>
              </a:solidFill>
              <a:latin typeface="Calibri"/>
              <a:ea typeface="Calibri"/>
              <a:cs typeface="Calibri"/>
              <a:sym typeface="Calibri"/>
            </a:endParaRPr>
          </a:p>
        </p:txBody>
      </p:sp>
      <p:sp>
        <p:nvSpPr>
          <p:cNvPr id="537" name="Google Shape;537;p44"/>
          <p:cNvSpPr/>
          <p:nvPr/>
        </p:nvSpPr>
        <p:spPr>
          <a:xfrm>
            <a:off x="698086" y="1742678"/>
            <a:ext cx="11405108" cy="2872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Understanding how drones and the coordinator communicate is key to the system's distributed nature.</a:t>
            </a:r>
            <a:endParaRPr b="0" i="0" sz="1550" u="none" cap="none" strike="noStrike">
              <a:solidFill>
                <a:schemeClr val="dk1"/>
              </a:solidFill>
              <a:latin typeface="Calibri"/>
              <a:ea typeface="Calibri"/>
              <a:cs typeface="Calibri"/>
              <a:sym typeface="Calibri"/>
            </a:endParaRPr>
          </a:p>
        </p:txBody>
      </p:sp>
      <p:pic>
        <p:nvPicPr>
          <p:cNvPr descr="preencoded.png" id="538" name="Google Shape;538;p44"/>
          <p:cNvPicPr preferRelativeResize="0"/>
          <p:nvPr/>
        </p:nvPicPr>
        <p:blipFill rotWithShape="1">
          <a:blip r:embed="rId3">
            <a:alphaModFix/>
          </a:blip>
          <a:srcRect b="0" l="0" r="0" t="0"/>
          <a:stretch/>
        </p:blipFill>
        <p:spPr>
          <a:xfrm>
            <a:off x="698086" y="2173486"/>
            <a:ext cx="5397762" cy="638274"/>
          </a:xfrm>
          <a:prstGeom prst="rect">
            <a:avLst/>
          </a:prstGeom>
          <a:noFill/>
          <a:ln>
            <a:noFill/>
          </a:ln>
        </p:spPr>
      </p:pic>
      <p:sp>
        <p:nvSpPr>
          <p:cNvPr id="539" name="Google Shape;539;p44"/>
          <p:cNvSpPr/>
          <p:nvPr/>
        </p:nvSpPr>
        <p:spPr>
          <a:xfrm>
            <a:off x="857625" y="2939355"/>
            <a:ext cx="5078682"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1" i="0" lang="en-US" sz="1450" u="none" cap="none" strike="noStrike">
                <a:solidFill>
                  <a:srgbClr val="CAD6DE"/>
                </a:solidFill>
                <a:latin typeface="Unbounded"/>
                <a:ea typeface="Unbounded"/>
                <a:cs typeface="Unbounded"/>
                <a:sym typeface="Unbounded"/>
              </a:rPr>
              <a:t>/swarm/register</a:t>
            </a:r>
            <a:endParaRPr b="0" i="0" sz="1450" u="none" cap="none" strike="noStrike">
              <a:solidFill>
                <a:schemeClr val="dk1"/>
              </a:solidFill>
              <a:latin typeface="Calibri"/>
              <a:ea typeface="Calibri"/>
              <a:cs typeface="Calibri"/>
              <a:sym typeface="Calibri"/>
            </a:endParaRPr>
          </a:p>
        </p:txBody>
      </p:sp>
      <p:sp>
        <p:nvSpPr>
          <p:cNvPr id="540" name="Google Shape;540;p44"/>
          <p:cNvSpPr/>
          <p:nvPr/>
        </p:nvSpPr>
        <p:spPr>
          <a:xfrm>
            <a:off x="857625" y="3250605"/>
            <a:ext cx="5078682" cy="65107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Drone </a:t>
            </a:r>
            <a:r>
              <a:rPr b="0" i="0" lang="en-US" sz="1550" u="none" cap="none" strike="noStrike">
                <a:solidFill>
                  <a:srgbClr val="0A988B"/>
                </a:solidFill>
                <a:latin typeface="Cabin"/>
                <a:ea typeface="Cabin"/>
                <a:cs typeface="Cabin"/>
                <a:sym typeface="Cabin"/>
              </a:rPr>
              <a:t>→ </a:t>
            </a:r>
            <a:r>
              <a:rPr b="0" i="0" lang="en-US" sz="1550" u="none" cap="none" strike="noStrike">
                <a:solidFill>
                  <a:srgbClr val="CAD6DE"/>
                </a:solidFill>
                <a:latin typeface="Cabin"/>
                <a:ea typeface="Cabin"/>
                <a:cs typeface="Cabin"/>
                <a:sym typeface="Cabin"/>
              </a:rPr>
              <a:t>Coordinator</a:t>
            </a:r>
            <a:endParaRPr b="0" i="0" sz="1550" u="none" cap="none" strike="noStrike">
              <a:solidFill>
                <a:schemeClr val="dk1"/>
              </a:solidFill>
              <a:latin typeface="Calibri"/>
              <a:ea typeface="Calibri"/>
              <a:cs typeface="Calibri"/>
              <a:sym typeface="Calibri"/>
            </a:endParaRPr>
          </a:p>
          <a:p>
            <a:pPr indent="0" lvl="0" marL="0" marR="0" rtl="0" algn="l">
              <a:lnSpc>
                <a:spcPct val="120000"/>
              </a:lnSpc>
              <a:spcBef>
                <a:spcPts val="60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New drone registration and initialization</a:t>
            </a:r>
            <a:endParaRPr b="0" i="0" sz="1550" u="none" cap="none" strike="noStrike">
              <a:solidFill>
                <a:schemeClr val="dk1"/>
              </a:solidFill>
              <a:latin typeface="Calibri"/>
              <a:ea typeface="Calibri"/>
              <a:cs typeface="Calibri"/>
              <a:sym typeface="Calibri"/>
            </a:endParaRPr>
          </a:p>
        </p:txBody>
      </p:sp>
      <p:pic>
        <p:nvPicPr>
          <p:cNvPr descr="preencoded.png" id="541" name="Google Shape;541;p44"/>
          <p:cNvPicPr preferRelativeResize="0"/>
          <p:nvPr/>
        </p:nvPicPr>
        <p:blipFill rotWithShape="1">
          <a:blip r:embed="rId4">
            <a:alphaModFix/>
          </a:blip>
          <a:srcRect b="0" l="0" r="0" t="0"/>
          <a:stretch/>
        </p:blipFill>
        <p:spPr>
          <a:xfrm>
            <a:off x="6095848" y="2173486"/>
            <a:ext cx="5397762" cy="638274"/>
          </a:xfrm>
          <a:prstGeom prst="rect">
            <a:avLst/>
          </a:prstGeom>
          <a:noFill/>
          <a:ln>
            <a:noFill/>
          </a:ln>
        </p:spPr>
      </p:pic>
      <p:sp>
        <p:nvSpPr>
          <p:cNvPr id="542" name="Google Shape;542;p44"/>
          <p:cNvSpPr/>
          <p:nvPr/>
        </p:nvSpPr>
        <p:spPr>
          <a:xfrm>
            <a:off x="6255387" y="2939355"/>
            <a:ext cx="5078682"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1" i="0" lang="en-US" sz="1450" u="none" cap="none" strike="noStrike">
                <a:solidFill>
                  <a:srgbClr val="CAD6DE"/>
                </a:solidFill>
                <a:latin typeface="Unbounded"/>
                <a:ea typeface="Unbounded"/>
                <a:cs typeface="Unbounded"/>
                <a:sym typeface="Unbounded"/>
              </a:rPr>
              <a:t>/swarm/heartbeat</a:t>
            </a:r>
            <a:endParaRPr b="0" i="0" sz="1450" u="none" cap="none" strike="noStrike">
              <a:solidFill>
                <a:schemeClr val="dk1"/>
              </a:solidFill>
              <a:latin typeface="Calibri"/>
              <a:ea typeface="Calibri"/>
              <a:cs typeface="Calibri"/>
              <a:sym typeface="Calibri"/>
            </a:endParaRPr>
          </a:p>
        </p:txBody>
      </p:sp>
      <p:sp>
        <p:nvSpPr>
          <p:cNvPr id="543" name="Google Shape;543;p44"/>
          <p:cNvSpPr/>
          <p:nvPr/>
        </p:nvSpPr>
        <p:spPr>
          <a:xfrm>
            <a:off x="6255387" y="3250605"/>
            <a:ext cx="5078682" cy="65107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Drone </a:t>
            </a:r>
            <a:r>
              <a:rPr b="0" i="0" lang="en-US" sz="1550" u="none" cap="none" strike="noStrike">
                <a:solidFill>
                  <a:srgbClr val="0A988B"/>
                </a:solidFill>
                <a:latin typeface="Cabin"/>
                <a:ea typeface="Cabin"/>
                <a:cs typeface="Cabin"/>
                <a:sym typeface="Cabin"/>
              </a:rPr>
              <a:t>→ </a:t>
            </a:r>
            <a:r>
              <a:rPr b="0" i="0" lang="en-US" sz="1550" u="none" cap="none" strike="noStrike">
                <a:solidFill>
                  <a:srgbClr val="CAD6DE"/>
                </a:solidFill>
                <a:latin typeface="Cabin"/>
                <a:ea typeface="Cabin"/>
                <a:cs typeface="Cabin"/>
                <a:sym typeface="Cabin"/>
              </a:rPr>
              <a:t>Coordinator</a:t>
            </a:r>
            <a:endParaRPr b="0" i="0" sz="1550" u="none" cap="none" strike="noStrike">
              <a:solidFill>
                <a:schemeClr val="dk1"/>
              </a:solidFill>
              <a:latin typeface="Calibri"/>
              <a:ea typeface="Calibri"/>
              <a:cs typeface="Calibri"/>
              <a:sym typeface="Calibri"/>
            </a:endParaRPr>
          </a:p>
          <a:p>
            <a:pPr indent="0" lvl="0" marL="0" marR="0" rtl="0" algn="l">
              <a:lnSpc>
                <a:spcPct val="120000"/>
              </a:lnSpc>
              <a:spcBef>
                <a:spcPts val="60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Real-time telemetry and position updates</a:t>
            </a:r>
            <a:endParaRPr b="0" i="0" sz="1550" u="none" cap="none" strike="noStrike">
              <a:solidFill>
                <a:schemeClr val="dk1"/>
              </a:solidFill>
              <a:latin typeface="Calibri"/>
              <a:ea typeface="Calibri"/>
              <a:cs typeface="Calibri"/>
              <a:sym typeface="Calibri"/>
            </a:endParaRPr>
          </a:p>
        </p:txBody>
      </p:sp>
      <p:pic>
        <p:nvPicPr>
          <p:cNvPr descr="preencoded.png" id="544" name="Google Shape;544;p44"/>
          <p:cNvPicPr preferRelativeResize="0"/>
          <p:nvPr/>
        </p:nvPicPr>
        <p:blipFill rotWithShape="1">
          <a:blip r:embed="rId5">
            <a:alphaModFix/>
          </a:blip>
          <a:srcRect b="0" l="0" r="0" t="0"/>
          <a:stretch/>
        </p:blipFill>
        <p:spPr>
          <a:xfrm>
            <a:off x="698086" y="4061222"/>
            <a:ext cx="5397762" cy="638274"/>
          </a:xfrm>
          <a:prstGeom prst="rect">
            <a:avLst/>
          </a:prstGeom>
          <a:noFill/>
          <a:ln>
            <a:noFill/>
          </a:ln>
        </p:spPr>
      </p:pic>
      <p:sp>
        <p:nvSpPr>
          <p:cNvPr id="545" name="Google Shape;545;p44"/>
          <p:cNvSpPr/>
          <p:nvPr/>
        </p:nvSpPr>
        <p:spPr>
          <a:xfrm>
            <a:off x="857625" y="4827091"/>
            <a:ext cx="5078682"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1" i="0" lang="en-US" sz="1450" u="none" cap="none" strike="noStrike">
                <a:solidFill>
                  <a:srgbClr val="CAD6DE"/>
                </a:solidFill>
                <a:latin typeface="Unbounded"/>
                <a:ea typeface="Unbounded"/>
                <a:cs typeface="Unbounded"/>
                <a:sym typeface="Unbounded"/>
              </a:rPr>
              <a:t>/swarm/goto</a:t>
            </a:r>
            <a:endParaRPr b="0" i="0" sz="1450" u="none" cap="none" strike="noStrike">
              <a:solidFill>
                <a:schemeClr val="dk1"/>
              </a:solidFill>
              <a:latin typeface="Calibri"/>
              <a:ea typeface="Calibri"/>
              <a:cs typeface="Calibri"/>
              <a:sym typeface="Calibri"/>
            </a:endParaRPr>
          </a:p>
        </p:txBody>
      </p:sp>
      <p:sp>
        <p:nvSpPr>
          <p:cNvPr id="546" name="Google Shape;546;p44"/>
          <p:cNvSpPr/>
          <p:nvPr/>
        </p:nvSpPr>
        <p:spPr>
          <a:xfrm>
            <a:off x="857625" y="5138341"/>
            <a:ext cx="5078682" cy="65107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Coordinator </a:t>
            </a:r>
            <a:r>
              <a:rPr b="0" i="0" lang="en-US" sz="1550" u="none" cap="none" strike="noStrike">
                <a:solidFill>
                  <a:srgbClr val="0A988B"/>
                </a:solidFill>
                <a:latin typeface="Cabin"/>
                <a:ea typeface="Cabin"/>
                <a:cs typeface="Cabin"/>
                <a:sym typeface="Cabin"/>
              </a:rPr>
              <a:t>→ </a:t>
            </a:r>
            <a:r>
              <a:rPr b="0" i="0" lang="en-US" sz="1550" u="none" cap="none" strike="noStrike">
                <a:solidFill>
                  <a:srgbClr val="CAD6DE"/>
                </a:solidFill>
                <a:latin typeface="Cabin"/>
                <a:ea typeface="Cabin"/>
                <a:cs typeface="Cabin"/>
                <a:sym typeface="Cabin"/>
              </a:rPr>
              <a:t>Drone</a:t>
            </a:r>
            <a:endParaRPr b="0" i="0" sz="1550" u="none" cap="none" strike="noStrike">
              <a:solidFill>
                <a:schemeClr val="dk1"/>
              </a:solidFill>
              <a:latin typeface="Calibri"/>
              <a:ea typeface="Calibri"/>
              <a:cs typeface="Calibri"/>
              <a:sym typeface="Calibri"/>
            </a:endParaRPr>
          </a:p>
          <a:p>
            <a:pPr indent="0" lvl="0" marL="0" marR="0" rtl="0" algn="l">
              <a:lnSpc>
                <a:spcPct val="120000"/>
              </a:lnSpc>
              <a:spcBef>
                <a:spcPts val="60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Target coordinates for autonomous navigation</a:t>
            </a:r>
            <a:endParaRPr b="0" i="0" sz="1550" u="none" cap="none" strike="noStrike">
              <a:solidFill>
                <a:schemeClr val="dk1"/>
              </a:solidFill>
              <a:latin typeface="Calibri"/>
              <a:ea typeface="Calibri"/>
              <a:cs typeface="Calibri"/>
              <a:sym typeface="Calibri"/>
            </a:endParaRPr>
          </a:p>
        </p:txBody>
      </p:sp>
      <p:pic>
        <p:nvPicPr>
          <p:cNvPr descr="preencoded.png" id="547" name="Google Shape;547;p44"/>
          <p:cNvPicPr preferRelativeResize="0"/>
          <p:nvPr/>
        </p:nvPicPr>
        <p:blipFill rotWithShape="1">
          <a:blip r:embed="rId6">
            <a:alphaModFix/>
          </a:blip>
          <a:srcRect b="0" l="0" r="0" t="0"/>
          <a:stretch/>
        </p:blipFill>
        <p:spPr>
          <a:xfrm>
            <a:off x="6095848" y="4061222"/>
            <a:ext cx="5397762" cy="638274"/>
          </a:xfrm>
          <a:prstGeom prst="rect">
            <a:avLst/>
          </a:prstGeom>
          <a:noFill/>
          <a:ln>
            <a:noFill/>
          </a:ln>
        </p:spPr>
      </p:pic>
      <p:sp>
        <p:nvSpPr>
          <p:cNvPr id="548" name="Google Shape;548;p44"/>
          <p:cNvSpPr/>
          <p:nvPr/>
        </p:nvSpPr>
        <p:spPr>
          <a:xfrm>
            <a:off x="6255387" y="4827091"/>
            <a:ext cx="5078682"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1" i="0" lang="en-US" sz="1450" u="none" cap="none" strike="noStrike">
                <a:solidFill>
                  <a:srgbClr val="CAD6DE"/>
                </a:solidFill>
                <a:latin typeface="Unbounded"/>
                <a:ea typeface="Unbounded"/>
                <a:cs typeface="Unbounded"/>
                <a:sym typeface="Unbounded"/>
              </a:rPr>
              <a:t>/drone_X/odometry</a:t>
            </a:r>
            <a:endParaRPr b="0" i="0" sz="1450" u="none" cap="none" strike="noStrike">
              <a:solidFill>
                <a:schemeClr val="dk1"/>
              </a:solidFill>
              <a:latin typeface="Calibri"/>
              <a:ea typeface="Calibri"/>
              <a:cs typeface="Calibri"/>
              <a:sym typeface="Calibri"/>
            </a:endParaRPr>
          </a:p>
        </p:txBody>
      </p:sp>
      <p:sp>
        <p:nvSpPr>
          <p:cNvPr id="549" name="Google Shape;549;p44"/>
          <p:cNvSpPr/>
          <p:nvPr/>
        </p:nvSpPr>
        <p:spPr>
          <a:xfrm>
            <a:off x="6255387" y="5138341"/>
            <a:ext cx="5078682" cy="65107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lang="en-US" sz="1550">
                <a:solidFill>
                  <a:srgbClr val="CAD6DE"/>
                </a:solidFill>
                <a:latin typeface="Cabin"/>
                <a:ea typeface="Cabin"/>
                <a:cs typeface="Cabin"/>
                <a:sym typeface="Cabin"/>
              </a:rPr>
              <a:t>Gazebo</a:t>
            </a:r>
            <a:r>
              <a:rPr b="0" i="0" lang="en-US" sz="1550" u="none" cap="none" strike="noStrike">
                <a:solidFill>
                  <a:srgbClr val="CAD6DE"/>
                </a:solidFill>
                <a:latin typeface="Cabin"/>
                <a:ea typeface="Cabin"/>
                <a:cs typeface="Cabin"/>
                <a:sym typeface="Cabin"/>
              </a:rPr>
              <a:t> </a:t>
            </a:r>
            <a:r>
              <a:rPr b="0" i="0" lang="en-US" sz="1550" u="none" cap="none" strike="noStrike">
                <a:solidFill>
                  <a:srgbClr val="0A988B"/>
                </a:solidFill>
                <a:latin typeface="Cabin"/>
                <a:ea typeface="Cabin"/>
                <a:cs typeface="Cabin"/>
                <a:sym typeface="Cabin"/>
              </a:rPr>
              <a:t>→</a:t>
            </a:r>
            <a:r>
              <a:rPr b="0" i="0" lang="en-US" sz="1550" u="none" cap="none" strike="noStrike">
                <a:solidFill>
                  <a:srgbClr val="CAD6DE"/>
                </a:solidFill>
                <a:latin typeface="Cabin"/>
                <a:ea typeface="Cabin"/>
                <a:cs typeface="Cabin"/>
                <a:sym typeface="Cabin"/>
              </a:rPr>
              <a:t> Drone</a:t>
            </a:r>
            <a:endParaRPr b="0" i="0" sz="1550" u="none" cap="none" strike="noStrike">
              <a:solidFill>
                <a:schemeClr val="dk1"/>
              </a:solidFill>
              <a:latin typeface="Calibri"/>
              <a:ea typeface="Calibri"/>
              <a:cs typeface="Calibri"/>
              <a:sym typeface="Calibri"/>
            </a:endParaRPr>
          </a:p>
          <a:p>
            <a:pPr indent="0" lvl="0" marL="0" marR="0" rtl="0" algn="l">
              <a:lnSpc>
                <a:spcPct val="120000"/>
              </a:lnSpc>
              <a:spcBef>
                <a:spcPts val="600"/>
              </a:spcBef>
              <a:spcAft>
                <a:spcPts val="0"/>
              </a:spcAft>
              <a:buClr>
                <a:srgbClr val="CAD6DE"/>
              </a:buClr>
              <a:buSzPts val="1550"/>
              <a:buFont typeface="Cabin"/>
              <a:buNone/>
            </a:pPr>
            <a:r>
              <a:rPr lang="en-US" sz="1550">
                <a:solidFill>
                  <a:srgbClr val="CAD6DE"/>
                </a:solidFill>
                <a:latin typeface="Cabin"/>
                <a:ea typeface="Cabin"/>
                <a:cs typeface="Cabin"/>
                <a:sym typeface="Cabin"/>
              </a:rPr>
              <a:t>Avoid collisions</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descr="preencoded.png" id="555" name="Google Shape;555;p45"/>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556" name="Google Shape;556;p45"/>
          <p:cNvSpPr/>
          <p:nvPr/>
        </p:nvSpPr>
        <p:spPr>
          <a:xfrm>
            <a:off x="5269971" y="2826445"/>
            <a:ext cx="6223638"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Rust Coordinator</a:t>
            </a:r>
            <a:endParaRPr b="0" i="0" sz="3650" u="none" cap="none" strike="noStrike">
              <a:solidFill>
                <a:schemeClr val="dk1"/>
              </a:solidFill>
              <a:latin typeface="Calibri"/>
              <a:ea typeface="Calibri"/>
              <a:cs typeface="Calibri"/>
              <a:sym typeface="Calibri"/>
            </a:endParaRPr>
          </a:p>
        </p:txBody>
      </p:sp>
      <p:sp>
        <p:nvSpPr>
          <p:cNvPr id="557" name="Google Shape;557;p45"/>
          <p:cNvSpPr/>
          <p:nvPr/>
        </p:nvSpPr>
        <p:spPr>
          <a:xfrm>
            <a:off x="5269971" y="3712270"/>
            <a:ext cx="6833223" cy="3191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A988B"/>
              </a:buClr>
              <a:buSzPts val="1550"/>
              <a:buFont typeface="Cabin"/>
              <a:buNone/>
            </a:pPr>
            <a:r>
              <a:rPr b="0" i="0" lang="en-US" sz="1550" u="none" cap="none" strike="noStrike">
                <a:solidFill>
                  <a:srgbClr val="0A988B"/>
                </a:solidFill>
                <a:latin typeface="Cabin"/>
                <a:ea typeface="Cabin"/>
                <a:cs typeface="Cabin"/>
                <a:sym typeface="Cabin"/>
              </a:rPr>
              <a:t>Coordinator in Rust </a:t>
            </a:r>
            <a:r>
              <a:rPr b="0" i="0" lang="en-US" sz="1550" u="none" cap="none" strike="noStrike">
                <a:solidFill>
                  <a:srgbClr val="CAD6DE"/>
                </a:solidFill>
                <a:latin typeface="Cabin"/>
                <a:ea typeface="Cabin"/>
                <a:cs typeface="Cabin"/>
                <a:sym typeface="Cabin"/>
              </a:rPr>
              <a:t>— The swarm is managed by a separate coordinator</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6"/>
          <p:cNvSpPr/>
          <p:nvPr/>
        </p:nvSpPr>
        <p:spPr>
          <a:xfrm>
            <a:off x="698086" y="659705"/>
            <a:ext cx="10795524" cy="46940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b="0" i="0" lang="en-US" sz="2950" u="none" cap="none" strike="noStrike">
                <a:solidFill>
                  <a:srgbClr val="FFFFFF"/>
                </a:solidFill>
                <a:latin typeface="Unbounded"/>
                <a:ea typeface="Unbounded"/>
                <a:cs typeface="Unbounded"/>
                <a:sym typeface="Unbounded"/>
              </a:rPr>
              <a:t>The Rust Coordinator: 4 Key Roles</a:t>
            </a:r>
            <a:endParaRPr b="0" i="0" sz="2950" u="none" cap="none" strike="noStrike">
              <a:solidFill>
                <a:schemeClr val="dk1"/>
              </a:solidFill>
              <a:latin typeface="Calibri"/>
              <a:ea typeface="Calibri"/>
              <a:cs typeface="Calibri"/>
              <a:sym typeface="Calibri"/>
            </a:endParaRPr>
          </a:p>
        </p:txBody>
      </p:sp>
      <p:sp>
        <p:nvSpPr>
          <p:cNvPr id="564" name="Google Shape;564;p46"/>
          <p:cNvSpPr/>
          <p:nvPr/>
        </p:nvSpPr>
        <p:spPr>
          <a:xfrm>
            <a:off x="698086" y="1384399"/>
            <a:ext cx="11405108" cy="2872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We can see the coordinator in this project like the "central brain", managing several key aspects of the entire simulation.</a:t>
            </a:r>
            <a:endParaRPr b="0" i="0" sz="1550" u="none" cap="none" strike="noStrike">
              <a:solidFill>
                <a:schemeClr val="dk1"/>
              </a:solidFill>
              <a:latin typeface="Calibri"/>
              <a:ea typeface="Calibri"/>
              <a:cs typeface="Calibri"/>
              <a:sym typeface="Calibri"/>
            </a:endParaRPr>
          </a:p>
        </p:txBody>
      </p:sp>
      <p:pic>
        <p:nvPicPr>
          <p:cNvPr descr="preencoded.png" id="565" name="Google Shape;565;p46"/>
          <p:cNvPicPr preferRelativeResize="0"/>
          <p:nvPr/>
        </p:nvPicPr>
        <p:blipFill rotWithShape="1">
          <a:blip r:embed="rId3">
            <a:alphaModFix/>
          </a:blip>
          <a:srcRect b="0" l="0" r="0" t="0"/>
          <a:stretch/>
        </p:blipFill>
        <p:spPr>
          <a:xfrm>
            <a:off x="698086" y="1815207"/>
            <a:ext cx="10795524" cy="957461"/>
          </a:xfrm>
          <a:prstGeom prst="rect">
            <a:avLst/>
          </a:prstGeom>
          <a:noFill/>
          <a:ln>
            <a:noFill/>
          </a:ln>
        </p:spPr>
      </p:pic>
      <p:pic>
        <p:nvPicPr>
          <p:cNvPr descr="preencoded.png" id="566" name="Google Shape;566;p46"/>
          <p:cNvPicPr preferRelativeResize="0"/>
          <p:nvPr/>
        </p:nvPicPr>
        <p:blipFill rotWithShape="1">
          <a:blip r:embed="rId4">
            <a:alphaModFix/>
          </a:blip>
          <a:srcRect b="0" l="0" r="0" t="0"/>
          <a:stretch/>
        </p:blipFill>
        <p:spPr>
          <a:xfrm>
            <a:off x="916560" y="2174180"/>
            <a:ext cx="239310" cy="239316"/>
          </a:xfrm>
          <a:prstGeom prst="rect">
            <a:avLst/>
          </a:prstGeom>
          <a:noFill/>
          <a:ln>
            <a:noFill/>
          </a:ln>
        </p:spPr>
      </p:pic>
      <p:sp>
        <p:nvSpPr>
          <p:cNvPr id="567" name="Google Shape;567;p46"/>
          <p:cNvSpPr/>
          <p:nvPr/>
        </p:nvSpPr>
        <p:spPr>
          <a:xfrm>
            <a:off x="1482986" y="1993801"/>
            <a:ext cx="9832035"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Registry &amp; Swarm Telemetry</a:t>
            </a:r>
            <a:endParaRPr b="0" i="0" sz="1450" u="none" cap="none" strike="noStrike">
              <a:solidFill>
                <a:schemeClr val="dk1"/>
              </a:solidFill>
              <a:latin typeface="Calibri"/>
              <a:ea typeface="Calibri"/>
              <a:cs typeface="Calibri"/>
              <a:sym typeface="Calibri"/>
            </a:endParaRPr>
          </a:p>
        </p:txBody>
      </p:sp>
      <p:sp>
        <p:nvSpPr>
          <p:cNvPr id="568" name="Google Shape;568;p46"/>
          <p:cNvSpPr/>
          <p:nvPr/>
        </p:nvSpPr>
        <p:spPr>
          <a:xfrm>
            <a:off x="1482986" y="2305050"/>
            <a:ext cx="9832035" cy="2296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Listens for drone registrations, monitors health status and real-time 3D positions. Maintains a centralized drone database.</a:t>
            </a:r>
            <a:endParaRPr b="0" i="0" sz="1250" u="none" cap="none" strike="noStrike">
              <a:solidFill>
                <a:schemeClr val="dk1"/>
              </a:solidFill>
              <a:latin typeface="Calibri"/>
              <a:ea typeface="Calibri"/>
              <a:cs typeface="Calibri"/>
              <a:sym typeface="Calibri"/>
            </a:endParaRPr>
          </a:p>
        </p:txBody>
      </p:sp>
      <p:pic>
        <p:nvPicPr>
          <p:cNvPr descr="preencoded.png" id="569" name="Google Shape;569;p46"/>
          <p:cNvPicPr preferRelativeResize="0"/>
          <p:nvPr/>
        </p:nvPicPr>
        <p:blipFill rotWithShape="1">
          <a:blip r:embed="rId3">
            <a:alphaModFix/>
          </a:blip>
          <a:srcRect b="0" l="0" r="0" t="0"/>
          <a:stretch/>
        </p:blipFill>
        <p:spPr>
          <a:xfrm>
            <a:off x="698086" y="2900263"/>
            <a:ext cx="10795524" cy="957461"/>
          </a:xfrm>
          <a:prstGeom prst="rect">
            <a:avLst/>
          </a:prstGeom>
          <a:noFill/>
          <a:ln>
            <a:noFill/>
          </a:ln>
        </p:spPr>
      </p:pic>
      <p:pic>
        <p:nvPicPr>
          <p:cNvPr descr="preencoded.png" id="570" name="Google Shape;570;p46"/>
          <p:cNvPicPr preferRelativeResize="0"/>
          <p:nvPr/>
        </p:nvPicPr>
        <p:blipFill rotWithShape="1">
          <a:blip r:embed="rId5">
            <a:alphaModFix/>
          </a:blip>
          <a:srcRect b="0" l="0" r="0" t="0"/>
          <a:stretch/>
        </p:blipFill>
        <p:spPr>
          <a:xfrm>
            <a:off x="916560" y="3259237"/>
            <a:ext cx="239310" cy="239316"/>
          </a:xfrm>
          <a:prstGeom prst="rect">
            <a:avLst/>
          </a:prstGeom>
          <a:noFill/>
          <a:ln>
            <a:noFill/>
          </a:ln>
        </p:spPr>
      </p:pic>
      <p:sp>
        <p:nvSpPr>
          <p:cNvPr id="571" name="Google Shape;571;p46"/>
          <p:cNvSpPr/>
          <p:nvPr/>
        </p:nvSpPr>
        <p:spPr>
          <a:xfrm>
            <a:off x="1482986" y="3078857"/>
            <a:ext cx="9832035"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Formally Verified FSM Execution</a:t>
            </a:r>
            <a:endParaRPr b="0" i="0" sz="1450" u="none" cap="none" strike="noStrike">
              <a:solidFill>
                <a:schemeClr val="dk1"/>
              </a:solidFill>
              <a:latin typeface="Calibri"/>
              <a:ea typeface="Calibri"/>
              <a:cs typeface="Calibri"/>
              <a:sym typeface="Calibri"/>
            </a:endParaRPr>
          </a:p>
        </p:txBody>
      </p:sp>
      <p:sp>
        <p:nvSpPr>
          <p:cNvPr id="572" name="Google Shape;572;p46"/>
          <p:cNvSpPr/>
          <p:nvPr/>
        </p:nvSpPr>
        <p:spPr>
          <a:xfrm>
            <a:off x="1482986" y="3390106"/>
            <a:ext cx="9832035" cy="2296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Manages global swarm state transitions (Unregistered → Active → Suspected → Failed). Safety rules are formally verified with Kani.</a:t>
            </a:r>
            <a:endParaRPr b="0" i="0" sz="1250" u="none" cap="none" strike="noStrike">
              <a:solidFill>
                <a:schemeClr val="dk1"/>
              </a:solidFill>
              <a:latin typeface="Calibri"/>
              <a:ea typeface="Calibri"/>
              <a:cs typeface="Calibri"/>
              <a:sym typeface="Calibri"/>
            </a:endParaRPr>
          </a:p>
        </p:txBody>
      </p:sp>
      <p:pic>
        <p:nvPicPr>
          <p:cNvPr descr="preencoded.png" id="573" name="Google Shape;573;p46"/>
          <p:cNvPicPr preferRelativeResize="0"/>
          <p:nvPr/>
        </p:nvPicPr>
        <p:blipFill rotWithShape="1">
          <a:blip r:embed="rId3">
            <a:alphaModFix/>
          </a:blip>
          <a:srcRect b="0" l="0" r="0" t="0"/>
          <a:stretch/>
        </p:blipFill>
        <p:spPr>
          <a:xfrm>
            <a:off x="698086" y="3985320"/>
            <a:ext cx="10795524" cy="957461"/>
          </a:xfrm>
          <a:prstGeom prst="rect">
            <a:avLst/>
          </a:prstGeom>
          <a:noFill/>
          <a:ln>
            <a:noFill/>
          </a:ln>
        </p:spPr>
      </p:pic>
      <p:pic>
        <p:nvPicPr>
          <p:cNvPr descr="preencoded.png" id="574" name="Google Shape;574;p46"/>
          <p:cNvPicPr preferRelativeResize="0"/>
          <p:nvPr/>
        </p:nvPicPr>
        <p:blipFill rotWithShape="1">
          <a:blip r:embed="rId6">
            <a:alphaModFix/>
          </a:blip>
          <a:srcRect b="0" l="0" r="0" t="0"/>
          <a:stretch/>
        </p:blipFill>
        <p:spPr>
          <a:xfrm>
            <a:off x="916560" y="4344293"/>
            <a:ext cx="239310" cy="239316"/>
          </a:xfrm>
          <a:prstGeom prst="rect">
            <a:avLst/>
          </a:prstGeom>
          <a:noFill/>
          <a:ln>
            <a:noFill/>
          </a:ln>
        </p:spPr>
      </p:pic>
      <p:sp>
        <p:nvSpPr>
          <p:cNvPr id="575" name="Google Shape;575;p46"/>
          <p:cNvSpPr/>
          <p:nvPr/>
        </p:nvSpPr>
        <p:spPr>
          <a:xfrm>
            <a:off x="1482986" y="4163913"/>
            <a:ext cx="9832035"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Leader Election &amp; Re-election</a:t>
            </a:r>
            <a:endParaRPr b="0" i="0" sz="1450" u="none" cap="none" strike="noStrike">
              <a:solidFill>
                <a:schemeClr val="dk1"/>
              </a:solidFill>
              <a:latin typeface="Calibri"/>
              <a:ea typeface="Calibri"/>
              <a:cs typeface="Calibri"/>
              <a:sym typeface="Calibri"/>
            </a:endParaRPr>
          </a:p>
        </p:txBody>
      </p:sp>
      <p:sp>
        <p:nvSpPr>
          <p:cNvPr id="576" name="Google Shape;576;p46"/>
          <p:cNvSpPr/>
          <p:nvPr/>
        </p:nvSpPr>
        <p:spPr>
          <a:xfrm>
            <a:off x="1482986" y="4475163"/>
            <a:ext cx="9832035" cy="22969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Determines swarm Leader using dynamic proximity/density-based algorithms. Ensures automatic re-election upon leader failure.</a:t>
            </a:r>
            <a:endParaRPr b="0" i="0" sz="1250" u="none" cap="none" strike="noStrike">
              <a:solidFill>
                <a:schemeClr val="dk1"/>
              </a:solidFill>
              <a:latin typeface="Calibri"/>
              <a:ea typeface="Calibri"/>
              <a:cs typeface="Calibri"/>
              <a:sym typeface="Calibri"/>
            </a:endParaRPr>
          </a:p>
        </p:txBody>
      </p:sp>
      <p:pic>
        <p:nvPicPr>
          <p:cNvPr descr="preencoded.png" id="577" name="Google Shape;577;p46"/>
          <p:cNvPicPr preferRelativeResize="0"/>
          <p:nvPr/>
        </p:nvPicPr>
        <p:blipFill rotWithShape="1">
          <a:blip r:embed="rId7">
            <a:alphaModFix/>
          </a:blip>
          <a:srcRect b="0" l="0" r="0" t="0"/>
          <a:stretch/>
        </p:blipFill>
        <p:spPr>
          <a:xfrm>
            <a:off x="698086" y="5070376"/>
            <a:ext cx="10795524" cy="1127820"/>
          </a:xfrm>
          <a:prstGeom prst="rect">
            <a:avLst/>
          </a:prstGeom>
          <a:noFill/>
          <a:ln>
            <a:noFill/>
          </a:ln>
        </p:spPr>
      </p:pic>
      <p:pic>
        <p:nvPicPr>
          <p:cNvPr descr="preencoded.png" id="578" name="Google Shape;578;p46"/>
          <p:cNvPicPr preferRelativeResize="0"/>
          <p:nvPr/>
        </p:nvPicPr>
        <p:blipFill rotWithShape="1">
          <a:blip r:embed="rId8">
            <a:alphaModFix/>
          </a:blip>
          <a:srcRect b="0" l="0" r="0" t="0"/>
          <a:stretch/>
        </p:blipFill>
        <p:spPr>
          <a:xfrm>
            <a:off x="916560" y="5514578"/>
            <a:ext cx="239310" cy="239316"/>
          </a:xfrm>
          <a:prstGeom prst="rect">
            <a:avLst/>
          </a:prstGeom>
          <a:noFill/>
          <a:ln>
            <a:noFill/>
          </a:ln>
        </p:spPr>
      </p:pic>
      <p:sp>
        <p:nvSpPr>
          <p:cNvPr id="579" name="Google Shape;579;p46"/>
          <p:cNvSpPr/>
          <p:nvPr/>
        </p:nvSpPr>
        <p:spPr>
          <a:xfrm>
            <a:off x="1482986" y="5248970"/>
            <a:ext cx="9832035"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Formation Computation &amp; Assignment</a:t>
            </a:r>
            <a:endParaRPr b="0" i="0" sz="1450" u="none" cap="none" strike="noStrike">
              <a:solidFill>
                <a:schemeClr val="dk1"/>
              </a:solidFill>
              <a:latin typeface="Calibri"/>
              <a:ea typeface="Calibri"/>
              <a:cs typeface="Calibri"/>
              <a:sym typeface="Calibri"/>
            </a:endParaRPr>
          </a:p>
        </p:txBody>
      </p:sp>
      <p:sp>
        <p:nvSpPr>
          <p:cNvPr id="580" name="Google Shape;580;p46"/>
          <p:cNvSpPr/>
          <p:nvPr/>
        </p:nvSpPr>
        <p:spPr>
          <a:xfrm>
            <a:off x="1482986" y="5560219"/>
            <a:ext cx="9832035" cy="45938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Translates global commands into individual 3D coordinates and manages altitude layering for collision prevention. Dispatches /swarm/goto commands.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7"/>
          <p:cNvSpPr/>
          <p:nvPr/>
        </p:nvSpPr>
        <p:spPr>
          <a:xfrm>
            <a:off x="698086" y="548580"/>
            <a:ext cx="10795524" cy="11733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Coordinator Architecture: Centralized Brain of the Swarm</a:t>
            </a:r>
            <a:endParaRPr b="0" i="0" sz="3650" u="none" cap="none" strike="noStrike">
              <a:solidFill>
                <a:schemeClr val="dk1"/>
              </a:solidFill>
              <a:latin typeface="Calibri"/>
              <a:ea typeface="Calibri"/>
              <a:cs typeface="Calibri"/>
              <a:sym typeface="Calibri"/>
            </a:endParaRPr>
          </a:p>
        </p:txBody>
      </p:sp>
      <p:sp>
        <p:nvSpPr>
          <p:cNvPr id="587" name="Google Shape;587;p47"/>
          <p:cNvSpPr/>
          <p:nvPr/>
        </p:nvSpPr>
        <p:spPr>
          <a:xfrm>
            <a:off x="698086" y="2220516"/>
            <a:ext cx="515448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What the Coordinator Does:</a:t>
            </a:r>
            <a:endParaRPr b="0" i="0" sz="1800" u="none" cap="none" strike="noStrike">
              <a:solidFill>
                <a:schemeClr val="dk1"/>
              </a:solidFill>
              <a:latin typeface="Calibri"/>
              <a:ea typeface="Calibri"/>
              <a:cs typeface="Calibri"/>
              <a:sym typeface="Calibri"/>
            </a:endParaRPr>
          </a:p>
        </p:txBody>
      </p:sp>
      <p:sp>
        <p:nvSpPr>
          <p:cNvPr id="588" name="Google Shape;588;p47"/>
          <p:cNvSpPr/>
          <p:nvPr/>
        </p:nvSpPr>
        <p:spPr>
          <a:xfrm>
            <a:off x="698086" y="2713236"/>
            <a:ext cx="5154484" cy="1874937"/>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Centralized decision-making authority</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Receives all drone telemetry and heartbeats</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Executes formally verified FSM logic</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Computes and assigns flight formations</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Manages leader election and fault recovery</a:t>
            </a:r>
            <a:endParaRPr b="0" i="0" sz="1550" u="none" cap="none" strike="noStrike">
              <a:solidFill>
                <a:schemeClr val="dk1"/>
              </a:solidFill>
              <a:latin typeface="Calibri"/>
              <a:ea typeface="Calibri"/>
              <a:cs typeface="Calibri"/>
              <a:sym typeface="Calibri"/>
            </a:endParaRPr>
          </a:p>
        </p:txBody>
      </p:sp>
      <p:sp>
        <p:nvSpPr>
          <p:cNvPr id="589" name="Google Shape;589;p47"/>
          <p:cNvSpPr/>
          <p:nvPr/>
        </p:nvSpPr>
        <p:spPr>
          <a:xfrm>
            <a:off x="6345476" y="2220516"/>
            <a:ext cx="515448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How It Communicates:</a:t>
            </a:r>
            <a:endParaRPr b="0" i="0" sz="1800" u="none" cap="none" strike="noStrike">
              <a:solidFill>
                <a:schemeClr val="dk1"/>
              </a:solidFill>
              <a:latin typeface="Calibri"/>
              <a:ea typeface="Calibri"/>
              <a:cs typeface="Calibri"/>
              <a:sym typeface="Calibri"/>
            </a:endParaRPr>
          </a:p>
        </p:txBody>
      </p:sp>
      <p:sp>
        <p:nvSpPr>
          <p:cNvPr id="590" name="Google Shape;590;p47"/>
          <p:cNvSpPr/>
          <p:nvPr/>
        </p:nvSpPr>
        <p:spPr>
          <a:xfrm>
            <a:off x="6345476" y="2713236"/>
            <a:ext cx="5154484" cy="1893987"/>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Listens to: </a:t>
            </a:r>
            <a:r>
              <a:rPr b="0" i="0" lang="en-US" sz="1550" u="none" cap="none" strike="noStrike">
                <a:solidFill>
                  <a:srgbClr val="CAD6DE"/>
                </a:solidFill>
                <a:highlight>
                  <a:srgbClr val="1E3543"/>
                </a:highlight>
                <a:latin typeface="Consolas"/>
                <a:ea typeface="Consolas"/>
                <a:cs typeface="Consolas"/>
                <a:sym typeface="Consolas"/>
              </a:rPr>
              <a:t>/swarm/register</a:t>
            </a:r>
            <a:r>
              <a:rPr b="0" i="0" lang="en-US" sz="1550" u="none" cap="none" strike="noStrike">
                <a:solidFill>
                  <a:srgbClr val="CAD6DE"/>
                </a:solidFill>
                <a:latin typeface="Cabin"/>
                <a:ea typeface="Cabin"/>
                <a:cs typeface="Cabin"/>
                <a:sym typeface="Cabin"/>
              </a:rPr>
              <a:t>, </a:t>
            </a:r>
            <a:r>
              <a:rPr b="0" i="0" lang="en-US" sz="1550" u="none" cap="none" strike="noStrike">
                <a:solidFill>
                  <a:srgbClr val="CAD6DE"/>
                </a:solidFill>
                <a:highlight>
                  <a:srgbClr val="1E3543"/>
                </a:highlight>
                <a:latin typeface="Consolas"/>
                <a:ea typeface="Consolas"/>
                <a:cs typeface="Consolas"/>
                <a:sym typeface="Consolas"/>
              </a:rPr>
              <a:t>/swarm/heartbeat</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Sends to: </a:t>
            </a:r>
            <a:r>
              <a:rPr b="0" i="0" lang="en-US" sz="1550" u="none" cap="none" strike="noStrike">
                <a:solidFill>
                  <a:srgbClr val="CAD6DE"/>
                </a:solidFill>
                <a:highlight>
                  <a:srgbClr val="1E3543"/>
                </a:highlight>
                <a:latin typeface="Consolas"/>
                <a:ea typeface="Consolas"/>
                <a:cs typeface="Consolas"/>
                <a:sym typeface="Consolas"/>
              </a:rPr>
              <a:t>/swarm/goto</a:t>
            </a:r>
            <a:r>
              <a:rPr b="0" i="0" lang="en-US" sz="1550" u="none" cap="none" strike="noStrike">
                <a:solidFill>
                  <a:srgbClr val="CAD6DE"/>
                </a:solidFill>
                <a:latin typeface="Cabin"/>
                <a:ea typeface="Cabin"/>
                <a:cs typeface="Cabin"/>
                <a:sym typeface="Cabin"/>
              </a:rPr>
              <a:t> (target coordinates)</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Maintains: Global swarm state (</a:t>
            </a:r>
            <a:r>
              <a:rPr b="0" i="0" lang="en-US" sz="1550" u="none" cap="none" strike="noStrike">
                <a:solidFill>
                  <a:srgbClr val="CAD6DE"/>
                </a:solidFill>
                <a:highlight>
                  <a:srgbClr val="1E3543"/>
                </a:highlight>
                <a:latin typeface="Consolas"/>
                <a:ea typeface="Consolas"/>
                <a:cs typeface="Consolas"/>
                <a:sym typeface="Consolas"/>
              </a:rPr>
              <a:t>Arc&lt;Mutex&lt;T&gt;&gt;</a:t>
            </a:r>
            <a:r>
              <a:rPr b="0" i="0" lang="en-US" sz="1550" u="none" cap="none" strike="noStrike">
                <a:solidFill>
                  <a:srgbClr val="CAD6DE"/>
                </a:solidFill>
                <a:latin typeface="Cabin"/>
                <a:ea typeface="Cabin"/>
                <a:cs typeface="Cabin"/>
                <a:sym typeface="Cabin"/>
              </a:rPr>
              <a:t>)</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Runs: Multi-threaded listener hierarchy</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Ensures: Non-blocking asynchronous execution</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8"/>
          <p:cNvSpPr/>
          <p:nvPr/>
        </p:nvSpPr>
        <p:spPr>
          <a:xfrm>
            <a:off x="237036" y="145180"/>
            <a:ext cx="10795500" cy="363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50"/>
              <a:buFont typeface="Unbounded"/>
              <a:buNone/>
            </a:pPr>
            <a:r>
              <a:rPr b="0" i="0" lang="en-US" sz="2250" u="none" cap="none" strike="noStrike">
                <a:solidFill>
                  <a:srgbClr val="FFFFFF"/>
                </a:solidFill>
                <a:latin typeface="Unbounded"/>
                <a:ea typeface="Unbounded"/>
                <a:cs typeface="Unbounded"/>
                <a:sym typeface="Unbounded"/>
              </a:rPr>
              <a:t>Thread Architecture:</a:t>
            </a:r>
            <a:endParaRPr b="0" i="0" sz="2250" u="none" cap="none" strike="noStrike">
              <a:solidFill>
                <a:schemeClr val="dk1"/>
              </a:solidFill>
              <a:latin typeface="Calibri"/>
              <a:ea typeface="Calibri"/>
              <a:cs typeface="Calibri"/>
              <a:sym typeface="Calibri"/>
            </a:endParaRPr>
          </a:p>
        </p:txBody>
      </p:sp>
      <p:pic>
        <p:nvPicPr>
          <p:cNvPr descr="preencoded.png" id="597" name="Google Shape;597;p48"/>
          <p:cNvPicPr preferRelativeResize="0"/>
          <p:nvPr/>
        </p:nvPicPr>
        <p:blipFill rotWithShape="1">
          <a:blip r:embed="rId3">
            <a:alphaModFix/>
          </a:blip>
          <a:srcRect b="0" l="0" r="0" t="0"/>
          <a:stretch/>
        </p:blipFill>
        <p:spPr>
          <a:xfrm>
            <a:off x="6845007" y="1100762"/>
            <a:ext cx="5247052" cy="1838523"/>
          </a:xfrm>
          <a:prstGeom prst="rect">
            <a:avLst/>
          </a:prstGeom>
          <a:noFill/>
          <a:ln>
            <a:noFill/>
          </a:ln>
        </p:spPr>
      </p:pic>
      <p:pic>
        <p:nvPicPr>
          <p:cNvPr descr="preencoded.png" id="598" name="Google Shape;598;p48"/>
          <p:cNvPicPr preferRelativeResize="0"/>
          <p:nvPr/>
        </p:nvPicPr>
        <p:blipFill rotWithShape="1">
          <a:blip r:embed="rId4">
            <a:alphaModFix/>
          </a:blip>
          <a:srcRect b="0" l="0" r="0" t="0"/>
          <a:stretch/>
        </p:blipFill>
        <p:spPr>
          <a:xfrm>
            <a:off x="7012186" y="1927254"/>
            <a:ext cx="185336" cy="185341"/>
          </a:xfrm>
          <a:prstGeom prst="rect">
            <a:avLst/>
          </a:prstGeom>
          <a:noFill/>
          <a:ln>
            <a:noFill/>
          </a:ln>
        </p:spPr>
      </p:pic>
      <p:sp>
        <p:nvSpPr>
          <p:cNvPr id="599" name="Google Shape;599;p48"/>
          <p:cNvSpPr/>
          <p:nvPr/>
        </p:nvSpPr>
        <p:spPr>
          <a:xfrm>
            <a:off x="7428498" y="1236989"/>
            <a:ext cx="4527300" cy="181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Main Thread - Coordinator Loop</a:t>
            </a:r>
            <a:endParaRPr b="0" i="0" sz="1100" u="none" cap="none" strike="noStrike">
              <a:solidFill>
                <a:schemeClr val="dk1"/>
              </a:solidFill>
              <a:latin typeface="Calibri"/>
              <a:ea typeface="Calibri"/>
              <a:cs typeface="Calibri"/>
              <a:sym typeface="Calibri"/>
            </a:endParaRPr>
          </a:p>
        </p:txBody>
      </p:sp>
      <p:sp>
        <p:nvSpPr>
          <p:cNvPr id="600" name="Google Shape;600;p48"/>
          <p:cNvSpPr/>
          <p:nvPr/>
        </p:nvSpPr>
        <p:spPr>
          <a:xfrm>
            <a:off x="7428498" y="1495156"/>
            <a:ext cx="4527300" cy="1308000"/>
          </a:xfrm>
          <a:prstGeom prst="rect">
            <a:avLst/>
          </a:prstGeom>
          <a:noFill/>
          <a:ln>
            <a:noFill/>
          </a:ln>
        </p:spPr>
        <p:txBody>
          <a:bodyPr anchorCtr="0" anchor="t" bIns="0" lIns="0" spcFirstLastPara="1" rIns="0" wrap="square" tIns="61775">
            <a:noAutofit/>
          </a:bodyPr>
          <a:lstStyle/>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Monitors heartbeat timeouts (5 seconds for Suspected, 10 seconds for Failed)</a:t>
            </a:r>
            <a:endParaRPr b="0" i="0" sz="1200" u="none" cap="none" strike="noStrike">
              <a:solidFill>
                <a:schemeClr val="dk1"/>
              </a:solidFill>
              <a:latin typeface="Calibri"/>
              <a:ea typeface="Calibri"/>
              <a:cs typeface="Calibri"/>
              <a:sym typeface="Calibri"/>
            </a:endParaRPr>
          </a:p>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Executes leader election algorithms when needed</a:t>
            </a:r>
            <a:endParaRPr b="0" i="0" sz="1200" u="none" cap="none" strike="noStrike">
              <a:solidFill>
                <a:schemeClr val="dk1"/>
              </a:solidFill>
              <a:latin typeface="Calibri"/>
              <a:ea typeface="Calibri"/>
              <a:cs typeface="Calibri"/>
              <a:sym typeface="Calibri"/>
            </a:endParaRPr>
          </a:p>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Triggers dynamic swarm re-formations based on current state</a:t>
            </a:r>
            <a:endParaRPr b="0" i="0" sz="1200" u="none" cap="none" strike="noStrike">
              <a:solidFill>
                <a:schemeClr val="dk1"/>
              </a:solidFill>
              <a:latin typeface="Calibri"/>
              <a:ea typeface="Calibri"/>
              <a:cs typeface="Calibri"/>
              <a:sym typeface="Calibri"/>
            </a:endParaRPr>
          </a:p>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Synchronizes with worker threads via thread-safe shared state</a:t>
            </a:r>
            <a:endParaRPr b="0" i="0" sz="1200" u="none" cap="none" strike="noStrike">
              <a:solidFill>
                <a:schemeClr val="dk1"/>
              </a:solidFill>
              <a:latin typeface="Calibri"/>
              <a:ea typeface="Calibri"/>
              <a:cs typeface="Calibri"/>
              <a:sym typeface="Calibri"/>
            </a:endParaRPr>
          </a:p>
        </p:txBody>
      </p:sp>
      <p:pic>
        <p:nvPicPr>
          <p:cNvPr descr="preencoded.png" id="601" name="Google Shape;601;p48"/>
          <p:cNvPicPr preferRelativeResize="0"/>
          <p:nvPr/>
        </p:nvPicPr>
        <p:blipFill rotWithShape="1">
          <a:blip r:embed="rId5">
            <a:alphaModFix/>
          </a:blip>
          <a:srcRect b="0" l="0" r="0" t="0"/>
          <a:stretch/>
        </p:blipFill>
        <p:spPr>
          <a:xfrm>
            <a:off x="6845007" y="3015783"/>
            <a:ext cx="5247052" cy="1417837"/>
          </a:xfrm>
          <a:prstGeom prst="rect">
            <a:avLst/>
          </a:prstGeom>
          <a:noFill/>
          <a:ln>
            <a:noFill/>
          </a:ln>
        </p:spPr>
      </p:pic>
      <p:pic>
        <p:nvPicPr>
          <p:cNvPr descr="preencoded.png" id="602" name="Google Shape;602;p48"/>
          <p:cNvPicPr preferRelativeResize="0"/>
          <p:nvPr/>
        </p:nvPicPr>
        <p:blipFill rotWithShape="1">
          <a:blip r:embed="rId6">
            <a:alphaModFix/>
          </a:blip>
          <a:srcRect b="0" l="0" r="0" t="0"/>
          <a:stretch/>
        </p:blipFill>
        <p:spPr>
          <a:xfrm>
            <a:off x="7012186" y="3631931"/>
            <a:ext cx="185336" cy="185341"/>
          </a:xfrm>
          <a:prstGeom prst="rect">
            <a:avLst/>
          </a:prstGeom>
          <a:noFill/>
          <a:ln>
            <a:noFill/>
          </a:ln>
        </p:spPr>
      </p:pic>
      <p:sp>
        <p:nvSpPr>
          <p:cNvPr id="603" name="Google Shape;603;p48"/>
          <p:cNvSpPr/>
          <p:nvPr/>
        </p:nvSpPr>
        <p:spPr>
          <a:xfrm>
            <a:off x="7428498" y="3152010"/>
            <a:ext cx="4527300" cy="181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Worker Thread 1: Registration Handler</a:t>
            </a:r>
            <a:endParaRPr b="0" i="0" sz="1100" u="none" cap="none" strike="noStrike">
              <a:solidFill>
                <a:schemeClr val="dk1"/>
              </a:solidFill>
              <a:latin typeface="Calibri"/>
              <a:ea typeface="Calibri"/>
              <a:cs typeface="Calibri"/>
              <a:sym typeface="Calibri"/>
            </a:endParaRPr>
          </a:p>
        </p:txBody>
      </p:sp>
      <p:sp>
        <p:nvSpPr>
          <p:cNvPr id="604" name="Google Shape;604;p48"/>
          <p:cNvSpPr/>
          <p:nvPr/>
        </p:nvSpPr>
        <p:spPr>
          <a:xfrm>
            <a:off x="7428498" y="3410177"/>
            <a:ext cx="4527300" cy="887100"/>
          </a:xfrm>
          <a:prstGeom prst="rect">
            <a:avLst/>
          </a:prstGeom>
          <a:noFill/>
          <a:ln>
            <a:noFill/>
          </a:ln>
        </p:spPr>
        <p:txBody>
          <a:bodyPr anchorCtr="0" anchor="t" bIns="0" lIns="0" spcFirstLastPara="1" rIns="0" wrap="square" tIns="61775">
            <a:noAutofit/>
          </a:bodyPr>
          <a:lstStyle/>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Listens continuously to </a:t>
            </a:r>
            <a:r>
              <a:rPr b="0" i="0" lang="en-US" sz="1200" u="none" cap="none" strike="noStrike">
                <a:solidFill>
                  <a:srgbClr val="CAD6DE"/>
                </a:solidFill>
                <a:highlight>
                  <a:srgbClr val="1E3543"/>
                </a:highlight>
                <a:latin typeface="Consolas"/>
                <a:ea typeface="Consolas"/>
                <a:cs typeface="Consolas"/>
                <a:sym typeface="Consolas"/>
              </a:rPr>
              <a:t>/swarm/register</a:t>
            </a:r>
            <a:r>
              <a:rPr b="0" i="0" lang="en-US" sz="1200" u="none" cap="none" strike="noStrike">
                <a:solidFill>
                  <a:srgbClr val="CAD6DE"/>
                </a:solidFill>
                <a:latin typeface="Cabin"/>
                <a:ea typeface="Cabin"/>
                <a:cs typeface="Cabin"/>
                <a:sym typeface="Cabin"/>
              </a:rPr>
              <a:t> topic</a:t>
            </a:r>
            <a:endParaRPr b="0" i="0" sz="1200" u="none" cap="none" strike="noStrike">
              <a:solidFill>
                <a:schemeClr val="dk1"/>
              </a:solidFill>
              <a:latin typeface="Calibri"/>
              <a:ea typeface="Calibri"/>
              <a:cs typeface="Calibri"/>
              <a:sym typeface="Calibri"/>
            </a:endParaRPr>
          </a:p>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Handles new drone registrations and initialization</a:t>
            </a:r>
            <a:endParaRPr b="0" i="0" sz="1200" u="none" cap="none" strike="noStrike">
              <a:solidFill>
                <a:schemeClr val="dk1"/>
              </a:solidFill>
              <a:latin typeface="Calibri"/>
              <a:ea typeface="Calibri"/>
              <a:cs typeface="Calibri"/>
              <a:sym typeface="Calibri"/>
            </a:endParaRPr>
          </a:p>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Triggers Gazebo spawning of new drone instances</a:t>
            </a:r>
            <a:endParaRPr b="0" i="0" sz="1200" u="none" cap="none" strike="noStrike">
              <a:solidFill>
                <a:schemeClr val="dk1"/>
              </a:solidFill>
              <a:latin typeface="Calibri"/>
              <a:ea typeface="Calibri"/>
              <a:cs typeface="Calibri"/>
              <a:sym typeface="Calibri"/>
            </a:endParaRPr>
          </a:p>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Updates SwarmCoordinatorState with new drone metadata</a:t>
            </a:r>
            <a:endParaRPr b="0" i="0" sz="1200" u="none" cap="none" strike="noStrike">
              <a:solidFill>
                <a:schemeClr val="dk1"/>
              </a:solidFill>
              <a:latin typeface="Calibri"/>
              <a:ea typeface="Calibri"/>
              <a:cs typeface="Calibri"/>
              <a:sym typeface="Calibri"/>
            </a:endParaRPr>
          </a:p>
        </p:txBody>
      </p:sp>
      <p:pic>
        <p:nvPicPr>
          <p:cNvPr descr="preencoded.png" id="605" name="Google Shape;605;p48"/>
          <p:cNvPicPr preferRelativeResize="0"/>
          <p:nvPr/>
        </p:nvPicPr>
        <p:blipFill rotWithShape="1">
          <a:blip r:embed="rId5">
            <a:alphaModFix/>
          </a:blip>
          <a:srcRect b="0" l="0" r="0" t="0"/>
          <a:stretch/>
        </p:blipFill>
        <p:spPr>
          <a:xfrm>
            <a:off x="6845007" y="4510116"/>
            <a:ext cx="5247052" cy="1417837"/>
          </a:xfrm>
          <a:prstGeom prst="rect">
            <a:avLst/>
          </a:prstGeom>
          <a:noFill/>
          <a:ln>
            <a:noFill/>
          </a:ln>
        </p:spPr>
      </p:pic>
      <p:pic>
        <p:nvPicPr>
          <p:cNvPr descr="preencoded.png" id="606" name="Google Shape;606;p48"/>
          <p:cNvPicPr preferRelativeResize="0"/>
          <p:nvPr/>
        </p:nvPicPr>
        <p:blipFill rotWithShape="1">
          <a:blip r:embed="rId7">
            <a:alphaModFix/>
          </a:blip>
          <a:srcRect b="0" l="0" r="0" t="0"/>
          <a:stretch/>
        </p:blipFill>
        <p:spPr>
          <a:xfrm>
            <a:off x="7012186" y="5126265"/>
            <a:ext cx="185336" cy="185341"/>
          </a:xfrm>
          <a:prstGeom prst="rect">
            <a:avLst/>
          </a:prstGeom>
          <a:noFill/>
          <a:ln>
            <a:noFill/>
          </a:ln>
        </p:spPr>
      </p:pic>
      <p:sp>
        <p:nvSpPr>
          <p:cNvPr id="607" name="Google Shape;607;p48"/>
          <p:cNvSpPr/>
          <p:nvPr/>
        </p:nvSpPr>
        <p:spPr>
          <a:xfrm>
            <a:off x="7428498" y="4646344"/>
            <a:ext cx="4527300" cy="181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Worker Thread 2: Heartbeat Monitor</a:t>
            </a:r>
            <a:endParaRPr b="0" i="0" sz="1100" u="none" cap="none" strike="noStrike">
              <a:solidFill>
                <a:schemeClr val="dk1"/>
              </a:solidFill>
              <a:latin typeface="Calibri"/>
              <a:ea typeface="Calibri"/>
              <a:cs typeface="Calibri"/>
              <a:sym typeface="Calibri"/>
            </a:endParaRPr>
          </a:p>
        </p:txBody>
      </p:sp>
      <p:sp>
        <p:nvSpPr>
          <p:cNvPr id="608" name="Google Shape;608;p48"/>
          <p:cNvSpPr/>
          <p:nvPr/>
        </p:nvSpPr>
        <p:spPr>
          <a:xfrm>
            <a:off x="7428498" y="4904511"/>
            <a:ext cx="4527300" cy="887100"/>
          </a:xfrm>
          <a:prstGeom prst="rect">
            <a:avLst/>
          </a:prstGeom>
          <a:noFill/>
          <a:ln>
            <a:noFill/>
          </a:ln>
        </p:spPr>
        <p:txBody>
          <a:bodyPr anchorCtr="0" anchor="t" bIns="0" lIns="0" spcFirstLastPara="1" rIns="0" wrap="square" tIns="61775">
            <a:noAutofit/>
          </a:bodyPr>
          <a:lstStyle/>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Listens continuously to </a:t>
            </a:r>
            <a:r>
              <a:rPr b="0" i="0" lang="en-US" sz="1200" u="none" cap="none" strike="noStrike">
                <a:solidFill>
                  <a:srgbClr val="CAD6DE"/>
                </a:solidFill>
                <a:highlight>
                  <a:srgbClr val="1E3543"/>
                </a:highlight>
                <a:latin typeface="Consolas"/>
                <a:ea typeface="Consolas"/>
                <a:cs typeface="Consolas"/>
                <a:sym typeface="Consolas"/>
              </a:rPr>
              <a:t>/swarm/heartbeat</a:t>
            </a:r>
            <a:r>
              <a:rPr b="0" i="0" lang="en-US" sz="1200" u="none" cap="none" strike="noStrike">
                <a:solidFill>
                  <a:srgbClr val="CAD6DE"/>
                </a:solidFill>
                <a:latin typeface="Cabin"/>
                <a:ea typeface="Cabin"/>
                <a:cs typeface="Cabin"/>
                <a:sym typeface="Cabin"/>
              </a:rPr>
              <a:t> topic</a:t>
            </a:r>
            <a:endParaRPr b="0" i="0" sz="1200" u="none" cap="none" strike="noStrike">
              <a:solidFill>
                <a:schemeClr val="dk1"/>
              </a:solidFill>
              <a:latin typeface="Calibri"/>
              <a:ea typeface="Calibri"/>
              <a:cs typeface="Calibri"/>
              <a:sym typeface="Calibri"/>
            </a:endParaRPr>
          </a:p>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Receives real-time 3D telemetry and position updates</a:t>
            </a:r>
            <a:endParaRPr b="0" i="0" sz="1200" u="none" cap="none" strike="noStrike">
              <a:solidFill>
                <a:schemeClr val="dk1"/>
              </a:solidFill>
              <a:latin typeface="Calibri"/>
              <a:ea typeface="Calibri"/>
              <a:cs typeface="Calibri"/>
              <a:sym typeface="Calibri"/>
            </a:endParaRPr>
          </a:p>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Updates drone timestamps for timeout detection</a:t>
            </a:r>
            <a:endParaRPr b="0" i="0" sz="1200" u="none" cap="none" strike="noStrike">
              <a:solidFill>
                <a:schemeClr val="dk1"/>
              </a:solidFill>
              <a:latin typeface="Calibri"/>
              <a:ea typeface="Calibri"/>
              <a:cs typeface="Calibri"/>
              <a:sym typeface="Calibri"/>
            </a:endParaRPr>
          </a:p>
          <a:p>
            <a:pPr indent="-243840" lvl="0" marL="243840" marR="0" rtl="0" algn="l">
              <a:lnSpc>
                <a:spcPct val="108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Maintains current position data for collision avoidance</a:t>
            </a:r>
            <a:endParaRPr b="0" i="0" sz="1200" u="none" cap="none" strike="noStrike">
              <a:solidFill>
                <a:schemeClr val="dk1"/>
              </a:solidFill>
              <a:latin typeface="Calibri"/>
              <a:ea typeface="Calibri"/>
              <a:cs typeface="Calibri"/>
              <a:sym typeface="Calibri"/>
            </a:endParaRPr>
          </a:p>
        </p:txBody>
      </p:sp>
      <p:pic>
        <p:nvPicPr>
          <p:cNvPr id="609" name="Google Shape;609;p48"/>
          <p:cNvPicPr preferRelativeResize="0"/>
          <p:nvPr/>
        </p:nvPicPr>
        <p:blipFill>
          <a:blip r:embed="rId8">
            <a:alphaModFix/>
          </a:blip>
          <a:stretch>
            <a:fillRect/>
          </a:stretch>
        </p:blipFill>
        <p:spPr>
          <a:xfrm>
            <a:off x="104375" y="707737"/>
            <a:ext cx="6606125" cy="603372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9"/>
          <p:cNvSpPr/>
          <p:nvPr/>
        </p:nvSpPr>
        <p:spPr>
          <a:xfrm>
            <a:off x="208236" y="129543"/>
            <a:ext cx="10795500" cy="351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00"/>
              <a:buFont typeface="Unbounded"/>
              <a:buNone/>
            </a:pPr>
            <a:r>
              <a:rPr b="0" i="0" lang="en-US" sz="2200" u="none" cap="none" strike="noStrike">
                <a:solidFill>
                  <a:srgbClr val="FFFFFF"/>
                </a:solidFill>
                <a:latin typeface="Unbounded"/>
                <a:ea typeface="Unbounded"/>
                <a:cs typeface="Unbounded"/>
                <a:sym typeface="Unbounded"/>
              </a:rPr>
              <a:t>Thread Architecture:</a:t>
            </a:r>
            <a:endParaRPr b="0" i="0" sz="2200" u="none" cap="none" strike="noStrike">
              <a:solidFill>
                <a:schemeClr val="dk1"/>
              </a:solidFill>
              <a:latin typeface="Calibri"/>
              <a:ea typeface="Calibri"/>
              <a:cs typeface="Calibri"/>
              <a:sym typeface="Calibri"/>
            </a:endParaRPr>
          </a:p>
        </p:txBody>
      </p:sp>
      <p:pic>
        <p:nvPicPr>
          <p:cNvPr descr="preencoded.png" id="616" name="Google Shape;616;p49"/>
          <p:cNvPicPr preferRelativeResize="0"/>
          <p:nvPr/>
        </p:nvPicPr>
        <p:blipFill rotWithShape="1">
          <a:blip r:embed="rId3">
            <a:alphaModFix/>
          </a:blip>
          <a:srcRect b="0" l="0" r="0" t="0"/>
          <a:stretch/>
        </p:blipFill>
        <p:spPr>
          <a:xfrm>
            <a:off x="6247950" y="481149"/>
            <a:ext cx="5252000" cy="1455700"/>
          </a:xfrm>
          <a:prstGeom prst="rect">
            <a:avLst/>
          </a:prstGeom>
          <a:noFill/>
          <a:ln>
            <a:noFill/>
          </a:ln>
        </p:spPr>
      </p:pic>
      <p:pic>
        <p:nvPicPr>
          <p:cNvPr descr="preencoded.png" id="617" name="Google Shape;617;p49"/>
          <p:cNvPicPr preferRelativeResize="0"/>
          <p:nvPr/>
        </p:nvPicPr>
        <p:blipFill rotWithShape="1">
          <a:blip r:embed="rId4">
            <a:alphaModFix/>
          </a:blip>
          <a:srcRect b="0" l="0" r="0" t="0"/>
          <a:stretch/>
        </p:blipFill>
        <p:spPr>
          <a:xfrm>
            <a:off x="6410065" y="1119355"/>
            <a:ext cx="179284" cy="179288"/>
          </a:xfrm>
          <a:prstGeom prst="rect">
            <a:avLst/>
          </a:prstGeom>
          <a:noFill/>
          <a:ln>
            <a:noFill/>
          </a:ln>
        </p:spPr>
      </p:pic>
      <p:sp>
        <p:nvSpPr>
          <p:cNvPr id="618" name="Google Shape;618;p49"/>
          <p:cNvSpPr/>
          <p:nvPr/>
        </p:nvSpPr>
        <p:spPr>
          <a:xfrm>
            <a:off x="6810304" y="613305"/>
            <a:ext cx="4557600" cy="175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Worker Thread 3: Target Coordinator</a:t>
            </a:r>
            <a:endParaRPr b="0" i="0" sz="1100" u="none" cap="none" strike="noStrike">
              <a:solidFill>
                <a:schemeClr val="dk1"/>
              </a:solidFill>
              <a:latin typeface="Calibri"/>
              <a:ea typeface="Calibri"/>
              <a:cs typeface="Calibri"/>
              <a:sym typeface="Calibri"/>
            </a:endParaRPr>
          </a:p>
        </p:txBody>
      </p:sp>
      <p:sp>
        <p:nvSpPr>
          <p:cNvPr id="619" name="Google Shape;619;p49"/>
          <p:cNvSpPr/>
          <p:nvPr/>
        </p:nvSpPr>
        <p:spPr>
          <a:xfrm>
            <a:off x="6810304" y="860558"/>
            <a:ext cx="4557600" cy="1252800"/>
          </a:xfrm>
          <a:prstGeom prst="rect">
            <a:avLst/>
          </a:prstGeom>
          <a:noFill/>
          <a:ln>
            <a:noFill/>
          </a:ln>
        </p:spPr>
        <p:txBody>
          <a:bodyPr anchorCtr="0" anchor="t" bIns="0" lIns="0" spcFirstLastPara="1" rIns="0" wrap="square" tIns="59750">
            <a:noAutofit/>
          </a:bodyPr>
          <a:lstStyle/>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Listens continuously to </a:t>
            </a:r>
            <a:r>
              <a:rPr b="0" i="0" lang="en-US" sz="1150" u="none" cap="none" strike="noStrike">
                <a:solidFill>
                  <a:srgbClr val="CAD6DE"/>
                </a:solidFill>
                <a:highlight>
                  <a:srgbClr val="1E3543"/>
                </a:highlight>
                <a:latin typeface="Consolas"/>
                <a:ea typeface="Consolas"/>
                <a:cs typeface="Consolas"/>
                <a:sym typeface="Consolas"/>
              </a:rPr>
              <a:t>/swarm/goto</a:t>
            </a:r>
            <a:r>
              <a:rPr b="0" i="0" lang="en-US" sz="1150" u="none" cap="none" strike="noStrike">
                <a:solidFill>
                  <a:srgbClr val="CAD6DE"/>
                </a:solidFill>
                <a:latin typeface="Cabin"/>
                <a:ea typeface="Cabin"/>
                <a:cs typeface="Cabin"/>
                <a:sym typeface="Cabin"/>
              </a:rPr>
              <a:t> topic</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Tracks individual coordinate target vectors for each drone</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Coordinates with formation algorithms</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Ensures each drone receives its assigned destination without blocking other operations</a:t>
            </a:r>
            <a:endParaRPr b="0" i="0" sz="1150" u="none" cap="none" strike="noStrike">
              <a:solidFill>
                <a:schemeClr val="dk1"/>
              </a:solidFill>
              <a:latin typeface="Calibri"/>
              <a:ea typeface="Calibri"/>
              <a:cs typeface="Calibri"/>
              <a:sym typeface="Calibri"/>
            </a:endParaRPr>
          </a:p>
        </p:txBody>
      </p:sp>
      <p:pic>
        <p:nvPicPr>
          <p:cNvPr descr="preencoded.png" id="620" name="Google Shape;620;p49"/>
          <p:cNvPicPr preferRelativeResize="0"/>
          <p:nvPr/>
        </p:nvPicPr>
        <p:blipFill rotWithShape="1">
          <a:blip r:embed="rId5">
            <a:alphaModFix/>
          </a:blip>
          <a:srcRect b="0" l="0" r="0" t="0"/>
          <a:stretch/>
        </p:blipFill>
        <p:spPr>
          <a:xfrm>
            <a:off x="6247946" y="2135501"/>
            <a:ext cx="5252013" cy="1573411"/>
          </a:xfrm>
          <a:prstGeom prst="rect">
            <a:avLst/>
          </a:prstGeom>
          <a:noFill/>
          <a:ln>
            <a:noFill/>
          </a:ln>
        </p:spPr>
      </p:pic>
      <p:pic>
        <p:nvPicPr>
          <p:cNvPr descr="preencoded.png" id="621" name="Google Shape;621;p49"/>
          <p:cNvPicPr preferRelativeResize="0"/>
          <p:nvPr/>
        </p:nvPicPr>
        <p:blipFill rotWithShape="1">
          <a:blip r:embed="rId6">
            <a:alphaModFix/>
          </a:blip>
          <a:srcRect b="0" l="0" r="0" t="0"/>
          <a:stretch/>
        </p:blipFill>
        <p:spPr>
          <a:xfrm>
            <a:off x="6410065" y="2832513"/>
            <a:ext cx="179284" cy="179288"/>
          </a:xfrm>
          <a:prstGeom prst="rect">
            <a:avLst/>
          </a:prstGeom>
          <a:noFill/>
          <a:ln>
            <a:noFill/>
          </a:ln>
        </p:spPr>
      </p:pic>
      <p:sp>
        <p:nvSpPr>
          <p:cNvPr id="622" name="Google Shape;622;p49"/>
          <p:cNvSpPr/>
          <p:nvPr/>
        </p:nvSpPr>
        <p:spPr>
          <a:xfrm>
            <a:off x="6810304" y="2267661"/>
            <a:ext cx="4557600" cy="175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Worker Thread 4: Formation Manager</a:t>
            </a:r>
            <a:endParaRPr b="0" i="0" sz="1100" u="none" cap="none" strike="noStrike">
              <a:solidFill>
                <a:schemeClr val="dk1"/>
              </a:solidFill>
              <a:latin typeface="Calibri"/>
              <a:ea typeface="Calibri"/>
              <a:cs typeface="Calibri"/>
              <a:sym typeface="Calibri"/>
            </a:endParaRPr>
          </a:p>
        </p:txBody>
      </p:sp>
      <p:sp>
        <p:nvSpPr>
          <p:cNvPr id="623" name="Google Shape;623;p49"/>
          <p:cNvSpPr/>
          <p:nvPr/>
        </p:nvSpPr>
        <p:spPr>
          <a:xfrm>
            <a:off x="6810304" y="2514914"/>
            <a:ext cx="4557600" cy="1061700"/>
          </a:xfrm>
          <a:prstGeom prst="rect">
            <a:avLst/>
          </a:prstGeom>
          <a:noFill/>
          <a:ln>
            <a:noFill/>
          </a:ln>
        </p:spPr>
        <p:txBody>
          <a:bodyPr anchorCtr="0" anchor="t" bIns="0" lIns="0" spcFirstLastPara="1" rIns="0" wrap="square" tIns="59750">
            <a:noAutofit/>
          </a:bodyPr>
          <a:lstStyle/>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Listens continuously to </a:t>
            </a:r>
            <a:r>
              <a:rPr b="0" i="0" lang="en-US" sz="1150" u="none" cap="none" strike="noStrike">
                <a:solidFill>
                  <a:srgbClr val="CAD6DE"/>
                </a:solidFill>
                <a:highlight>
                  <a:srgbClr val="1E3543"/>
                </a:highlight>
                <a:latin typeface="Consolas"/>
                <a:ea typeface="Consolas"/>
                <a:cs typeface="Consolas"/>
                <a:sym typeface="Consolas"/>
              </a:rPr>
              <a:t>/swarm/formation</a:t>
            </a:r>
            <a:r>
              <a:rPr b="0" i="0" lang="en-US" sz="1150" u="none" cap="none" strike="noStrike">
                <a:solidFill>
                  <a:srgbClr val="CAD6DE"/>
                </a:solidFill>
                <a:latin typeface="Cabin"/>
                <a:ea typeface="Cabin"/>
                <a:cs typeface="Cabin"/>
                <a:sym typeface="Cabin"/>
              </a:rPr>
              <a:t> topic</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Triggers global swarm pattern algorithms</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Manages formation transitions and reconfigurations</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Broadcasts formation commands to all drones</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Handles dynamic formation changes in response to swarm state</a:t>
            </a:r>
            <a:endParaRPr b="0" i="0" sz="1150" u="none" cap="none" strike="noStrike">
              <a:solidFill>
                <a:schemeClr val="dk1"/>
              </a:solidFill>
              <a:latin typeface="Calibri"/>
              <a:ea typeface="Calibri"/>
              <a:cs typeface="Calibri"/>
              <a:sym typeface="Calibri"/>
            </a:endParaRPr>
          </a:p>
        </p:txBody>
      </p:sp>
      <p:sp>
        <p:nvSpPr>
          <p:cNvPr id="624" name="Google Shape;624;p49"/>
          <p:cNvSpPr/>
          <p:nvPr/>
        </p:nvSpPr>
        <p:spPr>
          <a:xfrm>
            <a:off x="390736" y="5363282"/>
            <a:ext cx="10795500" cy="1260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9"/>
          <p:cNvSpPr/>
          <p:nvPr/>
        </p:nvSpPr>
        <p:spPr>
          <a:xfrm>
            <a:off x="390736" y="5513202"/>
            <a:ext cx="10795500" cy="281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50"/>
              <a:buFont typeface="Unbounded"/>
              <a:buNone/>
            </a:pPr>
            <a:r>
              <a:rPr b="0" i="0" lang="en-US" sz="1750" u="none" cap="none" strike="noStrike">
                <a:solidFill>
                  <a:srgbClr val="FFFFFF"/>
                </a:solidFill>
                <a:latin typeface="Unbounded"/>
                <a:ea typeface="Unbounded"/>
                <a:cs typeface="Unbounded"/>
                <a:sym typeface="Unbounded"/>
              </a:rPr>
              <a:t>Integration with Main Thread:</a:t>
            </a:r>
            <a:endParaRPr b="0" i="0" sz="1750" u="none" cap="none" strike="noStrike">
              <a:solidFill>
                <a:schemeClr val="dk1"/>
              </a:solidFill>
              <a:latin typeface="Calibri"/>
              <a:ea typeface="Calibri"/>
              <a:cs typeface="Calibri"/>
              <a:sym typeface="Calibri"/>
            </a:endParaRPr>
          </a:p>
        </p:txBody>
      </p:sp>
      <p:sp>
        <p:nvSpPr>
          <p:cNvPr id="626" name="Google Shape;626;p49"/>
          <p:cNvSpPr/>
          <p:nvPr/>
        </p:nvSpPr>
        <p:spPr>
          <a:xfrm>
            <a:off x="390736" y="5901841"/>
            <a:ext cx="10795500" cy="845700"/>
          </a:xfrm>
          <a:prstGeom prst="rect">
            <a:avLst/>
          </a:prstGeom>
          <a:noFill/>
          <a:ln>
            <a:noFill/>
          </a:ln>
        </p:spPr>
        <p:txBody>
          <a:bodyPr anchorCtr="0" anchor="t" bIns="0" lIns="0" spcFirstLastPara="1" rIns="0" wrap="square" tIns="59750">
            <a:noAutofit/>
          </a:bodyPr>
          <a:lstStyle/>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All worker threads update the shared </a:t>
            </a:r>
            <a:r>
              <a:rPr b="0" i="0" lang="en-US" sz="1150" u="none" cap="none" strike="noStrike">
                <a:solidFill>
                  <a:srgbClr val="CAD6DE"/>
                </a:solidFill>
                <a:highlight>
                  <a:srgbClr val="1E3543"/>
                </a:highlight>
                <a:latin typeface="Consolas"/>
                <a:ea typeface="Consolas"/>
                <a:cs typeface="Consolas"/>
                <a:sym typeface="Consolas"/>
              </a:rPr>
              <a:t>Arc&lt;Mutex&lt;SwarmCoordinatorState&gt;&gt;</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Main thread reads the updated state every 2 seconds</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Formation and navigation updates are immediately available to the coordinator</a:t>
            </a:r>
            <a:endParaRPr b="0" i="0" sz="1150" u="none" cap="none" strike="noStrike">
              <a:solidFill>
                <a:schemeClr val="dk1"/>
              </a:solidFill>
              <a:latin typeface="Calibri"/>
              <a:ea typeface="Calibri"/>
              <a:cs typeface="Calibri"/>
              <a:sym typeface="Calibri"/>
            </a:endParaRPr>
          </a:p>
          <a:p>
            <a:pPr indent="-233680" lvl="0" marL="233680" marR="0" rtl="0" algn="l">
              <a:lnSpc>
                <a:spcPct val="10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No blocking I/O operations interfere with FSM state machine execution</a:t>
            </a:r>
            <a:endParaRPr b="0" i="0" sz="1150" u="none" cap="none" strike="noStrike">
              <a:solidFill>
                <a:schemeClr val="dk1"/>
              </a:solidFill>
              <a:latin typeface="Calibri"/>
              <a:ea typeface="Calibri"/>
              <a:cs typeface="Calibri"/>
              <a:sym typeface="Calibri"/>
            </a:endParaRPr>
          </a:p>
        </p:txBody>
      </p:sp>
      <p:pic>
        <p:nvPicPr>
          <p:cNvPr descr="preencoded.png" id="627" name="Google Shape;627;p49"/>
          <p:cNvPicPr preferRelativeResize="0"/>
          <p:nvPr/>
        </p:nvPicPr>
        <p:blipFill rotWithShape="1">
          <a:blip r:embed="rId7">
            <a:alphaModFix/>
          </a:blip>
          <a:srcRect b="0" l="0" r="0" t="0"/>
          <a:stretch/>
        </p:blipFill>
        <p:spPr>
          <a:xfrm>
            <a:off x="6250425" y="3902126"/>
            <a:ext cx="5247052" cy="1123676"/>
          </a:xfrm>
          <a:prstGeom prst="rect">
            <a:avLst/>
          </a:prstGeom>
          <a:noFill/>
          <a:ln>
            <a:noFill/>
          </a:ln>
        </p:spPr>
      </p:pic>
      <p:sp>
        <p:nvSpPr>
          <p:cNvPr id="628" name="Google Shape;628;p49"/>
          <p:cNvSpPr/>
          <p:nvPr/>
        </p:nvSpPr>
        <p:spPr>
          <a:xfrm>
            <a:off x="6866654" y="3978211"/>
            <a:ext cx="4557600" cy="175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100"/>
              <a:buFont typeface="Unbounded"/>
              <a:buNone/>
            </a:pPr>
            <a:r>
              <a:rPr b="1" i="0" lang="en-US" sz="1100" u="none" cap="none" strike="noStrike">
                <a:solidFill>
                  <a:srgbClr val="CAD6DE"/>
                </a:solidFill>
                <a:latin typeface="Unbounded"/>
                <a:ea typeface="Unbounded"/>
                <a:cs typeface="Unbounded"/>
                <a:sym typeface="Unbounded"/>
              </a:rPr>
              <a:t>Worker Thread </a:t>
            </a:r>
            <a:r>
              <a:rPr b="1" lang="en-US" sz="1100">
                <a:solidFill>
                  <a:srgbClr val="CAD6DE"/>
                </a:solidFill>
                <a:latin typeface="Unbounded"/>
                <a:ea typeface="Unbounded"/>
                <a:cs typeface="Unbounded"/>
                <a:sym typeface="Unbounded"/>
              </a:rPr>
              <a:t>5</a:t>
            </a:r>
            <a:r>
              <a:rPr b="1" i="0" lang="en-US" sz="1100" u="none" cap="none" strike="noStrike">
                <a:solidFill>
                  <a:srgbClr val="CAD6DE"/>
                </a:solidFill>
                <a:latin typeface="Unbounded"/>
                <a:ea typeface="Unbounded"/>
                <a:cs typeface="Unbounded"/>
                <a:sym typeface="Unbounded"/>
              </a:rPr>
              <a:t>: </a:t>
            </a:r>
            <a:r>
              <a:rPr b="1" lang="en-US" sz="1100">
                <a:solidFill>
                  <a:srgbClr val="CAD6DE"/>
                </a:solidFill>
                <a:latin typeface="Unbounded"/>
                <a:ea typeface="Unbounded"/>
                <a:cs typeface="Unbounded"/>
                <a:sym typeface="Unbounded"/>
              </a:rPr>
              <a:t>Http server</a:t>
            </a:r>
            <a:endParaRPr b="0" i="0" sz="1100" u="none" cap="none" strike="noStrike">
              <a:solidFill>
                <a:schemeClr val="dk1"/>
              </a:solidFill>
              <a:latin typeface="Calibri"/>
              <a:ea typeface="Calibri"/>
              <a:cs typeface="Calibri"/>
              <a:sym typeface="Calibri"/>
            </a:endParaRPr>
          </a:p>
        </p:txBody>
      </p:sp>
      <p:sp>
        <p:nvSpPr>
          <p:cNvPr id="629" name="Google Shape;629;p49"/>
          <p:cNvSpPr/>
          <p:nvPr/>
        </p:nvSpPr>
        <p:spPr>
          <a:xfrm>
            <a:off x="6866650" y="4254496"/>
            <a:ext cx="4557600" cy="713100"/>
          </a:xfrm>
          <a:prstGeom prst="rect">
            <a:avLst/>
          </a:prstGeom>
          <a:noFill/>
          <a:ln>
            <a:noFill/>
          </a:ln>
        </p:spPr>
        <p:txBody>
          <a:bodyPr anchorCtr="0" anchor="t" bIns="0" lIns="0" spcFirstLastPara="1" rIns="0" wrap="square" tIns="59750">
            <a:noAutofit/>
          </a:bodyPr>
          <a:lstStyle/>
          <a:p>
            <a:pPr indent="-233680" lvl="0" marL="233680" marR="0" rtl="0" algn="l">
              <a:lnSpc>
                <a:spcPct val="107000"/>
              </a:lnSpc>
              <a:spcBef>
                <a:spcPts val="0"/>
              </a:spcBef>
              <a:spcAft>
                <a:spcPts val="0"/>
              </a:spcAft>
              <a:buClr>
                <a:srgbClr val="CAD6DE"/>
              </a:buClr>
              <a:buSzPts val="1150"/>
              <a:buFont typeface="Cabin"/>
              <a:buChar char="•"/>
            </a:pPr>
            <a:r>
              <a:rPr lang="en-US" sz="1150">
                <a:solidFill>
                  <a:srgbClr val="CAD6DE"/>
                </a:solidFill>
                <a:latin typeface="Cabin"/>
                <a:ea typeface="Cabin"/>
                <a:cs typeface="Cabin"/>
                <a:sym typeface="Cabin"/>
              </a:rPr>
              <a:t>Exposes an HTTP REST endpoint on coordinator port 8080. </a:t>
            </a:r>
            <a:endParaRPr sz="1150">
              <a:solidFill>
                <a:srgbClr val="CAD6DE"/>
              </a:solidFill>
              <a:latin typeface="Cabin"/>
              <a:ea typeface="Cabin"/>
              <a:cs typeface="Cabin"/>
              <a:sym typeface="Cabin"/>
            </a:endParaRPr>
          </a:p>
          <a:p>
            <a:pPr indent="-233680" lvl="0" marL="233680" marR="0" rtl="0" algn="l">
              <a:lnSpc>
                <a:spcPct val="107000"/>
              </a:lnSpc>
              <a:spcBef>
                <a:spcPts val="0"/>
              </a:spcBef>
              <a:spcAft>
                <a:spcPts val="0"/>
              </a:spcAft>
              <a:buClr>
                <a:srgbClr val="CAD6DE"/>
              </a:buClr>
              <a:buSzPts val="1150"/>
              <a:buFont typeface="Cabin"/>
              <a:buChar char="•"/>
            </a:pPr>
            <a:r>
              <a:rPr lang="en-US" sz="1150">
                <a:solidFill>
                  <a:srgbClr val="CAD6DE"/>
                </a:solidFill>
                <a:latin typeface="Cabin"/>
                <a:ea typeface="Cabin"/>
                <a:cs typeface="Cabin"/>
                <a:sym typeface="Cabin"/>
              </a:rPr>
              <a:t>Reads FSM state thread-safely from the shared Mutex. </a:t>
            </a:r>
            <a:endParaRPr sz="1150">
              <a:solidFill>
                <a:srgbClr val="CAD6DE"/>
              </a:solidFill>
              <a:latin typeface="Cabin"/>
              <a:ea typeface="Cabin"/>
              <a:cs typeface="Cabin"/>
              <a:sym typeface="Cabin"/>
            </a:endParaRPr>
          </a:p>
          <a:p>
            <a:pPr indent="-233680" lvl="0" marL="233680" marR="0" rtl="0" algn="l">
              <a:lnSpc>
                <a:spcPct val="107000"/>
              </a:lnSpc>
              <a:spcBef>
                <a:spcPts val="0"/>
              </a:spcBef>
              <a:spcAft>
                <a:spcPts val="0"/>
              </a:spcAft>
              <a:buClr>
                <a:srgbClr val="CAD6DE"/>
              </a:buClr>
              <a:buSzPts val="1150"/>
              <a:buFont typeface="Cabin"/>
              <a:buChar char="•"/>
            </a:pPr>
            <a:r>
              <a:rPr lang="en-US" sz="1150">
                <a:solidFill>
                  <a:srgbClr val="CAD6DE"/>
                </a:solidFill>
                <a:latin typeface="Cabin"/>
                <a:ea typeface="Cabin"/>
                <a:cs typeface="Cabin"/>
                <a:sym typeface="Cabin"/>
              </a:rPr>
              <a:t>Returns structured JSON status responses to the FastAPI backend. </a:t>
            </a:r>
            <a:endParaRPr b="0" i="0" sz="1150" u="none" cap="none" strike="noStrike">
              <a:solidFill>
                <a:schemeClr val="dk1"/>
              </a:solidFill>
              <a:latin typeface="Calibri"/>
              <a:ea typeface="Calibri"/>
              <a:cs typeface="Calibri"/>
              <a:sym typeface="Calibri"/>
            </a:endParaRPr>
          </a:p>
        </p:txBody>
      </p:sp>
      <p:pic>
        <p:nvPicPr>
          <p:cNvPr descr="preencoded.png" id="630" name="Google Shape;630;p49"/>
          <p:cNvPicPr preferRelativeResize="0"/>
          <p:nvPr/>
        </p:nvPicPr>
        <p:blipFill rotWithShape="1">
          <a:blip r:embed="rId8">
            <a:alphaModFix/>
          </a:blip>
          <a:srcRect b="0" l="0" r="0" t="0"/>
          <a:stretch/>
        </p:blipFill>
        <p:spPr>
          <a:xfrm>
            <a:off x="6410086" y="4364153"/>
            <a:ext cx="185336" cy="185341"/>
          </a:xfrm>
          <a:prstGeom prst="rect">
            <a:avLst/>
          </a:prstGeom>
          <a:noFill/>
          <a:ln>
            <a:noFill/>
          </a:ln>
        </p:spPr>
      </p:pic>
      <p:pic>
        <p:nvPicPr>
          <p:cNvPr id="631" name="Google Shape;631;p49"/>
          <p:cNvPicPr preferRelativeResize="0"/>
          <p:nvPr/>
        </p:nvPicPr>
        <p:blipFill>
          <a:blip r:embed="rId9">
            <a:alphaModFix/>
          </a:blip>
          <a:stretch>
            <a:fillRect/>
          </a:stretch>
        </p:blipFill>
        <p:spPr>
          <a:xfrm>
            <a:off x="286875" y="527868"/>
            <a:ext cx="5011573" cy="457733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pic>
        <p:nvPicPr>
          <p:cNvPr descr="preencoded.png" id="637" name="Google Shape;637;p50"/>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638" name="Google Shape;638;p50"/>
          <p:cNvSpPr/>
          <p:nvPr/>
        </p:nvSpPr>
        <p:spPr>
          <a:xfrm>
            <a:off x="5269971" y="2373511"/>
            <a:ext cx="6223638" cy="11733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How to spawn a Drone</a:t>
            </a:r>
            <a:endParaRPr b="0" i="0" sz="3650" u="none" cap="none" strike="noStrike">
              <a:solidFill>
                <a:schemeClr val="dk1"/>
              </a:solidFill>
              <a:latin typeface="Calibri"/>
              <a:ea typeface="Calibri"/>
              <a:cs typeface="Calibri"/>
              <a:sym typeface="Calibri"/>
            </a:endParaRPr>
          </a:p>
        </p:txBody>
      </p:sp>
      <p:sp>
        <p:nvSpPr>
          <p:cNvPr id="639" name="Google Shape;639;p50"/>
          <p:cNvSpPr/>
          <p:nvPr/>
        </p:nvSpPr>
        <p:spPr>
          <a:xfrm>
            <a:off x="5269971" y="3846016"/>
            <a:ext cx="6223638"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A988B"/>
              </a:buClr>
              <a:buSzPts val="1550"/>
              <a:buFont typeface="Cabin"/>
              <a:buNone/>
            </a:pPr>
            <a:r>
              <a:rPr b="0" i="0" lang="en-US" sz="1550" u="none" cap="none" strike="noStrike">
                <a:solidFill>
                  <a:srgbClr val="0A988B"/>
                </a:solidFill>
                <a:latin typeface="Cabin"/>
                <a:ea typeface="Cabin"/>
                <a:cs typeface="Cabin"/>
                <a:sym typeface="Cabin"/>
              </a:rPr>
              <a:t>Spawning drones </a:t>
            </a:r>
            <a:r>
              <a:rPr b="0" i="0" lang="en-US" sz="1550" u="none" cap="none" strike="noStrike">
                <a:solidFill>
                  <a:srgbClr val="CAD6DE"/>
                </a:solidFill>
                <a:latin typeface="Cabin"/>
                <a:ea typeface="Cabin"/>
                <a:cs typeface="Cabin"/>
                <a:sym typeface="Cabin"/>
              </a:rPr>
              <a:t>— Full logical steps to make drones appear in the simulation</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1"/>
          <p:cNvSpPr/>
          <p:nvPr/>
        </p:nvSpPr>
        <p:spPr>
          <a:xfrm>
            <a:off x="698086" y="624681"/>
            <a:ext cx="10795524" cy="93880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b="0" i="0" lang="en-US" sz="2950" u="none" cap="none" strike="noStrike">
                <a:solidFill>
                  <a:srgbClr val="FFFFFF"/>
                </a:solidFill>
                <a:latin typeface="Unbounded"/>
                <a:ea typeface="Unbounded"/>
                <a:cs typeface="Unbounded"/>
                <a:sym typeface="Unbounded"/>
              </a:rPr>
              <a:t>Step 1: Drone Container Startup &amp; Environment Configuration</a:t>
            </a:r>
            <a:endParaRPr b="0" i="0" sz="2950" u="none" cap="none" strike="noStrike">
              <a:solidFill>
                <a:schemeClr val="dk1"/>
              </a:solidFill>
              <a:latin typeface="Calibri"/>
              <a:ea typeface="Calibri"/>
              <a:cs typeface="Calibri"/>
              <a:sym typeface="Calibri"/>
            </a:endParaRPr>
          </a:p>
        </p:txBody>
      </p:sp>
      <p:sp>
        <p:nvSpPr>
          <p:cNvPr id="646" name="Google Shape;646;p51"/>
          <p:cNvSpPr/>
          <p:nvPr/>
        </p:nvSpPr>
        <p:spPr>
          <a:xfrm>
            <a:off x="698086" y="1754981"/>
            <a:ext cx="11405108" cy="2999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This command triggers the entire project, spawning N drones: </a:t>
            </a:r>
            <a:r>
              <a:rPr b="0" i="0" lang="en-US" sz="1550" u="none" cap="none" strike="noStrike">
                <a:solidFill>
                  <a:srgbClr val="CAD6DE"/>
                </a:solidFill>
                <a:highlight>
                  <a:srgbClr val="1E3543"/>
                </a:highlight>
                <a:latin typeface="Consolas"/>
                <a:ea typeface="Consolas"/>
                <a:cs typeface="Consolas"/>
                <a:sym typeface="Consolas"/>
              </a:rPr>
              <a:t>docker compose up --scale drone=N</a:t>
            </a:r>
            <a:endParaRPr b="0" i="0" sz="1550" u="none" cap="none" strike="noStrike">
              <a:solidFill>
                <a:schemeClr val="dk1"/>
              </a:solidFill>
              <a:latin typeface="Calibri"/>
              <a:ea typeface="Calibri"/>
              <a:cs typeface="Calibri"/>
              <a:sym typeface="Calibri"/>
            </a:endParaRPr>
          </a:p>
        </p:txBody>
      </p:sp>
      <p:sp>
        <p:nvSpPr>
          <p:cNvPr id="647" name="Google Shape;647;p51"/>
          <p:cNvSpPr/>
          <p:nvPr/>
        </p:nvSpPr>
        <p:spPr>
          <a:xfrm>
            <a:off x="698086" y="2198489"/>
            <a:ext cx="319080" cy="199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250"/>
              <a:buFont typeface="Unbounded Light"/>
              <a:buNone/>
            </a:pPr>
            <a:r>
              <a:rPr b="0" i="0" lang="en-US" sz="1250" u="none" cap="none" strike="noStrike">
                <a:solidFill>
                  <a:srgbClr val="CAD6DE"/>
                </a:solidFill>
                <a:latin typeface="Unbounded Light"/>
                <a:ea typeface="Unbounded Light"/>
                <a:cs typeface="Unbounded Light"/>
                <a:sym typeface="Unbounded Light"/>
              </a:rPr>
              <a:t>01</a:t>
            </a:r>
            <a:endParaRPr b="0" i="0" sz="1250" u="none" cap="none" strike="noStrike">
              <a:solidFill>
                <a:schemeClr val="dk1"/>
              </a:solidFill>
              <a:latin typeface="Calibri"/>
              <a:ea typeface="Calibri"/>
              <a:cs typeface="Calibri"/>
              <a:sym typeface="Calibri"/>
            </a:endParaRPr>
          </a:p>
        </p:txBody>
      </p:sp>
      <p:sp>
        <p:nvSpPr>
          <p:cNvPr id="648" name="Google Shape;648;p51"/>
          <p:cNvSpPr/>
          <p:nvPr/>
        </p:nvSpPr>
        <p:spPr>
          <a:xfrm>
            <a:off x="698086" y="2450604"/>
            <a:ext cx="5333966"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51"/>
          <p:cNvSpPr/>
          <p:nvPr/>
        </p:nvSpPr>
        <p:spPr>
          <a:xfrm>
            <a:off x="698086" y="2568476"/>
            <a:ext cx="5333966" cy="46930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Docker Engine instantiates N separate containers</a:t>
            </a:r>
            <a:endParaRPr b="0" i="0" sz="1450" u="none" cap="none" strike="noStrike">
              <a:solidFill>
                <a:schemeClr val="dk1"/>
              </a:solidFill>
              <a:latin typeface="Calibri"/>
              <a:ea typeface="Calibri"/>
              <a:cs typeface="Calibri"/>
              <a:sym typeface="Calibri"/>
            </a:endParaRPr>
          </a:p>
        </p:txBody>
      </p:sp>
      <p:sp>
        <p:nvSpPr>
          <p:cNvPr id="650" name="Google Shape;650;p51"/>
          <p:cNvSpPr/>
          <p:nvPr/>
        </p:nvSpPr>
        <p:spPr>
          <a:xfrm>
            <a:off x="698086" y="3114377"/>
            <a:ext cx="5333966" cy="2360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a:t>
            </a:r>
            <a:r>
              <a:rPr b="0" i="0" lang="en-US" sz="1250" u="none" cap="none" strike="noStrike">
                <a:solidFill>
                  <a:srgbClr val="CAD6DE"/>
                </a:solidFill>
                <a:highlight>
                  <a:srgbClr val="1E3543"/>
                </a:highlight>
                <a:latin typeface="Consolas"/>
                <a:ea typeface="Consolas"/>
                <a:cs typeface="Consolas"/>
                <a:sym typeface="Consolas"/>
              </a:rPr>
              <a:t>drone_1</a:t>
            </a:r>
            <a:r>
              <a:rPr b="0" i="0" lang="en-US" sz="1250" u="none" cap="none" strike="noStrike">
                <a:solidFill>
                  <a:srgbClr val="CAD6DE"/>
                </a:solidFill>
                <a:latin typeface="Cabin"/>
                <a:ea typeface="Cabin"/>
                <a:cs typeface="Cabin"/>
                <a:sym typeface="Cabin"/>
              </a:rPr>
              <a:t>, </a:t>
            </a:r>
            <a:r>
              <a:rPr b="0" i="0" lang="en-US" sz="1250" u="none" cap="none" strike="noStrike">
                <a:solidFill>
                  <a:srgbClr val="CAD6DE"/>
                </a:solidFill>
                <a:highlight>
                  <a:srgbClr val="1E3543"/>
                </a:highlight>
                <a:latin typeface="Consolas"/>
                <a:ea typeface="Consolas"/>
                <a:cs typeface="Consolas"/>
                <a:sym typeface="Consolas"/>
              </a:rPr>
              <a:t>drone_2</a:t>
            </a:r>
            <a:r>
              <a:rPr b="0" i="0" lang="en-US" sz="1250" u="none" cap="none" strike="noStrike">
                <a:solidFill>
                  <a:srgbClr val="CAD6DE"/>
                </a:solidFill>
                <a:latin typeface="Cabin"/>
                <a:ea typeface="Cabin"/>
                <a:cs typeface="Cabin"/>
                <a:sym typeface="Cabin"/>
              </a:rPr>
              <a:t>, </a:t>
            </a:r>
            <a:r>
              <a:rPr b="0" i="0" lang="en-US" sz="1250" u="none" cap="none" strike="noStrike">
                <a:solidFill>
                  <a:srgbClr val="CAD6DE"/>
                </a:solidFill>
                <a:highlight>
                  <a:srgbClr val="1E3543"/>
                </a:highlight>
                <a:latin typeface="Consolas"/>
                <a:ea typeface="Consolas"/>
                <a:cs typeface="Consolas"/>
                <a:sym typeface="Consolas"/>
              </a:rPr>
              <a:t>drone_3</a:t>
            </a:r>
            <a:r>
              <a:rPr b="0" i="0" lang="en-US" sz="1250" u="none" cap="none" strike="noStrike">
                <a:solidFill>
                  <a:srgbClr val="CAD6DE"/>
                </a:solidFill>
                <a:latin typeface="Cabin"/>
                <a:ea typeface="Cabin"/>
                <a:cs typeface="Cabin"/>
                <a:sym typeface="Cabin"/>
              </a:rPr>
              <a:t>, etc.)</a:t>
            </a:r>
            <a:endParaRPr b="0" i="0" sz="1250" u="none" cap="none" strike="noStrike">
              <a:solidFill>
                <a:schemeClr val="dk1"/>
              </a:solidFill>
              <a:latin typeface="Calibri"/>
              <a:ea typeface="Calibri"/>
              <a:cs typeface="Calibri"/>
              <a:sym typeface="Calibri"/>
            </a:endParaRPr>
          </a:p>
        </p:txBody>
      </p:sp>
      <p:sp>
        <p:nvSpPr>
          <p:cNvPr id="651" name="Google Shape;651;p51"/>
          <p:cNvSpPr/>
          <p:nvPr/>
        </p:nvSpPr>
        <p:spPr>
          <a:xfrm>
            <a:off x="6159644" y="2198489"/>
            <a:ext cx="319080" cy="199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250"/>
              <a:buFont typeface="Unbounded Light"/>
              <a:buNone/>
            </a:pPr>
            <a:r>
              <a:rPr b="0" i="0" lang="en-US" sz="1250" u="none" cap="none" strike="noStrike">
                <a:solidFill>
                  <a:srgbClr val="CAD6DE"/>
                </a:solidFill>
                <a:latin typeface="Unbounded Light"/>
                <a:ea typeface="Unbounded Light"/>
                <a:cs typeface="Unbounded Light"/>
                <a:sym typeface="Unbounded Light"/>
              </a:rPr>
              <a:t>02</a:t>
            </a:r>
            <a:endParaRPr b="0" i="0" sz="1250" u="none" cap="none" strike="noStrike">
              <a:solidFill>
                <a:schemeClr val="dk1"/>
              </a:solidFill>
              <a:latin typeface="Calibri"/>
              <a:ea typeface="Calibri"/>
              <a:cs typeface="Calibri"/>
              <a:sym typeface="Calibri"/>
            </a:endParaRPr>
          </a:p>
        </p:txBody>
      </p:sp>
      <p:sp>
        <p:nvSpPr>
          <p:cNvPr id="652" name="Google Shape;652;p51"/>
          <p:cNvSpPr/>
          <p:nvPr/>
        </p:nvSpPr>
        <p:spPr>
          <a:xfrm>
            <a:off x="6159644" y="2450604"/>
            <a:ext cx="5333966"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51"/>
          <p:cNvSpPr/>
          <p:nvPr/>
        </p:nvSpPr>
        <p:spPr>
          <a:xfrm>
            <a:off x="6159644" y="2568476"/>
            <a:ext cx="5333966" cy="46930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Entrypoint script configures ROS 2 / Fast-DDS network environment</a:t>
            </a:r>
            <a:endParaRPr b="0" i="0" sz="1450" u="none" cap="none" strike="noStrike">
              <a:solidFill>
                <a:schemeClr val="dk1"/>
              </a:solidFill>
              <a:latin typeface="Calibri"/>
              <a:ea typeface="Calibri"/>
              <a:cs typeface="Calibri"/>
              <a:sym typeface="Calibri"/>
            </a:endParaRPr>
          </a:p>
        </p:txBody>
      </p:sp>
      <p:sp>
        <p:nvSpPr>
          <p:cNvPr id="654" name="Google Shape;654;p51"/>
          <p:cNvSpPr/>
          <p:nvPr/>
        </p:nvSpPr>
        <p:spPr>
          <a:xfrm>
            <a:off x="698086" y="3597672"/>
            <a:ext cx="319080" cy="199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250"/>
              <a:buFont typeface="Unbounded Light"/>
              <a:buNone/>
            </a:pPr>
            <a:r>
              <a:rPr b="0" i="0" lang="en-US" sz="1250" u="none" cap="none" strike="noStrike">
                <a:solidFill>
                  <a:srgbClr val="CAD6DE"/>
                </a:solidFill>
                <a:latin typeface="Unbounded Light"/>
                <a:ea typeface="Unbounded Light"/>
                <a:cs typeface="Unbounded Light"/>
                <a:sym typeface="Unbounded Light"/>
              </a:rPr>
              <a:t>03</a:t>
            </a:r>
            <a:endParaRPr b="0" i="0" sz="1250" u="none" cap="none" strike="noStrike">
              <a:solidFill>
                <a:schemeClr val="dk1"/>
              </a:solidFill>
              <a:latin typeface="Calibri"/>
              <a:ea typeface="Calibri"/>
              <a:cs typeface="Calibri"/>
              <a:sym typeface="Calibri"/>
            </a:endParaRPr>
          </a:p>
        </p:txBody>
      </p:sp>
      <p:sp>
        <p:nvSpPr>
          <p:cNvPr id="655" name="Google Shape;655;p51"/>
          <p:cNvSpPr/>
          <p:nvPr/>
        </p:nvSpPr>
        <p:spPr>
          <a:xfrm>
            <a:off x="698086" y="3849787"/>
            <a:ext cx="5333966"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51"/>
          <p:cNvSpPr/>
          <p:nvPr/>
        </p:nvSpPr>
        <p:spPr>
          <a:xfrm>
            <a:off x="698086" y="3967659"/>
            <a:ext cx="5333966" cy="46930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Dynamically calculates initial 3D ground spawn coordinates (X, Y, Z)</a:t>
            </a:r>
            <a:endParaRPr b="0" i="0" sz="1450" u="none" cap="none" strike="noStrike">
              <a:solidFill>
                <a:schemeClr val="dk1"/>
              </a:solidFill>
              <a:latin typeface="Calibri"/>
              <a:ea typeface="Calibri"/>
              <a:cs typeface="Calibri"/>
              <a:sym typeface="Calibri"/>
            </a:endParaRPr>
          </a:p>
        </p:txBody>
      </p:sp>
      <p:sp>
        <p:nvSpPr>
          <p:cNvPr id="657" name="Google Shape;657;p51"/>
          <p:cNvSpPr/>
          <p:nvPr/>
        </p:nvSpPr>
        <p:spPr>
          <a:xfrm>
            <a:off x="6159644" y="3597672"/>
            <a:ext cx="319080" cy="1994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250"/>
              <a:buFont typeface="Unbounded Light"/>
              <a:buNone/>
            </a:pPr>
            <a:r>
              <a:rPr b="0" i="0" lang="en-US" sz="1250" u="none" cap="none" strike="noStrike">
                <a:solidFill>
                  <a:srgbClr val="CAD6DE"/>
                </a:solidFill>
                <a:latin typeface="Unbounded Light"/>
                <a:ea typeface="Unbounded Light"/>
                <a:cs typeface="Unbounded Light"/>
                <a:sym typeface="Unbounded Light"/>
              </a:rPr>
              <a:t>04</a:t>
            </a:r>
            <a:endParaRPr b="0" i="0" sz="1250" u="none" cap="none" strike="noStrike">
              <a:solidFill>
                <a:schemeClr val="dk1"/>
              </a:solidFill>
              <a:latin typeface="Calibri"/>
              <a:ea typeface="Calibri"/>
              <a:cs typeface="Calibri"/>
              <a:sym typeface="Calibri"/>
            </a:endParaRPr>
          </a:p>
        </p:txBody>
      </p:sp>
      <p:sp>
        <p:nvSpPr>
          <p:cNvPr id="658" name="Google Shape;658;p51"/>
          <p:cNvSpPr/>
          <p:nvPr/>
        </p:nvSpPr>
        <p:spPr>
          <a:xfrm>
            <a:off x="6159644" y="3849787"/>
            <a:ext cx="5333966"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51"/>
          <p:cNvSpPr/>
          <p:nvPr/>
        </p:nvSpPr>
        <p:spPr>
          <a:xfrm>
            <a:off x="6159644" y="3967659"/>
            <a:ext cx="5333966" cy="46930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450"/>
              <a:buFont typeface="Unbounded"/>
              <a:buNone/>
            </a:pPr>
            <a:r>
              <a:rPr b="0" i="0" lang="en-US" sz="1450" u="none" cap="none" strike="noStrike">
                <a:solidFill>
                  <a:srgbClr val="CAD6DE"/>
                </a:solidFill>
                <a:latin typeface="Unbounded"/>
                <a:ea typeface="Unbounded"/>
                <a:cs typeface="Unbounded"/>
                <a:sym typeface="Unbounded"/>
              </a:rPr>
              <a:t>Each drone container is isolated and independent</a:t>
            </a:r>
            <a:endParaRPr b="0" i="0" sz="1450" u="none" cap="none" strike="noStrike">
              <a:solidFill>
                <a:schemeClr val="dk1"/>
              </a:solidFill>
              <a:latin typeface="Calibri"/>
              <a:ea typeface="Calibri"/>
              <a:cs typeface="Calibri"/>
              <a:sym typeface="Calibri"/>
            </a:endParaRPr>
          </a:p>
        </p:txBody>
      </p:sp>
      <p:sp>
        <p:nvSpPr>
          <p:cNvPr id="660" name="Google Shape;660;p51"/>
          <p:cNvSpPr/>
          <p:nvPr/>
        </p:nvSpPr>
        <p:spPr>
          <a:xfrm>
            <a:off x="698086" y="5046365"/>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51"/>
          <p:cNvSpPr/>
          <p:nvPr/>
        </p:nvSpPr>
        <p:spPr>
          <a:xfrm>
            <a:off x="698086" y="5296793"/>
            <a:ext cx="10795524" cy="23465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450"/>
              <a:buFont typeface="Unbounded"/>
              <a:buNone/>
            </a:pPr>
            <a:r>
              <a:rPr b="0" i="0" lang="en-US" sz="1450" u="none" cap="none" strike="noStrike">
                <a:solidFill>
                  <a:srgbClr val="FFFFFF"/>
                </a:solidFill>
                <a:latin typeface="Unbounded"/>
                <a:ea typeface="Unbounded"/>
                <a:cs typeface="Unbounded"/>
                <a:sym typeface="Unbounded"/>
              </a:rPr>
              <a:t>Files &amp; Technology:</a:t>
            </a:r>
            <a:endParaRPr b="0" i="0" sz="1450" u="none" cap="none" strike="noStrike">
              <a:solidFill>
                <a:schemeClr val="dk1"/>
              </a:solidFill>
              <a:latin typeface="Calibri"/>
              <a:ea typeface="Calibri"/>
              <a:cs typeface="Calibri"/>
              <a:sym typeface="Calibri"/>
            </a:endParaRPr>
          </a:p>
        </p:txBody>
      </p:sp>
      <p:sp>
        <p:nvSpPr>
          <p:cNvPr id="662" name="Google Shape;662;p51"/>
          <p:cNvSpPr/>
          <p:nvPr/>
        </p:nvSpPr>
        <p:spPr>
          <a:xfrm>
            <a:off x="698086" y="5722938"/>
            <a:ext cx="10795524" cy="510381"/>
          </a:xfrm>
          <a:prstGeom prst="rect">
            <a:avLst/>
          </a:prstGeom>
          <a:noFill/>
          <a:ln>
            <a:noFill/>
          </a:ln>
        </p:spPr>
        <p:txBody>
          <a:bodyPr anchorCtr="0" anchor="t" bIns="0" lIns="0" spcFirstLastPara="1" rIns="0" wrap="square" tIns="63825">
            <a:noAutofit/>
          </a:bodyPr>
          <a:lstStyle/>
          <a:p>
            <a:pPr indent="-254000" lvl="0" marL="254000" marR="0" rtl="0" algn="l">
              <a:lnSpc>
                <a:spcPct val="120000"/>
              </a:lnSpc>
              <a:spcBef>
                <a:spcPts val="0"/>
              </a:spcBef>
              <a:spcAft>
                <a:spcPts val="0"/>
              </a:spcAft>
              <a:buClr>
                <a:srgbClr val="CAD6DE"/>
              </a:buClr>
              <a:buSzPts val="1250"/>
              <a:buFont typeface="Consolas"/>
              <a:buChar char="•"/>
            </a:pPr>
            <a:r>
              <a:rPr b="0" i="0" lang="en-US" sz="1250" u="none" cap="none" strike="noStrike">
                <a:solidFill>
                  <a:srgbClr val="CAD6DE"/>
                </a:solidFill>
                <a:highlight>
                  <a:srgbClr val="1E3543"/>
                </a:highlight>
                <a:latin typeface="Consolas"/>
                <a:ea typeface="Consolas"/>
                <a:cs typeface="Consolas"/>
                <a:sym typeface="Consolas"/>
              </a:rPr>
              <a:t>entrypoint_drone_agent.sh</a:t>
            </a:r>
            <a:endParaRPr b="0" i="0" sz="1250" u="none" cap="none" strike="noStrike">
              <a:solidFill>
                <a:schemeClr val="dk1"/>
              </a:solidFill>
              <a:latin typeface="Calibri"/>
              <a:ea typeface="Calibri"/>
              <a:cs typeface="Calibri"/>
              <a:sym typeface="Calibri"/>
            </a:endParaRPr>
          </a:p>
          <a:p>
            <a:pPr indent="-254000" lvl="0" marL="254000" marR="0" rtl="0" algn="l">
              <a:lnSpc>
                <a:spcPct val="120000"/>
              </a:lnSpc>
              <a:spcBef>
                <a:spcPts val="0"/>
              </a:spcBef>
              <a:spcAft>
                <a:spcPts val="0"/>
              </a:spcAft>
              <a:buClr>
                <a:srgbClr val="CAD6DE"/>
              </a:buClr>
              <a:buSzPts val="1250"/>
              <a:buFont typeface="Cabin"/>
              <a:buChar char="•"/>
            </a:pPr>
            <a:r>
              <a:rPr b="0" i="0" lang="en-US" sz="1250" u="none" cap="none" strike="noStrike">
                <a:solidFill>
                  <a:srgbClr val="CAD6DE"/>
                </a:solidFill>
                <a:latin typeface="Cabin"/>
                <a:ea typeface="Cabin"/>
                <a:cs typeface="Cabin"/>
                <a:sym typeface="Cabin"/>
              </a:rPr>
              <a:t>Docker Compose, Bash Scripting, Fast-DDS Discovery Server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2"/>
          <p:cNvSpPr/>
          <p:nvPr/>
        </p:nvSpPr>
        <p:spPr>
          <a:xfrm>
            <a:off x="698086" y="548580"/>
            <a:ext cx="10795524" cy="93880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b="0" i="0" lang="en-US" sz="2950" u="none" cap="none" strike="noStrike">
                <a:solidFill>
                  <a:srgbClr val="FFFFFF"/>
                </a:solidFill>
                <a:latin typeface="Unbounded"/>
                <a:ea typeface="Unbounded"/>
                <a:cs typeface="Unbounded"/>
                <a:sym typeface="Unbounded"/>
              </a:rPr>
              <a:t>Step 2: ROS 2 Node Initialization &amp; Registration Request</a:t>
            </a:r>
            <a:endParaRPr b="0" i="0" sz="2950" u="none" cap="none" strike="noStrike">
              <a:solidFill>
                <a:schemeClr val="dk1"/>
              </a:solidFill>
              <a:latin typeface="Calibri"/>
              <a:ea typeface="Calibri"/>
              <a:cs typeface="Calibri"/>
              <a:sym typeface="Calibri"/>
            </a:endParaRPr>
          </a:p>
        </p:txBody>
      </p:sp>
      <p:sp>
        <p:nvSpPr>
          <p:cNvPr id="669" name="Google Shape;669;p52"/>
          <p:cNvSpPr/>
          <p:nvPr/>
        </p:nvSpPr>
        <p:spPr>
          <a:xfrm>
            <a:off x="698086" y="1742678"/>
            <a:ext cx="10795524" cy="58717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Each drone </a:t>
            </a:r>
            <a:r>
              <a:rPr b="1" i="0" lang="en-US" sz="1550" u="none" cap="none" strike="noStrike">
                <a:solidFill>
                  <a:srgbClr val="CAD6DE"/>
                </a:solidFill>
                <a:latin typeface="Cabin"/>
                <a:ea typeface="Cabin"/>
                <a:cs typeface="Cabin"/>
                <a:sym typeface="Cabin"/>
              </a:rPr>
              <a:t>announces itself</a:t>
            </a:r>
            <a:r>
              <a:rPr b="0" i="0" lang="en-US" sz="1550" u="none" cap="none" strike="noStrike">
                <a:solidFill>
                  <a:srgbClr val="CAD6DE"/>
                </a:solidFill>
                <a:latin typeface="Cabin"/>
                <a:ea typeface="Cabin"/>
                <a:cs typeface="Cabin"/>
                <a:sym typeface="Cabin"/>
              </a:rPr>
              <a:t> to the coordinator by publishing a registration message. A 2-second timer triggers the payload, sending the drone's ID and initial coordinates to the shared </a:t>
            </a:r>
            <a:r>
              <a:rPr b="0" i="0" lang="en-US" sz="1550" u="none" cap="none" strike="noStrike">
                <a:solidFill>
                  <a:srgbClr val="CAD6DE"/>
                </a:solidFill>
                <a:highlight>
                  <a:srgbClr val="1E3543"/>
                </a:highlight>
                <a:latin typeface="Consolas"/>
                <a:ea typeface="Consolas"/>
                <a:cs typeface="Consolas"/>
                <a:sym typeface="Consolas"/>
              </a:rPr>
              <a:t>/swarm/register</a:t>
            </a:r>
            <a:r>
              <a:rPr b="0" i="0" lang="en-US" sz="1550" u="none" cap="none" strike="noStrike">
                <a:solidFill>
                  <a:srgbClr val="CAD6DE"/>
                </a:solidFill>
                <a:latin typeface="Cabin"/>
                <a:ea typeface="Cabin"/>
                <a:cs typeface="Cabin"/>
                <a:sym typeface="Cabin"/>
              </a:rPr>
              <a:t> topic via Fast-DDS with RELIABLE QoS.</a:t>
            </a:r>
            <a:endParaRPr b="0" i="0" sz="1550" u="none" cap="none" strike="noStrike">
              <a:solidFill>
                <a:schemeClr val="dk1"/>
              </a:solidFill>
              <a:latin typeface="Calibri"/>
              <a:ea typeface="Calibri"/>
              <a:cs typeface="Calibri"/>
              <a:sym typeface="Calibri"/>
            </a:endParaRPr>
          </a:p>
        </p:txBody>
      </p:sp>
      <p:sp>
        <p:nvSpPr>
          <p:cNvPr id="670" name="Google Shape;670;p52"/>
          <p:cNvSpPr/>
          <p:nvPr/>
        </p:nvSpPr>
        <p:spPr>
          <a:xfrm>
            <a:off x="7974508" y="2588320"/>
            <a:ext cx="4134937" cy="2872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1" i="0" lang="en-US" sz="1550" u="none" cap="none" strike="noStrike">
                <a:solidFill>
                  <a:srgbClr val="CAD6DE"/>
                </a:solidFill>
                <a:latin typeface="Cabin"/>
                <a:ea typeface="Cabin"/>
                <a:cs typeface="Cabin"/>
                <a:sym typeface="Cabin"/>
              </a:rPr>
              <a:t>Steps:</a:t>
            </a:r>
            <a:endParaRPr b="0" i="0" sz="1550" u="none" cap="none" strike="noStrike">
              <a:solidFill>
                <a:schemeClr val="dk1"/>
              </a:solidFill>
              <a:latin typeface="Calibri"/>
              <a:ea typeface="Calibri"/>
              <a:cs typeface="Calibri"/>
              <a:sym typeface="Calibri"/>
            </a:endParaRPr>
          </a:p>
        </p:txBody>
      </p:sp>
      <p:sp>
        <p:nvSpPr>
          <p:cNvPr id="671" name="Google Shape;671;p52"/>
          <p:cNvSpPr/>
          <p:nvPr/>
        </p:nvSpPr>
        <p:spPr>
          <a:xfrm>
            <a:off x="7974508" y="2990453"/>
            <a:ext cx="3525352" cy="778371"/>
          </a:xfrm>
          <a:prstGeom prst="rect">
            <a:avLst/>
          </a:prstGeom>
          <a:noFill/>
          <a:ln>
            <a:noFill/>
          </a:ln>
        </p:spPr>
        <p:txBody>
          <a:bodyPr anchorCtr="0" anchor="t" bIns="0" lIns="0" spcFirstLastPara="1" rIns="0" wrap="square" tIns="63825">
            <a:noAutofit/>
          </a:bodyPr>
          <a:lstStyle/>
          <a:p>
            <a:pPr indent="-307975" lvl="0" marL="457200" marR="0" rtl="0" algn="l">
              <a:lnSpc>
                <a:spcPct val="120000"/>
              </a:lnSpc>
              <a:spcBef>
                <a:spcPts val="0"/>
              </a:spcBef>
              <a:spcAft>
                <a:spcPts val="0"/>
              </a:spcAft>
              <a:buClr>
                <a:srgbClr val="CAD6DE"/>
              </a:buClr>
              <a:buSzPts val="1250"/>
              <a:buFont typeface="Cabin"/>
              <a:buChar char="●"/>
            </a:pPr>
            <a:r>
              <a:rPr b="0" i="0" lang="en-US" sz="1250" u="none" cap="none" strike="noStrike">
                <a:solidFill>
                  <a:srgbClr val="CAD6DE"/>
                </a:solidFill>
                <a:latin typeface="Cabin"/>
                <a:ea typeface="Cabin"/>
                <a:cs typeface="Cabin"/>
                <a:sym typeface="Cabin"/>
              </a:rPr>
              <a:t>Container boots</a:t>
            </a:r>
            <a:endParaRPr b="0" i="0" sz="1250" u="none" cap="none" strike="noStrike">
              <a:solidFill>
                <a:schemeClr val="dk1"/>
              </a:solidFill>
              <a:latin typeface="Calibri"/>
              <a:ea typeface="Calibri"/>
              <a:cs typeface="Calibri"/>
              <a:sym typeface="Calibri"/>
            </a:endParaRPr>
          </a:p>
          <a:p>
            <a:pPr indent="-307975" lvl="0" marL="457200" marR="0" rtl="0" algn="l">
              <a:lnSpc>
                <a:spcPct val="120000"/>
              </a:lnSpc>
              <a:spcBef>
                <a:spcPts val="0"/>
              </a:spcBef>
              <a:spcAft>
                <a:spcPts val="0"/>
              </a:spcAft>
              <a:buClr>
                <a:srgbClr val="CAD6DE"/>
              </a:buClr>
              <a:buSzPts val="1250"/>
              <a:buFont typeface="Cabin"/>
              <a:buChar char="●"/>
            </a:pPr>
            <a:r>
              <a:rPr b="0" i="0" lang="en-US" sz="1250" u="none" cap="none" strike="noStrike">
                <a:solidFill>
                  <a:srgbClr val="CAD6DE"/>
                </a:solidFill>
                <a:latin typeface="Cabin"/>
                <a:ea typeface="Cabin"/>
                <a:cs typeface="Cabin"/>
                <a:sym typeface="Cabin"/>
              </a:rPr>
              <a:t>Construction of JSON payload</a:t>
            </a:r>
            <a:endParaRPr b="0" i="0" sz="1250" u="none" cap="none" strike="noStrike">
              <a:solidFill>
                <a:schemeClr val="dk1"/>
              </a:solidFill>
              <a:latin typeface="Calibri"/>
              <a:ea typeface="Calibri"/>
              <a:cs typeface="Calibri"/>
              <a:sym typeface="Calibri"/>
            </a:endParaRPr>
          </a:p>
          <a:p>
            <a:pPr indent="-307975" lvl="0" marL="457200" marR="0" rtl="0" algn="l">
              <a:lnSpc>
                <a:spcPct val="120000"/>
              </a:lnSpc>
              <a:spcBef>
                <a:spcPts val="0"/>
              </a:spcBef>
              <a:spcAft>
                <a:spcPts val="0"/>
              </a:spcAft>
              <a:buClr>
                <a:srgbClr val="CAD6DE"/>
              </a:buClr>
              <a:buSzPts val="1250"/>
              <a:buFont typeface="Cabin"/>
              <a:buChar char="●"/>
            </a:pPr>
            <a:r>
              <a:rPr b="0" i="0" lang="en-US" sz="1250" u="none" cap="none" strike="noStrike">
                <a:solidFill>
                  <a:srgbClr val="CAD6DE"/>
                </a:solidFill>
                <a:latin typeface="Cabin"/>
                <a:ea typeface="Cabin"/>
                <a:cs typeface="Cabin"/>
                <a:sym typeface="Cabin"/>
              </a:rPr>
              <a:t>ROS 2 Node pubblishes on /swarm/register</a:t>
            </a:r>
            <a:endParaRPr b="0" i="0" sz="1250" u="none" cap="none" strike="noStrike">
              <a:solidFill>
                <a:schemeClr val="dk1"/>
              </a:solidFill>
              <a:latin typeface="Calibri"/>
              <a:ea typeface="Calibri"/>
              <a:cs typeface="Calibri"/>
              <a:sym typeface="Calibri"/>
            </a:endParaRPr>
          </a:p>
        </p:txBody>
      </p:sp>
      <p:sp>
        <p:nvSpPr>
          <p:cNvPr id="672" name="Google Shape;672;p52"/>
          <p:cNvSpPr/>
          <p:nvPr/>
        </p:nvSpPr>
        <p:spPr>
          <a:xfrm>
            <a:off x="698086" y="4688582"/>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52"/>
          <p:cNvSpPr/>
          <p:nvPr/>
        </p:nvSpPr>
        <p:spPr>
          <a:xfrm>
            <a:off x="698086" y="4919073"/>
            <a:ext cx="10795500" cy="234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450"/>
              <a:buFont typeface="Unbounded"/>
              <a:buNone/>
            </a:pPr>
            <a:r>
              <a:rPr b="0" i="0" lang="en-US" sz="1450" u="none" cap="none" strike="noStrike">
                <a:solidFill>
                  <a:srgbClr val="FFFFFF"/>
                </a:solidFill>
                <a:latin typeface="Unbounded"/>
                <a:ea typeface="Unbounded"/>
                <a:cs typeface="Unbounded"/>
                <a:sym typeface="Unbounded"/>
              </a:rPr>
              <a:t>Files &amp; Technology:</a:t>
            </a:r>
            <a:endParaRPr b="0" i="0" sz="1450" u="none" cap="none" strike="noStrike">
              <a:solidFill>
                <a:schemeClr val="dk1"/>
              </a:solidFill>
              <a:latin typeface="Calibri"/>
              <a:ea typeface="Calibri"/>
              <a:cs typeface="Calibri"/>
              <a:sym typeface="Calibri"/>
            </a:endParaRPr>
          </a:p>
        </p:txBody>
      </p:sp>
      <p:sp>
        <p:nvSpPr>
          <p:cNvPr id="674" name="Google Shape;674;p52"/>
          <p:cNvSpPr/>
          <p:nvPr/>
        </p:nvSpPr>
        <p:spPr>
          <a:xfrm>
            <a:off x="698086" y="5365155"/>
            <a:ext cx="10795524" cy="510381"/>
          </a:xfrm>
          <a:prstGeom prst="rect">
            <a:avLst/>
          </a:prstGeom>
          <a:noFill/>
          <a:ln>
            <a:noFill/>
          </a:ln>
        </p:spPr>
        <p:txBody>
          <a:bodyPr anchorCtr="0" anchor="t" bIns="0" lIns="0" spcFirstLastPara="1" rIns="0" wrap="square" tIns="63825">
            <a:noAutofit/>
          </a:bodyPr>
          <a:lstStyle/>
          <a:p>
            <a:pPr indent="-254000" lvl="0" marL="254000" marR="0" rtl="0" algn="l">
              <a:lnSpc>
                <a:spcPct val="120000"/>
              </a:lnSpc>
              <a:spcBef>
                <a:spcPts val="0"/>
              </a:spcBef>
              <a:spcAft>
                <a:spcPts val="0"/>
              </a:spcAft>
              <a:buClr>
                <a:srgbClr val="CAD6DE"/>
              </a:buClr>
              <a:buSzPts val="1250"/>
              <a:buFont typeface="Consolas"/>
              <a:buChar char="•"/>
            </a:pPr>
            <a:r>
              <a:rPr lang="en-US" sz="1250">
                <a:solidFill>
                  <a:srgbClr val="CAD6DE"/>
                </a:solidFill>
                <a:highlight>
                  <a:srgbClr val="1E3543"/>
                </a:highlight>
                <a:latin typeface="Consolas"/>
                <a:ea typeface="Consolas"/>
                <a:cs typeface="Consolas"/>
                <a:sym typeface="Consolas"/>
              </a:rPr>
              <a:t>drone_agent_wrapper.py</a:t>
            </a:r>
            <a:r>
              <a:rPr i="1" lang="en-US" sz="1250">
                <a:solidFill>
                  <a:srgbClr val="CAD6DE"/>
                </a:solidFill>
                <a:highlight>
                  <a:srgbClr val="1E3543"/>
                </a:highlight>
                <a:latin typeface="Consolas"/>
                <a:ea typeface="Consolas"/>
                <a:cs typeface="Consolas"/>
                <a:sym typeface="Consolas"/>
              </a:rPr>
              <a:t> &amp;&amp; </a:t>
            </a:r>
            <a:r>
              <a:rPr b="0" i="0" lang="en-US" sz="1250" u="none" cap="none" strike="noStrike">
                <a:solidFill>
                  <a:srgbClr val="CAD6DE"/>
                </a:solidFill>
                <a:highlight>
                  <a:srgbClr val="1E3543"/>
                </a:highlight>
                <a:latin typeface="Consolas"/>
                <a:ea typeface="Consolas"/>
                <a:cs typeface="Consolas"/>
                <a:sym typeface="Consolas"/>
              </a:rPr>
              <a:t>entrypoint_drone_agent.sh</a:t>
            </a:r>
            <a:endParaRPr b="0" i="0" sz="1250" u="none" cap="none" strike="noStrike">
              <a:solidFill>
                <a:schemeClr val="dk1"/>
              </a:solidFill>
              <a:latin typeface="Calibri"/>
              <a:ea typeface="Calibri"/>
              <a:cs typeface="Calibri"/>
              <a:sym typeface="Calibri"/>
            </a:endParaRPr>
          </a:p>
          <a:p>
            <a:pPr indent="-254000" lvl="0" marL="254000" marR="0" rtl="0" algn="l">
              <a:lnSpc>
                <a:spcPct val="120000"/>
              </a:lnSpc>
              <a:spcBef>
                <a:spcPts val="0"/>
              </a:spcBef>
              <a:spcAft>
                <a:spcPts val="0"/>
              </a:spcAft>
              <a:buClr>
                <a:srgbClr val="CAD6DE"/>
              </a:buClr>
              <a:buSzPts val="1250"/>
              <a:buFont typeface="Cabin"/>
              <a:buChar char="•"/>
            </a:pPr>
            <a:r>
              <a:rPr b="0" i="0" lang="en-US" sz="1250" u="none" cap="none" strike="noStrike">
                <a:solidFill>
                  <a:srgbClr val="CAD6DE"/>
                </a:solidFill>
                <a:latin typeface="Cabin"/>
                <a:ea typeface="Cabin"/>
                <a:cs typeface="Cabin"/>
                <a:sym typeface="Cabin"/>
              </a:rPr>
              <a:t>rlcpy, Fast-DDS</a:t>
            </a:r>
            <a:endParaRPr b="0" i="0" sz="1250" u="none" cap="none" strike="noStrike">
              <a:solidFill>
                <a:schemeClr val="dk1"/>
              </a:solidFill>
              <a:latin typeface="Calibri"/>
              <a:ea typeface="Calibri"/>
              <a:cs typeface="Calibri"/>
              <a:sym typeface="Calibri"/>
            </a:endParaRPr>
          </a:p>
        </p:txBody>
      </p:sp>
      <p:pic>
        <p:nvPicPr>
          <p:cNvPr id="675" name="Google Shape;675;p52"/>
          <p:cNvPicPr preferRelativeResize="0"/>
          <p:nvPr/>
        </p:nvPicPr>
        <p:blipFill>
          <a:blip r:embed="rId3">
            <a:alphaModFix/>
          </a:blip>
          <a:stretch>
            <a:fillRect/>
          </a:stretch>
        </p:blipFill>
        <p:spPr>
          <a:xfrm>
            <a:off x="749600" y="2482255"/>
            <a:ext cx="6480656" cy="205392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53"/>
          <p:cNvSpPr/>
          <p:nvPr/>
        </p:nvSpPr>
        <p:spPr>
          <a:xfrm>
            <a:off x="698086" y="676275"/>
            <a:ext cx="10795524" cy="105608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300"/>
              <a:buFont typeface="Unbounded"/>
              <a:buNone/>
            </a:pPr>
            <a:r>
              <a:rPr b="0" i="0" lang="en-US" sz="3300" u="none" cap="none" strike="noStrike">
                <a:solidFill>
                  <a:srgbClr val="FFFFFF"/>
                </a:solidFill>
                <a:latin typeface="Unbounded"/>
                <a:ea typeface="Unbounded"/>
                <a:cs typeface="Unbounded"/>
                <a:sym typeface="Unbounded"/>
              </a:rPr>
              <a:t>Step 3: Coordinator intercepts registration request</a:t>
            </a:r>
            <a:endParaRPr b="0" i="0" sz="3300" u="none" cap="none" strike="noStrike">
              <a:solidFill>
                <a:schemeClr val="dk1"/>
              </a:solidFill>
              <a:latin typeface="Calibri"/>
              <a:ea typeface="Calibri"/>
              <a:cs typeface="Calibri"/>
              <a:sym typeface="Calibri"/>
            </a:endParaRPr>
          </a:p>
        </p:txBody>
      </p:sp>
      <p:sp>
        <p:nvSpPr>
          <p:cNvPr id="682" name="Google Shape;682;p53"/>
          <p:cNvSpPr/>
          <p:nvPr/>
        </p:nvSpPr>
        <p:spPr>
          <a:xfrm>
            <a:off x="7556807" y="2120007"/>
            <a:ext cx="4552638" cy="341114"/>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750"/>
              <a:buFont typeface="Cabin"/>
              <a:buNone/>
            </a:pPr>
            <a:r>
              <a:rPr b="1" i="0" lang="en-US" sz="1750" u="none" cap="none" strike="noStrike">
                <a:solidFill>
                  <a:srgbClr val="CAD6DE"/>
                </a:solidFill>
                <a:latin typeface="Cabin"/>
                <a:ea typeface="Cabin"/>
                <a:cs typeface="Cabin"/>
                <a:sym typeface="Cabin"/>
              </a:rPr>
              <a:t>Steps:</a:t>
            </a:r>
            <a:endParaRPr b="0" i="0" sz="1750" u="none" cap="none" strike="noStrike">
              <a:solidFill>
                <a:schemeClr val="dk1"/>
              </a:solidFill>
              <a:latin typeface="Calibri"/>
              <a:ea typeface="Calibri"/>
              <a:cs typeface="Calibri"/>
              <a:sym typeface="Calibri"/>
            </a:endParaRPr>
          </a:p>
        </p:txBody>
      </p:sp>
      <p:sp>
        <p:nvSpPr>
          <p:cNvPr id="683" name="Google Shape;683;p53"/>
          <p:cNvSpPr/>
          <p:nvPr/>
        </p:nvSpPr>
        <p:spPr>
          <a:xfrm>
            <a:off x="7556807" y="2606477"/>
            <a:ext cx="3943053" cy="1805880"/>
          </a:xfrm>
          <a:prstGeom prst="rect">
            <a:avLst/>
          </a:prstGeom>
          <a:noFill/>
          <a:ln>
            <a:noFill/>
          </a:ln>
        </p:spPr>
        <p:txBody>
          <a:bodyPr anchorCtr="0" anchor="t" bIns="0" lIns="0" spcFirstLastPara="1" rIns="0" wrap="square" tIns="71800">
            <a:noAutofit/>
          </a:bodyPr>
          <a:lstStyle/>
          <a:p>
            <a:pPr indent="-317500" lvl="0" marL="45720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Coordinator actively listens for drone registrations</a:t>
            </a:r>
            <a:endParaRPr b="0" i="0" sz="1400" u="none" cap="none" strike="noStrike">
              <a:solidFill>
                <a:schemeClr val="dk1"/>
              </a:solidFill>
              <a:latin typeface="Calibri"/>
              <a:ea typeface="Calibri"/>
              <a:cs typeface="Calibri"/>
              <a:sym typeface="Calibri"/>
            </a:endParaRPr>
          </a:p>
          <a:p>
            <a:pPr indent="-317500" lvl="0" marL="45720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Multi-threaded architecture enables concurrent listening</a:t>
            </a:r>
            <a:endParaRPr b="0" i="0" sz="1400" u="none" cap="none" strike="noStrike">
              <a:solidFill>
                <a:schemeClr val="dk1"/>
              </a:solidFill>
              <a:latin typeface="Calibri"/>
              <a:ea typeface="Calibri"/>
              <a:cs typeface="Calibri"/>
              <a:sym typeface="Calibri"/>
            </a:endParaRPr>
          </a:p>
          <a:p>
            <a:pPr indent="-317500" lvl="0" marL="45720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JSON parsing extracts critical drone metadata</a:t>
            </a:r>
            <a:endParaRPr b="0" i="0" sz="1400" u="none" cap="none" strike="noStrike">
              <a:solidFill>
                <a:schemeClr val="dk1"/>
              </a:solidFill>
              <a:latin typeface="Calibri"/>
              <a:ea typeface="Calibri"/>
              <a:cs typeface="Calibri"/>
              <a:sym typeface="Calibri"/>
            </a:endParaRPr>
          </a:p>
          <a:p>
            <a:pPr indent="-317500" lvl="0" marL="45720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call function spawn_drone_in_gazebo()</a:t>
            </a:r>
            <a:endParaRPr b="0" i="0" sz="1400" u="none" cap="none" strike="noStrike">
              <a:solidFill>
                <a:schemeClr val="dk1"/>
              </a:solidFill>
              <a:latin typeface="Calibri"/>
              <a:ea typeface="Calibri"/>
              <a:cs typeface="Calibri"/>
              <a:sym typeface="Calibri"/>
            </a:endParaRPr>
          </a:p>
        </p:txBody>
      </p:sp>
      <p:sp>
        <p:nvSpPr>
          <p:cNvPr id="684" name="Google Shape;684;p53"/>
          <p:cNvSpPr/>
          <p:nvPr/>
        </p:nvSpPr>
        <p:spPr>
          <a:xfrm>
            <a:off x="698086" y="4695428"/>
            <a:ext cx="10795524" cy="2540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53"/>
          <p:cNvSpPr/>
          <p:nvPr/>
        </p:nvSpPr>
        <p:spPr>
          <a:xfrm>
            <a:off x="698086" y="5007967"/>
            <a:ext cx="10795524" cy="31680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950"/>
              <a:buFont typeface="Unbounded"/>
              <a:buNone/>
            </a:pPr>
            <a:r>
              <a:rPr b="0" i="0" lang="en-US" sz="1950" u="none" cap="none" strike="noStrike">
                <a:solidFill>
                  <a:srgbClr val="FFFFFF"/>
                </a:solidFill>
                <a:latin typeface="Unbounded"/>
                <a:ea typeface="Unbounded"/>
                <a:cs typeface="Unbounded"/>
                <a:sym typeface="Unbounded"/>
              </a:rPr>
              <a:t>Files &amp; Technology:</a:t>
            </a:r>
            <a:endParaRPr b="0" i="0" sz="1950" u="none" cap="none" strike="noStrike">
              <a:solidFill>
                <a:schemeClr val="dk1"/>
              </a:solidFill>
              <a:latin typeface="Calibri"/>
              <a:ea typeface="Calibri"/>
              <a:cs typeface="Calibri"/>
              <a:sym typeface="Calibri"/>
            </a:endParaRPr>
          </a:p>
        </p:txBody>
      </p:sp>
      <p:sp>
        <p:nvSpPr>
          <p:cNvPr id="686" name="Google Shape;686;p53"/>
          <p:cNvSpPr/>
          <p:nvPr/>
        </p:nvSpPr>
        <p:spPr>
          <a:xfrm>
            <a:off x="698086" y="5567065"/>
            <a:ext cx="10795524" cy="614660"/>
          </a:xfrm>
          <a:prstGeom prst="rect">
            <a:avLst/>
          </a:prstGeom>
          <a:noFill/>
          <a:ln>
            <a:noFill/>
          </a:ln>
        </p:spPr>
        <p:txBody>
          <a:bodyPr anchorCtr="0" anchor="t" bIns="0" lIns="0" spcFirstLastPara="1" rIns="0" wrap="square" tIns="71800">
            <a:noAutofit/>
          </a:bodyPr>
          <a:lstStyle/>
          <a:p>
            <a:pPr indent="-284480" lvl="0" marL="284480" marR="0" rtl="0" algn="l">
              <a:lnSpc>
                <a:spcPct val="127000"/>
              </a:lnSpc>
              <a:spcBef>
                <a:spcPts val="0"/>
              </a:spcBef>
              <a:spcAft>
                <a:spcPts val="0"/>
              </a:spcAft>
              <a:buClr>
                <a:srgbClr val="CAD6DE"/>
              </a:buClr>
              <a:buSzPts val="1400"/>
              <a:buFont typeface="Consolas"/>
              <a:buChar char="•"/>
            </a:pPr>
            <a:r>
              <a:rPr b="0" i="0" lang="en-US" sz="1400" u="none" cap="none" strike="noStrike">
                <a:solidFill>
                  <a:srgbClr val="CAD6DE"/>
                </a:solidFill>
                <a:highlight>
                  <a:srgbClr val="1E3543"/>
                </a:highlight>
                <a:latin typeface="Consolas"/>
                <a:ea typeface="Consolas"/>
                <a:cs typeface="Consolas"/>
                <a:sym typeface="Consolas"/>
              </a:rPr>
              <a:t>main.rs</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Rust (</a:t>
            </a:r>
            <a:r>
              <a:rPr b="0" i="0" lang="en-US" sz="1400" u="none" cap="none" strike="noStrike">
                <a:solidFill>
                  <a:srgbClr val="CAD6DE"/>
                </a:solidFill>
                <a:highlight>
                  <a:srgbClr val="1E3543"/>
                </a:highlight>
                <a:latin typeface="Consolas"/>
                <a:ea typeface="Consolas"/>
                <a:cs typeface="Consolas"/>
                <a:sym typeface="Consolas"/>
              </a:rPr>
              <a:t>std::process::Command</a:t>
            </a:r>
            <a:r>
              <a:rPr b="0" i="0" lang="en-US" sz="1400" u="none" cap="none" strike="noStrike">
                <a:solidFill>
                  <a:srgbClr val="CAD6DE"/>
                </a:solidFill>
                <a:latin typeface="Cabin"/>
                <a:ea typeface="Cabin"/>
                <a:cs typeface="Cabin"/>
                <a:sym typeface="Cabin"/>
              </a:rPr>
              <a:t>, </a:t>
            </a:r>
            <a:r>
              <a:rPr b="0" i="0" lang="en-US" sz="1400" u="none" cap="none" strike="noStrike">
                <a:solidFill>
                  <a:srgbClr val="CAD6DE"/>
                </a:solidFill>
                <a:highlight>
                  <a:srgbClr val="1E3543"/>
                </a:highlight>
                <a:latin typeface="Consolas"/>
                <a:ea typeface="Consolas"/>
                <a:cs typeface="Consolas"/>
                <a:sym typeface="Consolas"/>
              </a:rPr>
              <a:t>std::thread</a:t>
            </a:r>
            <a:r>
              <a:rPr b="0" i="0" lang="en-US" sz="1400" u="none" cap="none" strike="noStrike">
                <a:solidFill>
                  <a:srgbClr val="CAD6DE"/>
                </a:solidFill>
                <a:latin typeface="Cabin"/>
                <a:ea typeface="Cabin"/>
                <a:cs typeface="Cabin"/>
                <a:sym typeface="Cabin"/>
              </a:rPr>
              <a:t>), Serde JSON</a:t>
            </a:r>
            <a:endParaRPr b="0" i="0" sz="1400" u="none" cap="none" strike="noStrike">
              <a:solidFill>
                <a:schemeClr val="dk1"/>
              </a:solidFill>
              <a:latin typeface="Calibri"/>
              <a:ea typeface="Calibri"/>
              <a:cs typeface="Calibri"/>
              <a:sym typeface="Calibri"/>
            </a:endParaRPr>
          </a:p>
        </p:txBody>
      </p:sp>
      <p:pic>
        <p:nvPicPr>
          <p:cNvPr id="687" name="Google Shape;687;p53"/>
          <p:cNvPicPr preferRelativeResize="0"/>
          <p:nvPr/>
        </p:nvPicPr>
        <p:blipFill>
          <a:blip r:embed="rId3">
            <a:alphaModFix/>
          </a:blip>
          <a:stretch>
            <a:fillRect/>
          </a:stretch>
        </p:blipFill>
        <p:spPr>
          <a:xfrm>
            <a:off x="510275" y="2202000"/>
            <a:ext cx="6868401" cy="22062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4"/>
          <p:cNvSpPr/>
          <p:nvPr/>
        </p:nvSpPr>
        <p:spPr>
          <a:xfrm>
            <a:off x="698086" y="548580"/>
            <a:ext cx="10795524" cy="8800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750"/>
              <a:buFont typeface="Unbounded"/>
              <a:buNone/>
            </a:pPr>
            <a:r>
              <a:rPr b="0" i="0" lang="en-US" sz="2750" u="none" cap="none" strike="noStrike">
                <a:solidFill>
                  <a:srgbClr val="FFFFFF"/>
                </a:solidFill>
                <a:latin typeface="Unbounded"/>
                <a:ea typeface="Unbounded"/>
                <a:cs typeface="Unbounded"/>
                <a:sym typeface="Unbounded"/>
              </a:rPr>
              <a:t>Step 4: Dynamic 3D SDF Model Generation (Namespace Injection)</a:t>
            </a:r>
            <a:endParaRPr b="0" i="0" sz="2750" u="none" cap="none" strike="noStrike">
              <a:solidFill>
                <a:schemeClr val="dk1"/>
              </a:solidFill>
              <a:latin typeface="Calibri"/>
              <a:ea typeface="Calibri"/>
              <a:cs typeface="Calibri"/>
              <a:sym typeface="Calibri"/>
            </a:endParaRPr>
          </a:p>
        </p:txBody>
      </p:sp>
      <p:sp>
        <p:nvSpPr>
          <p:cNvPr id="694" name="Google Shape;694;p54"/>
          <p:cNvSpPr/>
          <p:nvPr/>
        </p:nvSpPr>
        <p:spPr>
          <a:xfrm>
            <a:off x="698086" y="1652984"/>
            <a:ext cx="10795524"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The Rust Coordinator dynamically generates 3D SDF (Simulation Description Format) models for each drone, ensuring isolated environments within the simulation.</a:t>
            </a:r>
            <a:endParaRPr b="0" i="0" sz="1450" u="none" cap="none" strike="noStrike">
              <a:solidFill>
                <a:schemeClr val="dk1"/>
              </a:solidFill>
              <a:latin typeface="Calibri"/>
              <a:ea typeface="Calibri"/>
              <a:cs typeface="Calibri"/>
              <a:sym typeface="Calibri"/>
            </a:endParaRPr>
          </a:p>
        </p:txBody>
      </p:sp>
      <p:sp>
        <p:nvSpPr>
          <p:cNvPr id="695" name="Google Shape;695;p54"/>
          <p:cNvSpPr/>
          <p:nvPr/>
        </p:nvSpPr>
        <p:spPr>
          <a:xfrm>
            <a:off x="7623877" y="2403773"/>
            <a:ext cx="4485567" cy="26183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1" i="0" lang="en-US" sz="1450" u="none" cap="none" strike="noStrike">
                <a:solidFill>
                  <a:srgbClr val="CAD6DE"/>
                </a:solidFill>
                <a:latin typeface="Cabin"/>
                <a:ea typeface="Cabin"/>
                <a:cs typeface="Cabin"/>
                <a:sym typeface="Cabin"/>
              </a:rPr>
              <a:t>Steps:</a:t>
            </a:r>
            <a:endParaRPr b="0" i="0" sz="1450" u="none" cap="none" strike="noStrike">
              <a:solidFill>
                <a:schemeClr val="dk1"/>
              </a:solidFill>
              <a:latin typeface="Calibri"/>
              <a:ea typeface="Calibri"/>
              <a:cs typeface="Calibri"/>
              <a:sym typeface="Calibri"/>
            </a:endParaRPr>
          </a:p>
        </p:txBody>
      </p:sp>
      <p:sp>
        <p:nvSpPr>
          <p:cNvPr id="696" name="Google Shape;696;p54"/>
          <p:cNvSpPr/>
          <p:nvPr/>
        </p:nvSpPr>
        <p:spPr>
          <a:xfrm>
            <a:off x="7623875" y="2763625"/>
            <a:ext cx="4062600" cy="1832400"/>
          </a:xfrm>
          <a:prstGeom prst="rect">
            <a:avLst/>
          </a:prstGeom>
          <a:noFill/>
          <a:ln>
            <a:noFill/>
          </a:ln>
        </p:spPr>
        <p:txBody>
          <a:bodyPr anchorCtr="0" anchor="t" bIns="0" lIns="0" spcFirstLastPara="1" rIns="0" wrap="square" tIns="59825">
            <a:noAutofit/>
          </a:bodyPr>
          <a:lstStyle/>
          <a:p>
            <a:pPr indent="-314325" lvl="0" marL="457200" marR="0" rtl="0" algn="l">
              <a:lnSpc>
                <a:spcPct val="117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Rust Coordinator reads generic 3D SDF model template (x3_uav/model.sdf)</a:t>
            </a:r>
            <a:endParaRPr b="0" i="0" sz="1350" u="none" cap="none" strike="noStrike">
              <a:solidFill>
                <a:schemeClr val="dk1"/>
              </a:solidFill>
              <a:latin typeface="Calibri"/>
              <a:ea typeface="Calibri"/>
              <a:cs typeface="Calibri"/>
              <a:sym typeface="Calibri"/>
            </a:endParaRPr>
          </a:p>
          <a:p>
            <a:pPr indent="-314325" lvl="0" marL="457200" marR="0" rtl="0" algn="l">
              <a:lnSpc>
                <a:spcPct val="117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Clones the template for each drone</a:t>
            </a:r>
            <a:endParaRPr b="0" i="0" sz="1350" u="none" cap="none" strike="noStrike">
              <a:solidFill>
                <a:schemeClr val="dk1"/>
              </a:solidFill>
              <a:latin typeface="Calibri"/>
              <a:ea typeface="Calibri"/>
              <a:cs typeface="Calibri"/>
              <a:sym typeface="Calibri"/>
            </a:endParaRPr>
          </a:p>
          <a:p>
            <a:pPr indent="-314325" lvl="0" marL="457200" marR="0" rtl="0" algn="l">
              <a:lnSpc>
                <a:spcPct val="117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Replaces __ROBOT_NAMESPACE__ placeholder with unique namespace</a:t>
            </a:r>
            <a:endParaRPr b="0" i="0" sz="1350" u="none" cap="none" strike="noStrike">
              <a:solidFill>
                <a:schemeClr val="dk1"/>
              </a:solidFill>
              <a:latin typeface="Calibri"/>
              <a:ea typeface="Calibri"/>
              <a:cs typeface="Calibri"/>
              <a:sym typeface="Calibri"/>
            </a:endParaRPr>
          </a:p>
          <a:p>
            <a:pPr indent="-314325" lvl="0" marL="457200" marR="0" rtl="0" algn="l">
              <a:lnSpc>
                <a:spcPct val="117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Example: /model/drone_1, /model/drone_2, etc.</a:t>
            </a:r>
            <a:endParaRPr b="0" i="0" sz="1350" u="none" cap="none" strike="noStrike">
              <a:solidFill>
                <a:schemeClr val="dk1"/>
              </a:solidFill>
              <a:latin typeface="Calibri"/>
              <a:ea typeface="Calibri"/>
              <a:cs typeface="Calibri"/>
              <a:sym typeface="Calibri"/>
            </a:endParaRPr>
          </a:p>
          <a:p>
            <a:pPr indent="-314325" lvl="0" marL="457200" marR="0" rtl="0" algn="l">
              <a:lnSpc>
                <a:spcPct val="117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Each drone gets isolated topic arguments and plugins inside Gazebo</a:t>
            </a:r>
            <a:endParaRPr b="0" i="0" sz="1350" u="none" cap="none" strike="noStrike">
              <a:solidFill>
                <a:schemeClr val="dk1"/>
              </a:solidFill>
              <a:latin typeface="Calibri"/>
              <a:ea typeface="Calibri"/>
              <a:cs typeface="Calibri"/>
              <a:sym typeface="Calibri"/>
            </a:endParaRPr>
          </a:p>
        </p:txBody>
      </p:sp>
      <p:sp>
        <p:nvSpPr>
          <p:cNvPr id="697" name="Google Shape;697;p54"/>
          <p:cNvSpPr/>
          <p:nvPr/>
        </p:nvSpPr>
        <p:spPr>
          <a:xfrm>
            <a:off x="698086" y="4965167"/>
            <a:ext cx="10795500" cy="1920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54"/>
          <p:cNvSpPr/>
          <p:nvPr/>
        </p:nvSpPr>
        <p:spPr>
          <a:xfrm>
            <a:off x="698086" y="5189798"/>
            <a:ext cx="10795500" cy="264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650"/>
              <a:buFont typeface="Unbounded"/>
              <a:buNone/>
            </a:pPr>
            <a:r>
              <a:rPr b="0" i="0" lang="en-US" sz="1650" u="none" cap="none" strike="noStrike">
                <a:solidFill>
                  <a:srgbClr val="FFFFFF"/>
                </a:solidFill>
                <a:latin typeface="Unbounded"/>
                <a:ea typeface="Unbounded"/>
                <a:cs typeface="Unbounded"/>
                <a:sym typeface="Unbounded"/>
              </a:rPr>
              <a:t>Files &amp; Technology:</a:t>
            </a:r>
            <a:endParaRPr b="0" i="0" sz="1650" u="none" cap="none" strike="noStrike">
              <a:solidFill>
                <a:schemeClr val="dk1"/>
              </a:solidFill>
              <a:latin typeface="Calibri"/>
              <a:ea typeface="Calibri"/>
              <a:cs typeface="Calibri"/>
              <a:sym typeface="Calibri"/>
            </a:endParaRPr>
          </a:p>
        </p:txBody>
      </p:sp>
      <p:sp>
        <p:nvSpPr>
          <p:cNvPr id="699" name="Google Shape;699;p54"/>
          <p:cNvSpPr/>
          <p:nvPr/>
        </p:nvSpPr>
        <p:spPr>
          <a:xfrm>
            <a:off x="698086" y="5659395"/>
            <a:ext cx="10795500" cy="464400"/>
          </a:xfrm>
          <a:prstGeom prst="rect">
            <a:avLst/>
          </a:prstGeom>
          <a:noFill/>
          <a:ln>
            <a:noFill/>
          </a:ln>
        </p:spPr>
        <p:txBody>
          <a:bodyPr anchorCtr="0" anchor="t" bIns="0" lIns="0" spcFirstLastPara="1" rIns="0" wrap="square" tIns="59825">
            <a:noAutofit/>
          </a:bodyPr>
          <a:lstStyle/>
          <a:p>
            <a:pPr indent="-233680" lvl="0" marL="233680" marR="0" rtl="0" algn="l">
              <a:lnSpc>
                <a:spcPct val="117000"/>
              </a:lnSpc>
              <a:spcBef>
                <a:spcPts val="0"/>
              </a:spcBef>
              <a:spcAft>
                <a:spcPts val="0"/>
              </a:spcAft>
              <a:buClr>
                <a:srgbClr val="CAD6DE"/>
              </a:buClr>
              <a:buSzPts val="1150"/>
              <a:buFont typeface="Consolas"/>
              <a:buChar char="•"/>
            </a:pPr>
            <a:r>
              <a:rPr b="0" i="0" lang="en-US" sz="1150" u="none" cap="none" strike="noStrike">
                <a:solidFill>
                  <a:srgbClr val="CAD6DE"/>
                </a:solidFill>
                <a:highlight>
                  <a:srgbClr val="1E3543"/>
                </a:highlight>
                <a:latin typeface="Consolas"/>
                <a:ea typeface="Consolas"/>
                <a:cs typeface="Consolas"/>
                <a:sym typeface="Consolas"/>
              </a:rPr>
              <a:t>main.rs</a:t>
            </a:r>
            <a:endParaRPr b="0" i="0" sz="1150" u="none" cap="none" strike="noStrike">
              <a:solidFill>
                <a:schemeClr val="dk1"/>
              </a:solidFill>
              <a:latin typeface="Calibri"/>
              <a:ea typeface="Calibri"/>
              <a:cs typeface="Calibri"/>
              <a:sym typeface="Calibri"/>
            </a:endParaRPr>
          </a:p>
          <a:p>
            <a:pPr indent="-233680" lvl="0" marL="233680" marR="0" rtl="0" algn="l">
              <a:lnSpc>
                <a:spcPct val="11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Rust File I/O (std::fs), SDFormat (SDF 3D Specification)</a:t>
            </a:r>
            <a:endParaRPr b="0" i="0" sz="1150" u="none" cap="none" strike="noStrike">
              <a:solidFill>
                <a:schemeClr val="dk1"/>
              </a:solidFill>
              <a:latin typeface="Calibri"/>
              <a:ea typeface="Calibri"/>
              <a:cs typeface="Calibri"/>
              <a:sym typeface="Calibri"/>
            </a:endParaRPr>
          </a:p>
        </p:txBody>
      </p:sp>
      <p:pic>
        <p:nvPicPr>
          <p:cNvPr id="700" name="Google Shape;700;p54"/>
          <p:cNvPicPr preferRelativeResize="0"/>
          <p:nvPr/>
        </p:nvPicPr>
        <p:blipFill>
          <a:blip r:embed="rId3">
            <a:alphaModFix/>
          </a:blip>
          <a:stretch>
            <a:fillRect/>
          </a:stretch>
        </p:blipFill>
        <p:spPr>
          <a:xfrm>
            <a:off x="391850" y="2507226"/>
            <a:ext cx="6976649" cy="1910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55"/>
          <p:cNvSpPr/>
          <p:nvPr/>
        </p:nvSpPr>
        <p:spPr>
          <a:xfrm>
            <a:off x="698086" y="548580"/>
            <a:ext cx="10795524" cy="92392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00"/>
              <a:buFont typeface="Unbounded"/>
              <a:buNone/>
            </a:pPr>
            <a:r>
              <a:rPr b="0" i="0" lang="en-US" sz="2900" u="none" cap="none" strike="noStrike">
                <a:solidFill>
                  <a:srgbClr val="FFFFFF"/>
                </a:solidFill>
                <a:latin typeface="Unbounded"/>
                <a:ea typeface="Unbounded"/>
                <a:cs typeface="Unbounded"/>
                <a:sym typeface="Unbounded"/>
              </a:rPr>
              <a:t>Step 5: Invoking ros_gz_sim create (Gazebo Simulation Spawn)</a:t>
            </a:r>
            <a:endParaRPr b="0" i="0" sz="2900" u="none" cap="none" strike="noStrike">
              <a:solidFill>
                <a:schemeClr val="dk1"/>
              </a:solidFill>
              <a:latin typeface="Calibri"/>
              <a:ea typeface="Calibri"/>
              <a:cs typeface="Calibri"/>
              <a:sym typeface="Calibri"/>
            </a:endParaRPr>
          </a:p>
        </p:txBody>
      </p:sp>
      <p:sp>
        <p:nvSpPr>
          <p:cNvPr id="707" name="Google Shape;707;p55"/>
          <p:cNvSpPr/>
          <p:nvPr/>
        </p:nvSpPr>
        <p:spPr>
          <a:xfrm>
            <a:off x="6740852" y="1769368"/>
            <a:ext cx="5368592" cy="280690"/>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AD6DE"/>
              </a:buClr>
              <a:buSzPts val="1500"/>
              <a:buFont typeface="Cabin"/>
              <a:buNone/>
            </a:pPr>
            <a:r>
              <a:rPr b="1" i="0" lang="en-US" sz="1500" u="none" cap="none" strike="noStrike">
                <a:solidFill>
                  <a:srgbClr val="CAD6DE"/>
                </a:solidFill>
                <a:latin typeface="Cabin"/>
                <a:ea typeface="Cabin"/>
                <a:cs typeface="Cabin"/>
                <a:sym typeface="Cabin"/>
              </a:rPr>
              <a:t>Steps:</a:t>
            </a:r>
            <a:endParaRPr b="0" i="0" sz="1500" u="none" cap="none" strike="noStrike">
              <a:solidFill>
                <a:schemeClr val="dk1"/>
              </a:solidFill>
              <a:latin typeface="Calibri"/>
              <a:ea typeface="Calibri"/>
              <a:cs typeface="Calibri"/>
              <a:sym typeface="Calibri"/>
            </a:endParaRPr>
          </a:p>
        </p:txBody>
      </p:sp>
      <p:sp>
        <p:nvSpPr>
          <p:cNvPr id="708" name="Google Shape;708;p55"/>
          <p:cNvSpPr/>
          <p:nvPr/>
        </p:nvSpPr>
        <p:spPr>
          <a:xfrm>
            <a:off x="6740852" y="2161381"/>
            <a:ext cx="4759008" cy="1295698"/>
          </a:xfrm>
          <a:prstGeom prst="rect">
            <a:avLst/>
          </a:prstGeom>
          <a:noFill/>
          <a:ln>
            <a:noFill/>
          </a:ln>
        </p:spPr>
        <p:txBody>
          <a:bodyPr anchorCtr="0" anchor="t" bIns="0" lIns="0" spcFirstLastPara="1" rIns="0" wrap="square" tIns="0">
            <a:noAutofit/>
          </a:bodyPr>
          <a:lstStyle/>
          <a:p>
            <a:pPr indent="-243840" lvl="0" marL="243840" marR="0" rtl="0" algn="l">
              <a:lnSpc>
                <a:spcPct val="119000"/>
              </a:lnSpc>
              <a:spcBef>
                <a:spcPts val="0"/>
              </a:spcBef>
              <a:spcAft>
                <a:spcPts val="0"/>
              </a:spcAft>
              <a:buClr>
                <a:srgbClr val="CAD6DE"/>
              </a:buClr>
              <a:buSzPts val="1200"/>
              <a:buFont typeface="Calibri"/>
              <a:buChar char="●"/>
            </a:pPr>
            <a:r>
              <a:rPr b="0" i="0" lang="en-US" sz="1200" u="none" cap="none" strike="noStrike">
                <a:solidFill>
                  <a:srgbClr val="CAD6DE"/>
                </a:solidFill>
                <a:latin typeface="Cabin"/>
                <a:ea typeface="Cabin"/>
                <a:cs typeface="Cabin"/>
                <a:sym typeface="Cabin"/>
              </a:rPr>
              <a:t>Rust Coordinator executes ros_gz_sim create CLI utility</a:t>
            </a:r>
            <a:endParaRPr b="0" i="0" sz="1200" u="none" cap="none" strike="noStrike">
              <a:solidFill>
                <a:schemeClr val="dk1"/>
              </a:solidFill>
              <a:latin typeface="Calibri"/>
              <a:ea typeface="Calibri"/>
              <a:cs typeface="Calibri"/>
              <a:sym typeface="Calibri"/>
            </a:endParaRPr>
          </a:p>
          <a:p>
            <a:pPr indent="-243840" lvl="0" marL="243840" marR="0" rtl="0" algn="l">
              <a:lnSpc>
                <a:spcPct val="119000"/>
              </a:lnSpc>
              <a:spcBef>
                <a:spcPts val="0"/>
              </a:spcBef>
              <a:spcAft>
                <a:spcPts val="0"/>
              </a:spcAft>
              <a:buClr>
                <a:srgbClr val="CAD6DE"/>
              </a:buClr>
              <a:buSzPts val="1200"/>
              <a:buFont typeface="Calibri"/>
              <a:buChar char="●"/>
            </a:pPr>
            <a:r>
              <a:rPr b="0" i="0" lang="en-US" sz="1200" u="none" cap="none" strike="noStrike">
                <a:solidFill>
                  <a:srgbClr val="CAD6DE"/>
                </a:solidFill>
                <a:latin typeface="Cabin"/>
                <a:ea typeface="Cabin"/>
                <a:cs typeface="Cabin"/>
                <a:sym typeface="Cabin"/>
              </a:rPr>
              <a:t>Passes Gazebo world name, target 3D coordinates (X, Y, Z)</a:t>
            </a:r>
            <a:endParaRPr b="0" i="0" sz="1200" u="none" cap="none" strike="noStrike">
              <a:solidFill>
                <a:schemeClr val="dk1"/>
              </a:solidFill>
              <a:latin typeface="Calibri"/>
              <a:ea typeface="Calibri"/>
              <a:cs typeface="Calibri"/>
              <a:sym typeface="Calibri"/>
            </a:endParaRPr>
          </a:p>
          <a:p>
            <a:pPr indent="-243840" lvl="0" marL="243840" marR="0" rtl="0" algn="l">
              <a:lnSpc>
                <a:spcPct val="119000"/>
              </a:lnSpc>
              <a:spcBef>
                <a:spcPts val="0"/>
              </a:spcBef>
              <a:spcAft>
                <a:spcPts val="0"/>
              </a:spcAft>
              <a:buClr>
                <a:srgbClr val="CAD6DE"/>
              </a:buClr>
              <a:buSzPts val="1200"/>
              <a:buFont typeface="Calibri"/>
              <a:buChar char="●"/>
            </a:pPr>
            <a:r>
              <a:rPr b="0" i="0" lang="en-US" sz="1200" u="none" cap="none" strike="noStrike">
                <a:solidFill>
                  <a:srgbClr val="CAD6DE"/>
                </a:solidFill>
                <a:latin typeface="Cabin"/>
                <a:ea typeface="Cabin"/>
                <a:cs typeface="Cabin"/>
                <a:sym typeface="Cabin"/>
              </a:rPr>
              <a:t>Passes drone name and generated SDF file path</a:t>
            </a:r>
            <a:endParaRPr b="0" i="0" sz="1200" u="none" cap="none" strike="noStrike">
              <a:solidFill>
                <a:schemeClr val="dk1"/>
              </a:solidFill>
              <a:latin typeface="Calibri"/>
              <a:ea typeface="Calibri"/>
              <a:cs typeface="Calibri"/>
              <a:sym typeface="Calibri"/>
            </a:endParaRPr>
          </a:p>
          <a:p>
            <a:pPr indent="-243840" lvl="0" marL="243840" marR="0" rtl="0" algn="l">
              <a:lnSpc>
                <a:spcPct val="119000"/>
              </a:lnSpc>
              <a:spcBef>
                <a:spcPts val="0"/>
              </a:spcBef>
              <a:spcAft>
                <a:spcPts val="0"/>
              </a:spcAft>
              <a:buClr>
                <a:srgbClr val="CAD6DE"/>
              </a:buClr>
              <a:buSzPts val="1200"/>
              <a:buFont typeface="Calibri"/>
              <a:buChar char="●"/>
            </a:pPr>
            <a:r>
              <a:rPr b="0" i="0" lang="en-US" sz="1200" u="none" cap="none" strike="noStrike">
                <a:solidFill>
                  <a:srgbClr val="CAD6DE"/>
                </a:solidFill>
                <a:latin typeface="Cabin"/>
                <a:ea typeface="Cabin"/>
                <a:cs typeface="Cabin"/>
                <a:sym typeface="Cabin"/>
              </a:rPr>
              <a:t>Network command instructs Gazebo simulator engine</a:t>
            </a:r>
            <a:endParaRPr b="0" i="0" sz="1200" u="none" cap="none" strike="noStrike">
              <a:solidFill>
                <a:schemeClr val="dk1"/>
              </a:solidFill>
              <a:latin typeface="Calibri"/>
              <a:ea typeface="Calibri"/>
              <a:cs typeface="Calibri"/>
              <a:sym typeface="Calibri"/>
            </a:endParaRPr>
          </a:p>
          <a:p>
            <a:pPr indent="-243840" lvl="0" marL="243840" marR="0" rtl="0" algn="l">
              <a:lnSpc>
                <a:spcPct val="119000"/>
              </a:lnSpc>
              <a:spcBef>
                <a:spcPts val="0"/>
              </a:spcBef>
              <a:spcAft>
                <a:spcPts val="0"/>
              </a:spcAft>
              <a:buClr>
                <a:srgbClr val="CAD6DE"/>
              </a:buClr>
              <a:buSzPts val="1200"/>
              <a:buFont typeface="Calibri"/>
              <a:buChar char="●"/>
            </a:pPr>
            <a:r>
              <a:rPr b="0" i="0" lang="en-US" sz="1200" u="none" cap="none" strike="noStrike">
                <a:solidFill>
                  <a:srgbClr val="CAD6DE"/>
                </a:solidFill>
                <a:latin typeface="Cabin"/>
                <a:ea typeface="Cabin"/>
                <a:cs typeface="Cabin"/>
                <a:sym typeface="Cabin"/>
              </a:rPr>
              <a:t>Gazebo instantiates 3D drone mesh inside active world</a:t>
            </a:r>
            <a:endParaRPr b="0" i="0" sz="1200" u="none" cap="none" strike="noStrike">
              <a:solidFill>
                <a:schemeClr val="dk1"/>
              </a:solidFill>
              <a:latin typeface="Calibri"/>
              <a:ea typeface="Calibri"/>
              <a:cs typeface="Calibri"/>
              <a:sym typeface="Calibri"/>
            </a:endParaRPr>
          </a:p>
        </p:txBody>
      </p:sp>
      <p:sp>
        <p:nvSpPr>
          <p:cNvPr id="709" name="Google Shape;709;p55"/>
          <p:cNvSpPr/>
          <p:nvPr/>
        </p:nvSpPr>
        <p:spPr>
          <a:xfrm>
            <a:off x="698086" y="5030490"/>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55"/>
          <p:cNvSpPr/>
          <p:nvPr/>
        </p:nvSpPr>
        <p:spPr>
          <a:xfrm>
            <a:off x="698086" y="5274270"/>
            <a:ext cx="10795524" cy="2771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00"/>
              <a:buFont typeface="Unbounded"/>
              <a:buNone/>
            </a:pPr>
            <a:r>
              <a:rPr b="0" i="0" lang="en-US" sz="1700" u="none" cap="none" strike="noStrike">
                <a:solidFill>
                  <a:srgbClr val="FFFFFF"/>
                </a:solidFill>
                <a:latin typeface="Unbounded"/>
                <a:ea typeface="Unbounded"/>
                <a:cs typeface="Unbounded"/>
                <a:sym typeface="Unbounded"/>
              </a:rPr>
              <a:t>Files &amp; Technology:</a:t>
            </a:r>
            <a:endParaRPr b="0" i="0" sz="1700" u="none" cap="none" strike="noStrike">
              <a:solidFill>
                <a:schemeClr val="dk1"/>
              </a:solidFill>
              <a:latin typeface="Calibri"/>
              <a:ea typeface="Calibri"/>
              <a:cs typeface="Calibri"/>
              <a:sym typeface="Calibri"/>
            </a:endParaRPr>
          </a:p>
        </p:txBody>
      </p:sp>
      <p:sp>
        <p:nvSpPr>
          <p:cNvPr id="711" name="Google Shape;711;p55"/>
          <p:cNvSpPr/>
          <p:nvPr/>
        </p:nvSpPr>
        <p:spPr>
          <a:xfrm>
            <a:off x="698086" y="5736927"/>
            <a:ext cx="10795524" cy="498673"/>
          </a:xfrm>
          <a:prstGeom prst="rect">
            <a:avLst/>
          </a:prstGeom>
          <a:noFill/>
          <a:ln>
            <a:noFill/>
          </a:ln>
        </p:spPr>
        <p:txBody>
          <a:bodyPr anchorCtr="0" anchor="t" bIns="0" lIns="0" spcFirstLastPara="1" rIns="0" wrap="square" tIns="62825">
            <a:noAutofit/>
          </a:bodyPr>
          <a:lstStyle/>
          <a:p>
            <a:pPr indent="-243840" lvl="0" marL="243840" marR="0" rtl="0" algn="l">
              <a:lnSpc>
                <a:spcPct val="119000"/>
              </a:lnSpc>
              <a:spcBef>
                <a:spcPts val="0"/>
              </a:spcBef>
              <a:spcAft>
                <a:spcPts val="0"/>
              </a:spcAft>
              <a:buClr>
                <a:srgbClr val="CAD6DE"/>
              </a:buClr>
              <a:buSzPts val="1200"/>
              <a:buFont typeface="Consolas"/>
              <a:buChar char="•"/>
            </a:pPr>
            <a:r>
              <a:rPr b="0" i="0" lang="en-US" sz="1200" u="none" cap="none" strike="noStrike">
                <a:solidFill>
                  <a:srgbClr val="CAD6DE"/>
                </a:solidFill>
                <a:highlight>
                  <a:srgbClr val="1E3543"/>
                </a:highlight>
                <a:latin typeface="Consolas"/>
                <a:ea typeface="Consolas"/>
                <a:cs typeface="Consolas"/>
                <a:sym typeface="Consolas"/>
              </a:rPr>
              <a:t>main.rs</a:t>
            </a:r>
            <a:endParaRPr b="0" i="0" sz="1200" u="none" cap="none" strike="noStrike">
              <a:solidFill>
                <a:schemeClr val="dk1"/>
              </a:solidFill>
              <a:latin typeface="Calibri"/>
              <a:ea typeface="Calibri"/>
              <a:cs typeface="Calibri"/>
              <a:sym typeface="Calibri"/>
            </a:endParaRPr>
          </a:p>
          <a:p>
            <a:pPr indent="-243840" lvl="0" marL="243840" marR="0" rtl="0" algn="l">
              <a:lnSpc>
                <a:spcPct val="119000"/>
              </a:lnSpc>
              <a:spcBef>
                <a:spcPts val="0"/>
              </a:spcBef>
              <a:spcAft>
                <a:spcPts val="0"/>
              </a:spcAft>
              <a:buClr>
                <a:srgbClr val="CAD6DE"/>
              </a:buClr>
              <a:buSzPts val="1200"/>
              <a:buFont typeface="Cabin"/>
              <a:buChar char="•"/>
            </a:pPr>
            <a:r>
              <a:rPr b="0" i="0" lang="en-US" sz="1200" u="none" cap="none" strike="noStrike">
                <a:solidFill>
                  <a:srgbClr val="CAD6DE"/>
                </a:solidFill>
                <a:latin typeface="Cabin"/>
                <a:ea typeface="Cabin"/>
                <a:cs typeface="Cabin"/>
                <a:sym typeface="Cabin"/>
              </a:rPr>
              <a:t>ros_gz_sim (ROS 2 - Gazebo Harmonic Bridge), Gazebo Sim Service Client</a:t>
            </a:r>
            <a:endParaRPr b="0" i="0" sz="1200" u="none" cap="none" strike="noStrike">
              <a:solidFill>
                <a:schemeClr val="dk1"/>
              </a:solidFill>
              <a:latin typeface="Calibri"/>
              <a:ea typeface="Calibri"/>
              <a:cs typeface="Calibri"/>
              <a:sym typeface="Calibri"/>
            </a:endParaRPr>
          </a:p>
        </p:txBody>
      </p:sp>
      <p:pic>
        <p:nvPicPr>
          <p:cNvPr id="712" name="Google Shape;712;p55"/>
          <p:cNvPicPr preferRelativeResize="0"/>
          <p:nvPr/>
        </p:nvPicPr>
        <p:blipFill>
          <a:blip r:embed="rId3">
            <a:alphaModFix/>
          </a:blip>
          <a:stretch>
            <a:fillRect/>
          </a:stretch>
        </p:blipFill>
        <p:spPr>
          <a:xfrm>
            <a:off x="735900" y="1669649"/>
            <a:ext cx="4463302" cy="31637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56"/>
          <p:cNvSpPr/>
          <p:nvPr/>
        </p:nvSpPr>
        <p:spPr>
          <a:xfrm>
            <a:off x="698086" y="548580"/>
            <a:ext cx="10795524" cy="11733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Step 6.1: Formally Verified FSM Update &amp; Telemetry Stream Activation</a:t>
            </a:r>
            <a:endParaRPr b="0" i="0" sz="3650" u="none" cap="none" strike="noStrike">
              <a:solidFill>
                <a:schemeClr val="dk1"/>
              </a:solidFill>
              <a:latin typeface="Calibri"/>
              <a:ea typeface="Calibri"/>
              <a:cs typeface="Calibri"/>
              <a:sym typeface="Calibri"/>
            </a:endParaRPr>
          </a:p>
        </p:txBody>
      </p:sp>
      <p:sp>
        <p:nvSpPr>
          <p:cNvPr id="719" name="Google Shape;719;p56"/>
          <p:cNvSpPr/>
          <p:nvPr/>
        </p:nvSpPr>
        <p:spPr>
          <a:xfrm>
            <a:off x="7812091" y="2200573"/>
            <a:ext cx="4297354" cy="39885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950"/>
              <a:buFont typeface="Cabin"/>
              <a:buNone/>
            </a:pPr>
            <a:r>
              <a:rPr b="0" i="0" lang="en-US" sz="1950" u="none" cap="none" strike="noStrike">
                <a:solidFill>
                  <a:srgbClr val="CAD6DE"/>
                </a:solidFill>
                <a:latin typeface="Cabin"/>
                <a:ea typeface="Cabin"/>
                <a:cs typeface="Cabin"/>
                <a:sym typeface="Cabin"/>
              </a:rPr>
              <a:t>Steps:</a:t>
            </a:r>
            <a:endParaRPr b="0" i="0" sz="1950" u="none" cap="none" strike="noStrike">
              <a:solidFill>
                <a:schemeClr val="dk1"/>
              </a:solidFill>
              <a:latin typeface="Calibri"/>
              <a:ea typeface="Calibri"/>
              <a:cs typeface="Calibri"/>
              <a:sym typeface="Calibri"/>
            </a:endParaRPr>
          </a:p>
        </p:txBody>
      </p:sp>
      <p:sp>
        <p:nvSpPr>
          <p:cNvPr id="720" name="Google Shape;720;p56"/>
          <p:cNvSpPr/>
          <p:nvPr/>
        </p:nvSpPr>
        <p:spPr>
          <a:xfrm>
            <a:off x="7812101" y="2599425"/>
            <a:ext cx="4166400" cy="3274200"/>
          </a:xfrm>
          <a:prstGeom prst="rect">
            <a:avLst/>
          </a:prstGeom>
          <a:noFill/>
          <a:ln>
            <a:noFill/>
          </a:ln>
        </p:spPr>
        <p:txBody>
          <a:bodyPr anchorCtr="0" anchor="t" bIns="0" lIns="0" spcFirstLastPara="1" rIns="0" wrap="square" tIns="79775">
            <a:noAutofit/>
          </a:bodyPr>
          <a:lstStyle/>
          <a:p>
            <a:pPr indent="-327025" lvl="0" marL="457200" marR="0" rtl="0" algn="l">
              <a:lnSpc>
                <a:spcPct val="133000"/>
              </a:lnSpc>
              <a:spcBef>
                <a:spcPts val="0"/>
              </a:spcBef>
              <a:spcAft>
                <a:spcPts val="0"/>
              </a:spcAft>
              <a:buClr>
                <a:srgbClr val="CAD6DE"/>
              </a:buClr>
              <a:buSzPts val="1550"/>
              <a:buChar char="●"/>
            </a:pPr>
            <a:r>
              <a:rPr b="0" i="0" lang="en-US" sz="1550" u="none" cap="none" strike="noStrike">
                <a:solidFill>
                  <a:srgbClr val="CAD6DE"/>
                </a:solidFill>
                <a:latin typeface="Cabin"/>
                <a:ea typeface="Cabin"/>
                <a:cs typeface="Cabin"/>
                <a:sym typeface="Cabin"/>
              </a:rPr>
              <a:t>If spawn call has success the Coordinator locks the shared state and triggers the Kani-verified state transition function moving the drone state from </a:t>
            </a:r>
            <a:r>
              <a:rPr b="0" i="0" lang="en-US" sz="1550" u="none" cap="none" strike="noStrike">
                <a:solidFill>
                  <a:srgbClr val="CAD6DE"/>
                </a:solidFill>
                <a:highlight>
                  <a:srgbClr val="1E3543"/>
                </a:highlight>
                <a:latin typeface="Consolas"/>
                <a:ea typeface="Consolas"/>
                <a:cs typeface="Consolas"/>
                <a:sym typeface="Consolas"/>
              </a:rPr>
              <a:t>Unregistered</a:t>
            </a:r>
            <a:r>
              <a:rPr b="0" i="0" lang="en-US" sz="1550" u="none" cap="none" strike="noStrike">
                <a:solidFill>
                  <a:srgbClr val="CAD6DE"/>
                </a:solidFill>
                <a:latin typeface="Cabin"/>
                <a:ea typeface="Cabin"/>
                <a:cs typeface="Cabin"/>
                <a:sym typeface="Cabin"/>
              </a:rPr>
              <a:t> to </a:t>
            </a:r>
            <a:r>
              <a:rPr b="0" i="0" lang="en-US" sz="1550" u="none" cap="none" strike="noStrike">
                <a:solidFill>
                  <a:srgbClr val="CAD6DE"/>
                </a:solidFill>
                <a:highlight>
                  <a:srgbClr val="1E3543"/>
                </a:highlight>
                <a:latin typeface="Consolas"/>
                <a:ea typeface="Consolas"/>
                <a:cs typeface="Consolas"/>
                <a:sym typeface="Consolas"/>
              </a:rPr>
              <a:t>Active</a:t>
            </a:r>
            <a:r>
              <a:rPr b="0" i="0" lang="en-US" sz="1550" u="none" cap="none" strike="noStrike">
                <a:solidFill>
                  <a:srgbClr val="CAD6DE"/>
                </a:solidFill>
                <a:latin typeface="Cabin"/>
                <a:ea typeface="Cabin"/>
                <a:cs typeface="Cabin"/>
                <a:sym typeface="Cabin"/>
              </a:rPr>
              <a:t>.</a:t>
            </a:r>
            <a:endParaRPr b="0" i="0" sz="1550" u="none" cap="none" strike="noStrike">
              <a:solidFill>
                <a:schemeClr val="dk1"/>
              </a:solidFill>
              <a:latin typeface="Calibri"/>
              <a:ea typeface="Calibri"/>
              <a:cs typeface="Calibri"/>
              <a:sym typeface="Calibri"/>
            </a:endParaRPr>
          </a:p>
          <a:p>
            <a:pPr indent="-327025" lvl="0" marL="457200" marR="0" rtl="0" algn="l">
              <a:lnSpc>
                <a:spcPct val="133000"/>
              </a:lnSpc>
              <a:spcBef>
                <a:spcPts val="0"/>
              </a:spcBef>
              <a:spcAft>
                <a:spcPts val="0"/>
              </a:spcAft>
              <a:buClr>
                <a:srgbClr val="CAD6DE"/>
              </a:buClr>
              <a:buSzPts val="1550"/>
              <a:buChar char="●"/>
            </a:pPr>
            <a:r>
              <a:rPr b="0" i="0" lang="en-US" sz="1550" u="none" cap="none" strike="noStrike">
                <a:solidFill>
                  <a:srgbClr val="CAD6DE"/>
                </a:solidFill>
                <a:latin typeface="Cabin"/>
                <a:ea typeface="Cabin"/>
                <a:cs typeface="Cabin"/>
                <a:sym typeface="Cabin"/>
              </a:rPr>
              <a:t>At this point, the drone physically appears in Gazebo, the </a:t>
            </a:r>
            <a:r>
              <a:rPr b="0" i="0" lang="en-US" sz="1550" u="none" cap="none" strike="noStrike">
                <a:solidFill>
                  <a:srgbClr val="CAD6DE"/>
                </a:solidFill>
                <a:highlight>
                  <a:srgbClr val="1E3543"/>
                </a:highlight>
                <a:latin typeface="Consolas"/>
                <a:ea typeface="Consolas"/>
                <a:cs typeface="Consolas"/>
                <a:sym typeface="Consolas"/>
              </a:rPr>
              <a:t>ros_gz_bridge</a:t>
            </a:r>
            <a:r>
              <a:rPr b="0" i="0" lang="en-US" sz="1550" u="none" cap="none" strike="noStrike">
                <a:solidFill>
                  <a:srgbClr val="CAD6DE"/>
                </a:solidFill>
                <a:latin typeface="Cabin"/>
                <a:ea typeface="Cabin"/>
                <a:cs typeface="Cabin"/>
                <a:sym typeface="Cabin"/>
              </a:rPr>
              <a:t> begins publishing ground-truth odometry, and the Python agent takes control of flight navigation.</a:t>
            </a:r>
            <a:endParaRPr b="0" i="0" sz="1550" u="none" cap="none" strike="noStrike">
              <a:solidFill>
                <a:schemeClr val="dk1"/>
              </a:solidFill>
              <a:latin typeface="Calibri"/>
              <a:ea typeface="Calibri"/>
              <a:cs typeface="Calibri"/>
              <a:sym typeface="Calibri"/>
            </a:endParaRPr>
          </a:p>
        </p:txBody>
      </p:sp>
      <p:pic>
        <p:nvPicPr>
          <p:cNvPr id="721" name="Google Shape;721;p56"/>
          <p:cNvPicPr preferRelativeResize="0"/>
          <p:nvPr/>
        </p:nvPicPr>
        <p:blipFill>
          <a:blip r:embed="rId3">
            <a:alphaModFix/>
          </a:blip>
          <a:stretch>
            <a:fillRect/>
          </a:stretch>
        </p:blipFill>
        <p:spPr>
          <a:xfrm>
            <a:off x="358300" y="2303401"/>
            <a:ext cx="7171725" cy="31112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57"/>
          <p:cNvSpPr/>
          <p:nvPr/>
        </p:nvSpPr>
        <p:spPr>
          <a:xfrm>
            <a:off x="698086" y="548580"/>
            <a:ext cx="10795524" cy="498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100"/>
              <a:buFont typeface="Unbounded"/>
              <a:buNone/>
            </a:pPr>
            <a:r>
              <a:rPr b="0" i="0" lang="en-US" sz="3100" u="none" cap="none" strike="noStrike">
                <a:solidFill>
                  <a:srgbClr val="FFFFFF"/>
                </a:solidFill>
                <a:latin typeface="Unbounded"/>
                <a:ea typeface="Unbounded"/>
                <a:cs typeface="Unbounded"/>
                <a:sym typeface="Unbounded"/>
              </a:rPr>
              <a:t>Step 6.2: Candidate drones</a:t>
            </a:r>
            <a:endParaRPr b="0" i="0" sz="3100" u="none" cap="none" strike="noStrike">
              <a:solidFill>
                <a:schemeClr val="dk1"/>
              </a:solidFill>
              <a:latin typeface="Calibri"/>
              <a:ea typeface="Calibri"/>
              <a:cs typeface="Calibri"/>
              <a:sym typeface="Calibri"/>
            </a:endParaRPr>
          </a:p>
        </p:txBody>
      </p:sp>
      <p:sp>
        <p:nvSpPr>
          <p:cNvPr id="728" name="Google Shape;728;p57"/>
          <p:cNvSpPr/>
          <p:nvPr/>
        </p:nvSpPr>
        <p:spPr>
          <a:xfrm>
            <a:off x="7766054" y="1393031"/>
            <a:ext cx="4343391" cy="31363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650"/>
              <a:buFont typeface="Cabin"/>
              <a:buNone/>
            </a:pPr>
            <a:r>
              <a:rPr b="1" i="0" lang="en-US" sz="1650" u="none" cap="none" strike="noStrike">
                <a:solidFill>
                  <a:srgbClr val="CAD6DE"/>
                </a:solidFill>
                <a:latin typeface="Cabin"/>
                <a:ea typeface="Cabin"/>
                <a:cs typeface="Cabin"/>
                <a:sym typeface="Cabin"/>
              </a:rPr>
              <a:t>Steps:</a:t>
            </a:r>
            <a:endParaRPr b="0" i="0" sz="1650" u="none" cap="none" strike="noStrike">
              <a:solidFill>
                <a:schemeClr val="dk1"/>
              </a:solidFill>
              <a:latin typeface="Calibri"/>
              <a:ea typeface="Calibri"/>
              <a:cs typeface="Calibri"/>
              <a:sym typeface="Calibri"/>
            </a:endParaRPr>
          </a:p>
        </p:txBody>
      </p:sp>
      <p:sp>
        <p:nvSpPr>
          <p:cNvPr id="729" name="Google Shape;729;p57"/>
          <p:cNvSpPr/>
          <p:nvPr/>
        </p:nvSpPr>
        <p:spPr>
          <a:xfrm>
            <a:off x="7766050" y="1836350"/>
            <a:ext cx="4096800" cy="2327700"/>
          </a:xfrm>
          <a:prstGeom prst="rect">
            <a:avLst/>
          </a:prstGeom>
          <a:noFill/>
          <a:ln>
            <a:noFill/>
          </a:ln>
        </p:spPr>
        <p:txBody>
          <a:bodyPr anchorCtr="0" anchor="t" bIns="0" lIns="0" spcFirstLastPara="1" rIns="0" wrap="square" tIns="67800">
            <a:noAutofit/>
          </a:bodyPr>
          <a:lstStyle/>
          <a:p>
            <a:pPr indent="-311150" lvl="0" marL="45720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Once all drones are spawned, at the very beginning there are no active leaders.</a:t>
            </a:r>
            <a:endParaRPr b="0" i="0" sz="1300" u="none" cap="none" strike="noStrike">
              <a:solidFill>
                <a:schemeClr val="dk1"/>
              </a:solidFill>
              <a:latin typeface="Calibri"/>
              <a:ea typeface="Calibri"/>
              <a:cs typeface="Calibri"/>
              <a:sym typeface="Calibri"/>
            </a:endParaRPr>
          </a:p>
          <a:p>
            <a:pPr indent="-311150" lvl="0" marL="457200" marR="0" rtl="0" algn="l">
              <a:lnSpc>
                <a:spcPct val="123000"/>
              </a:lnSpc>
              <a:spcBef>
                <a:spcPts val="0"/>
              </a:spcBef>
              <a:spcAft>
                <a:spcPts val="0"/>
              </a:spcAft>
              <a:buClr>
                <a:srgbClr val="CAD6DE"/>
              </a:buClr>
              <a:buSzPts val="1300"/>
              <a:buChar char="●"/>
            </a:pPr>
            <a:r>
              <a:rPr lang="en-US" sz="1300">
                <a:solidFill>
                  <a:srgbClr val="CAD6DE"/>
                </a:solidFill>
                <a:latin typeface="Cabin"/>
                <a:ea typeface="Cabin"/>
                <a:cs typeface="Cabin"/>
                <a:sym typeface="Cabin"/>
              </a:rPr>
              <a:t>T</a:t>
            </a:r>
            <a:r>
              <a:rPr b="0" i="0" lang="en-US" sz="1300" u="none" cap="none" strike="noStrike">
                <a:solidFill>
                  <a:srgbClr val="CAD6DE"/>
                </a:solidFill>
                <a:latin typeface="Cabin"/>
                <a:ea typeface="Cabin"/>
                <a:cs typeface="Cabin"/>
                <a:sym typeface="Cabin"/>
              </a:rPr>
              <a:t>he Rust Coordinator applies </a:t>
            </a:r>
            <a:r>
              <a:rPr b="1" i="0" lang="en-US" sz="1300" u="none" cap="none" strike="noStrike">
                <a:solidFill>
                  <a:srgbClr val="CAD6DE"/>
                </a:solidFill>
                <a:latin typeface="Cabin"/>
                <a:ea typeface="Cabin"/>
                <a:cs typeface="Cabin"/>
                <a:sym typeface="Cabin"/>
              </a:rPr>
              <a:t>FSM Event 1 (</a:t>
            </a:r>
            <a:r>
              <a:rPr b="0" i="0" lang="en-US" sz="1300" u="none" cap="none" strike="noStrike">
                <a:solidFill>
                  <a:srgbClr val="CAD6DE"/>
                </a:solidFill>
                <a:highlight>
                  <a:srgbClr val="1E3543"/>
                </a:highlight>
                <a:latin typeface="Consolas"/>
                <a:ea typeface="Consolas"/>
                <a:cs typeface="Consolas"/>
                <a:sym typeface="Consolas"/>
              </a:rPr>
              <a:t>RegistrationSuccess</a:t>
            </a:r>
            <a:r>
              <a:rPr b="1" i="0" lang="en-US" sz="1300" u="none" cap="none" strike="noStrike">
                <a:solidFill>
                  <a:srgbClr val="CAD6DE"/>
                </a:solidFill>
                <a:latin typeface="Cabin"/>
                <a:ea typeface="Cabin"/>
                <a:cs typeface="Cabin"/>
                <a:sym typeface="Cabin"/>
              </a:rPr>
              <a:t>)</a:t>
            </a:r>
            <a:r>
              <a:rPr b="0" i="0" lang="en-US" sz="1300" u="none" cap="none" strike="noStrike">
                <a:solidFill>
                  <a:srgbClr val="CAD6DE"/>
                </a:solidFill>
                <a:latin typeface="Cabin"/>
                <a:ea typeface="Cabin"/>
                <a:cs typeface="Cabin"/>
                <a:sym typeface="Cabin"/>
              </a:rPr>
              <a:t>. Since no active leader exists yet (</a:t>
            </a:r>
            <a:r>
              <a:rPr b="0" i="0" lang="en-US" sz="1300" u="none" cap="none" strike="noStrike">
                <a:solidFill>
                  <a:srgbClr val="CAD6DE"/>
                </a:solidFill>
                <a:highlight>
                  <a:srgbClr val="1E3543"/>
                </a:highlight>
                <a:latin typeface="Consolas"/>
                <a:ea typeface="Consolas"/>
                <a:cs typeface="Consolas"/>
                <a:sym typeface="Consolas"/>
              </a:rPr>
              <a:t>has_active_leader == false</a:t>
            </a:r>
            <a:r>
              <a:rPr b="0" i="0" lang="en-US" sz="1300" u="none" cap="none" strike="noStrike">
                <a:solidFill>
                  <a:srgbClr val="CAD6DE"/>
                </a:solidFill>
                <a:latin typeface="Cabin"/>
                <a:ea typeface="Cabin"/>
                <a:cs typeface="Cabin"/>
                <a:sym typeface="Cabin"/>
              </a:rPr>
              <a:t>), each registering drone transitions from </a:t>
            </a:r>
            <a:r>
              <a:rPr b="0" i="0" lang="en-US" sz="1300" u="none" cap="none" strike="noStrike">
                <a:solidFill>
                  <a:srgbClr val="CAD6DE"/>
                </a:solidFill>
                <a:highlight>
                  <a:srgbClr val="1E3543"/>
                </a:highlight>
                <a:latin typeface="Consolas"/>
                <a:ea typeface="Consolas"/>
                <a:cs typeface="Consolas"/>
                <a:sym typeface="Consolas"/>
              </a:rPr>
              <a:t>(Unregistered, None)</a:t>
            </a:r>
            <a:r>
              <a:rPr b="0" i="0" lang="en-US" sz="1300" u="none" cap="none" strike="noStrike">
                <a:solidFill>
                  <a:srgbClr val="CAD6DE"/>
                </a:solidFill>
                <a:latin typeface="Cabin"/>
                <a:ea typeface="Cabin"/>
                <a:cs typeface="Cabin"/>
                <a:sym typeface="Cabin"/>
              </a:rPr>
              <a:t> to </a:t>
            </a:r>
            <a:r>
              <a:rPr b="0" i="0" lang="en-US" sz="1300" u="none" cap="none" strike="noStrike">
                <a:solidFill>
                  <a:srgbClr val="CAD6DE"/>
                </a:solidFill>
                <a:highlight>
                  <a:srgbClr val="1E3543"/>
                </a:highlight>
                <a:latin typeface="Consolas"/>
                <a:ea typeface="Consolas"/>
                <a:cs typeface="Consolas"/>
                <a:sym typeface="Consolas"/>
              </a:rPr>
              <a:t>(Active, Candidate)</a:t>
            </a:r>
            <a:r>
              <a:rPr b="0" i="0" lang="en-US" sz="1300" u="none" cap="none" strike="noStrike">
                <a:solidFill>
                  <a:srgbClr val="CAD6DE"/>
                </a:solidFill>
                <a:latin typeface="Cabin"/>
                <a:ea typeface="Cabin"/>
                <a:cs typeface="Cabin"/>
                <a:sym typeface="Cabin"/>
              </a:rPr>
              <a:t>, making them eligible participants for the upcoming election.</a:t>
            </a:r>
            <a:endParaRPr b="0" i="0" sz="1300" u="none" cap="none" strike="noStrike">
              <a:solidFill>
                <a:schemeClr val="dk1"/>
              </a:solidFill>
              <a:latin typeface="Calibri"/>
              <a:ea typeface="Calibri"/>
              <a:cs typeface="Calibri"/>
              <a:sym typeface="Calibri"/>
            </a:endParaRPr>
          </a:p>
        </p:txBody>
      </p:sp>
      <p:sp>
        <p:nvSpPr>
          <p:cNvPr id="730" name="Google Shape;730;p57"/>
          <p:cNvSpPr/>
          <p:nvPr/>
        </p:nvSpPr>
        <p:spPr>
          <a:xfrm>
            <a:off x="698086" y="4419005"/>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57"/>
          <p:cNvSpPr/>
          <p:nvPr/>
        </p:nvSpPr>
        <p:spPr>
          <a:xfrm>
            <a:off x="698086" y="4696520"/>
            <a:ext cx="10795524" cy="2992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50"/>
              <a:buFont typeface="Unbounded"/>
              <a:buNone/>
            </a:pPr>
            <a:r>
              <a:rPr b="0" i="0" lang="en-US" sz="1850" u="none" cap="none" strike="noStrike">
                <a:solidFill>
                  <a:srgbClr val="FFFFFF"/>
                </a:solidFill>
                <a:latin typeface="Unbounded"/>
                <a:ea typeface="Unbounded"/>
                <a:cs typeface="Unbounded"/>
                <a:sym typeface="Unbounded"/>
              </a:rPr>
              <a:t>Files &amp; Technology:</a:t>
            </a:r>
            <a:endParaRPr b="0" i="0" sz="1850" u="none" cap="none" strike="noStrike">
              <a:solidFill>
                <a:schemeClr val="dk1"/>
              </a:solidFill>
              <a:latin typeface="Calibri"/>
              <a:ea typeface="Calibri"/>
              <a:cs typeface="Calibri"/>
              <a:sym typeface="Calibri"/>
            </a:endParaRPr>
          </a:p>
        </p:txBody>
      </p:sp>
      <p:sp>
        <p:nvSpPr>
          <p:cNvPr id="732" name="Google Shape;732;p57"/>
          <p:cNvSpPr/>
          <p:nvPr/>
        </p:nvSpPr>
        <p:spPr>
          <a:xfrm>
            <a:off x="698086" y="5211862"/>
            <a:ext cx="10795524" cy="558602"/>
          </a:xfrm>
          <a:prstGeom prst="rect">
            <a:avLst/>
          </a:prstGeom>
          <a:noFill/>
          <a:ln>
            <a:noFill/>
          </a:ln>
        </p:spPr>
        <p:txBody>
          <a:bodyPr anchorCtr="0" anchor="t" bIns="0" lIns="0" spcFirstLastPara="1" rIns="0" wrap="square" tIns="67800">
            <a:noAutofit/>
          </a:bodyPr>
          <a:lstStyle/>
          <a:p>
            <a:pPr indent="-264160" lvl="0" marL="264160" marR="0" rtl="0" algn="l">
              <a:lnSpc>
                <a:spcPct val="123000"/>
              </a:lnSpc>
              <a:spcBef>
                <a:spcPts val="0"/>
              </a:spcBef>
              <a:spcAft>
                <a:spcPts val="0"/>
              </a:spcAft>
              <a:buClr>
                <a:srgbClr val="CAD6DE"/>
              </a:buClr>
              <a:buSzPts val="1300"/>
              <a:buFont typeface="Consolas"/>
              <a:buChar char="•"/>
            </a:pPr>
            <a:r>
              <a:rPr b="0" i="0" lang="en-US" sz="1300" u="none" cap="none" strike="noStrike">
                <a:solidFill>
                  <a:srgbClr val="CAD6DE"/>
                </a:solidFill>
                <a:highlight>
                  <a:srgbClr val="1E3543"/>
                </a:highlight>
                <a:latin typeface="Consolas"/>
                <a:ea typeface="Consolas"/>
                <a:cs typeface="Consolas"/>
                <a:sym typeface="Consolas"/>
              </a:rPr>
              <a:t>main.rs</a:t>
            </a:r>
            <a:r>
              <a:rPr b="0" i="0" lang="en-US" sz="1300" u="none" cap="none" strike="noStrike">
                <a:solidFill>
                  <a:srgbClr val="CAD6DE"/>
                </a:solidFill>
                <a:latin typeface="Cabin"/>
                <a:ea typeface="Cabin"/>
                <a:cs typeface="Cabin"/>
                <a:sym typeface="Cabin"/>
              </a:rPr>
              <a:t> &amp; </a:t>
            </a:r>
            <a:r>
              <a:rPr b="0" i="0" lang="en-US" sz="1300" u="none" cap="none" strike="noStrike">
                <a:solidFill>
                  <a:srgbClr val="CAD6DE"/>
                </a:solidFill>
                <a:highlight>
                  <a:srgbClr val="1E3543"/>
                </a:highlight>
                <a:latin typeface="Consolas"/>
                <a:ea typeface="Consolas"/>
                <a:cs typeface="Consolas"/>
                <a:sym typeface="Consolas"/>
              </a:rPr>
              <a:t>lib.rs</a:t>
            </a:r>
            <a:r>
              <a:rPr b="0" i="0" lang="en-US" sz="1300" u="none" cap="none" strike="noStrike">
                <a:solidFill>
                  <a:srgbClr val="CAD6DE"/>
                </a:solidFill>
                <a:latin typeface="Cabin"/>
                <a:ea typeface="Cabin"/>
                <a:cs typeface="Cabin"/>
                <a:sym typeface="Cabin"/>
              </a:rPr>
              <a:t> (Kani_verify)</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Kani Formal Verification Engine, Rust State Machine (transition)</a:t>
            </a:r>
            <a:endParaRPr b="0" i="0" sz="1300" u="none" cap="none" strike="noStrike">
              <a:solidFill>
                <a:schemeClr val="dk1"/>
              </a:solidFill>
              <a:latin typeface="Calibri"/>
              <a:ea typeface="Calibri"/>
              <a:cs typeface="Calibri"/>
              <a:sym typeface="Calibri"/>
            </a:endParaRPr>
          </a:p>
        </p:txBody>
      </p:sp>
      <p:pic>
        <p:nvPicPr>
          <p:cNvPr id="733" name="Google Shape;733;p57"/>
          <p:cNvPicPr preferRelativeResize="0"/>
          <p:nvPr/>
        </p:nvPicPr>
        <p:blipFill>
          <a:blip r:embed="rId3">
            <a:alphaModFix/>
          </a:blip>
          <a:stretch>
            <a:fillRect/>
          </a:stretch>
        </p:blipFill>
        <p:spPr>
          <a:xfrm>
            <a:off x="372725" y="1510273"/>
            <a:ext cx="7104689" cy="15094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58"/>
          <p:cNvSpPr/>
          <p:nvPr/>
        </p:nvSpPr>
        <p:spPr>
          <a:xfrm>
            <a:off x="698086" y="548580"/>
            <a:ext cx="10795524" cy="4400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750"/>
              <a:buFont typeface="Unbounded"/>
              <a:buNone/>
            </a:pPr>
            <a:r>
              <a:rPr b="0" i="0" lang="en-US" sz="2750" u="none" cap="none" strike="noStrike">
                <a:solidFill>
                  <a:srgbClr val="FFFFFF"/>
                </a:solidFill>
                <a:latin typeface="Unbounded"/>
                <a:ea typeface="Unbounded"/>
                <a:cs typeface="Unbounded"/>
                <a:sym typeface="Unbounded"/>
              </a:rPr>
              <a:t>Step 7: Leader election &amp; FSM role assignment</a:t>
            </a:r>
            <a:endParaRPr b="0" i="0" sz="2750" u="none" cap="none" strike="noStrike">
              <a:solidFill>
                <a:schemeClr val="dk1"/>
              </a:solidFill>
              <a:latin typeface="Calibri"/>
              <a:ea typeface="Calibri"/>
              <a:cs typeface="Calibri"/>
              <a:sym typeface="Calibri"/>
            </a:endParaRPr>
          </a:p>
        </p:txBody>
      </p:sp>
      <p:sp>
        <p:nvSpPr>
          <p:cNvPr id="740" name="Google Shape;740;p58"/>
          <p:cNvSpPr/>
          <p:nvPr/>
        </p:nvSpPr>
        <p:spPr>
          <a:xfrm>
            <a:off x="7735496" y="1257796"/>
            <a:ext cx="4373949" cy="26183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1" i="0" lang="en-US" sz="1450" u="none" cap="none" strike="noStrike">
                <a:solidFill>
                  <a:srgbClr val="CAD6DE"/>
                </a:solidFill>
                <a:latin typeface="Cabin"/>
                <a:ea typeface="Cabin"/>
                <a:cs typeface="Cabin"/>
                <a:sym typeface="Cabin"/>
              </a:rPr>
              <a:t>Steps:</a:t>
            </a:r>
            <a:endParaRPr b="0" i="0" sz="1450" u="none" cap="none" strike="noStrike">
              <a:solidFill>
                <a:schemeClr val="dk1"/>
              </a:solidFill>
              <a:latin typeface="Calibri"/>
              <a:ea typeface="Calibri"/>
              <a:cs typeface="Calibri"/>
              <a:sym typeface="Calibri"/>
            </a:endParaRPr>
          </a:p>
        </p:txBody>
      </p:sp>
      <p:sp>
        <p:nvSpPr>
          <p:cNvPr id="741" name="Google Shape;741;p58"/>
          <p:cNvSpPr/>
          <p:nvPr/>
        </p:nvSpPr>
        <p:spPr>
          <a:xfrm>
            <a:off x="7735500" y="1620550"/>
            <a:ext cx="3992700" cy="1792200"/>
          </a:xfrm>
          <a:prstGeom prst="rect">
            <a:avLst/>
          </a:prstGeom>
          <a:noFill/>
          <a:ln>
            <a:noFill/>
          </a:ln>
        </p:spPr>
        <p:txBody>
          <a:bodyPr anchorCtr="0" anchor="t" bIns="0" lIns="0" spcFirstLastPara="1" rIns="0" wrap="square" tIns="59825">
            <a:noAutofit/>
          </a:bodyPr>
          <a:lstStyle/>
          <a:p>
            <a:pPr indent="-307975" lvl="0" marL="457200" marR="0" rtl="0" algn="l">
              <a:lnSpc>
                <a:spcPct val="117000"/>
              </a:lnSpc>
              <a:spcBef>
                <a:spcPts val="0"/>
              </a:spcBef>
              <a:spcAft>
                <a:spcPts val="0"/>
              </a:spcAft>
              <a:buClr>
                <a:srgbClr val="CAD6DE"/>
              </a:buClr>
              <a:buSzPts val="1250"/>
              <a:buChar char="●"/>
            </a:pPr>
            <a:r>
              <a:rPr b="0" i="0" lang="en-US" sz="1250" u="none" cap="none" strike="noStrike">
                <a:solidFill>
                  <a:srgbClr val="CAD6DE"/>
                </a:solidFill>
                <a:latin typeface="Cabin"/>
                <a:ea typeface="Cabin"/>
                <a:cs typeface="Cabin"/>
                <a:sym typeface="Cabin"/>
              </a:rPr>
              <a:t>Once the election algorithm picks a winner (e.g., </a:t>
            </a:r>
            <a:r>
              <a:rPr b="0" i="0" lang="en-US" sz="1250" u="none" cap="none" strike="noStrike">
                <a:solidFill>
                  <a:srgbClr val="CAD6DE"/>
                </a:solidFill>
                <a:highlight>
                  <a:srgbClr val="1E3543"/>
                </a:highlight>
                <a:latin typeface="Consolas"/>
                <a:ea typeface="Consolas"/>
                <a:cs typeface="Consolas"/>
                <a:sym typeface="Consolas"/>
              </a:rPr>
              <a:t>drone_1</a:t>
            </a:r>
            <a:r>
              <a:rPr b="0" i="0" lang="en-US" sz="1250" u="none" cap="none" strike="noStrike">
                <a:solidFill>
                  <a:srgbClr val="CAD6DE"/>
                </a:solidFill>
                <a:latin typeface="Cabin"/>
                <a:ea typeface="Cabin"/>
                <a:cs typeface="Cabin"/>
                <a:sym typeface="Cabin"/>
              </a:rPr>
              <a:t>), the Coordinator iterates through all Candidate drones and applies </a:t>
            </a:r>
            <a:r>
              <a:rPr b="1" i="0" lang="en-US" sz="1250" u="none" cap="none" strike="noStrike">
                <a:solidFill>
                  <a:srgbClr val="CAD6DE"/>
                </a:solidFill>
                <a:latin typeface="Cabin"/>
                <a:ea typeface="Cabin"/>
                <a:cs typeface="Cabin"/>
                <a:sym typeface="Cabin"/>
              </a:rPr>
              <a:t>FSM Event 2 (</a:t>
            </a:r>
            <a:r>
              <a:rPr b="0" i="0" lang="en-US" sz="1250" u="none" cap="none" strike="noStrike">
                <a:solidFill>
                  <a:srgbClr val="CAD6DE"/>
                </a:solidFill>
                <a:highlight>
                  <a:srgbClr val="1E3543"/>
                </a:highlight>
                <a:latin typeface="Consolas"/>
                <a:ea typeface="Consolas"/>
                <a:cs typeface="Consolas"/>
                <a:sym typeface="Consolas"/>
              </a:rPr>
              <a:t>LeaderSelection</a:t>
            </a:r>
            <a:r>
              <a:rPr b="1" i="0" lang="en-US" sz="1250" u="none" cap="none" strike="noStrike">
                <a:solidFill>
                  <a:srgbClr val="CAD6DE"/>
                </a:solidFill>
                <a:latin typeface="Cabin"/>
                <a:ea typeface="Cabin"/>
                <a:cs typeface="Cabin"/>
                <a:sym typeface="Cabin"/>
              </a:rPr>
              <a:t>)</a:t>
            </a:r>
            <a:r>
              <a:rPr b="0" i="0" lang="en-US" sz="1250" u="none" cap="none" strike="noStrike">
                <a:solidFill>
                  <a:srgbClr val="CAD6DE"/>
                </a:solidFill>
                <a:latin typeface="Cabin"/>
                <a:ea typeface="Cabin"/>
                <a:cs typeface="Cabin"/>
                <a:sym typeface="Cabin"/>
              </a:rPr>
              <a:t>:</a:t>
            </a:r>
            <a:endParaRPr b="0" i="0" sz="1250" u="none" cap="none" strike="noStrike">
              <a:solidFill>
                <a:schemeClr val="dk1"/>
              </a:solidFill>
              <a:latin typeface="Calibri"/>
              <a:ea typeface="Calibri"/>
              <a:cs typeface="Calibri"/>
              <a:sym typeface="Calibri"/>
            </a:endParaRPr>
          </a:p>
          <a:p>
            <a:pPr indent="-307975" lvl="0" marL="457200" marR="0" rtl="0" algn="l">
              <a:lnSpc>
                <a:spcPct val="117000"/>
              </a:lnSpc>
              <a:spcBef>
                <a:spcPts val="0"/>
              </a:spcBef>
              <a:spcAft>
                <a:spcPts val="0"/>
              </a:spcAft>
              <a:buClr>
                <a:srgbClr val="CAD6DE"/>
              </a:buClr>
              <a:buSzPts val="1250"/>
              <a:buChar char="●"/>
            </a:pPr>
            <a:r>
              <a:rPr b="0" i="0" lang="en-US" sz="1250" u="none" cap="none" strike="noStrike">
                <a:solidFill>
                  <a:srgbClr val="CAD6DE"/>
                </a:solidFill>
                <a:latin typeface="Cabin"/>
                <a:ea typeface="Cabin"/>
                <a:cs typeface="Cabin"/>
                <a:sym typeface="Cabin"/>
              </a:rPr>
              <a:t>For the chosen candidate (</a:t>
            </a:r>
            <a:r>
              <a:rPr b="0" i="0" lang="en-US" sz="1250" u="none" cap="none" strike="noStrike">
                <a:solidFill>
                  <a:srgbClr val="CAD6DE"/>
                </a:solidFill>
                <a:highlight>
                  <a:srgbClr val="1E3543"/>
                </a:highlight>
                <a:latin typeface="Consolas"/>
                <a:ea typeface="Consolas"/>
                <a:cs typeface="Consolas"/>
                <a:sym typeface="Consolas"/>
              </a:rPr>
              <a:t>is_chosen == true</a:t>
            </a:r>
            <a:r>
              <a:rPr b="0" i="0" lang="en-US" sz="1250" u="none" cap="none" strike="noStrike">
                <a:solidFill>
                  <a:srgbClr val="CAD6DE"/>
                </a:solidFill>
                <a:latin typeface="Cabin"/>
                <a:ea typeface="Cabin"/>
                <a:cs typeface="Cabin"/>
                <a:sym typeface="Cabin"/>
              </a:rPr>
              <a:t>): State transitions to </a:t>
            </a:r>
            <a:r>
              <a:rPr b="0" i="0" lang="en-US" sz="1250" u="none" cap="none" strike="noStrike">
                <a:solidFill>
                  <a:srgbClr val="CAD6DE"/>
                </a:solidFill>
                <a:highlight>
                  <a:srgbClr val="1E3543"/>
                </a:highlight>
                <a:latin typeface="Consolas"/>
                <a:ea typeface="Consolas"/>
                <a:cs typeface="Consolas"/>
                <a:sym typeface="Consolas"/>
              </a:rPr>
              <a:t>(Active, Leader)</a:t>
            </a:r>
            <a:r>
              <a:rPr b="0" i="0" lang="en-US" sz="1250" u="none" cap="none" strike="noStrike">
                <a:solidFill>
                  <a:srgbClr val="CAD6DE"/>
                </a:solidFill>
                <a:latin typeface="Cabin"/>
                <a:ea typeface="Cabin"/>
                <a:cs typeface="Cabin"/>
                <a:sym typeface="Cabin"/>
              </a:rPr>
              <a:t>.</a:t>
            </a:r>
            <a:endParaRPr b="0" i="0" sz="1250" u="none" cap="none" strike="noStrike">
              <a:solidFill>
                <a:schemeClr val="dk1"/>
              </a:solidFill>
              <a:latin typeface="Calibri"/>
              <a:ea typeface="Calibri"/>
              <a:cs typeface="Calibri"/>
              <a:sym typeface="Calibri"/>
            </a:endParaRPr>
          </a:p>
          <a:p>
            <a:pPr indent="-307975" lvl="0" marL="457200" marR="0" rtl="0" algn="l">
              <a:lnSpc>
                <a:spcPct val="117000"/>
              </a:lnSpc>
              <a:spcBef>
                <a:spcPts val="0"/>
              </a:spcBef>
              <a:spcAft>
                <a:spcPts val="0"/>
              </a:spcAft>
              <a:buClr>
                <a:srgbClr val="CAD6DE"/>
              </a:buClr>
              <a:buSzPts val="1250"/>
              <a:buChar char="●"/>
            </a:pPr>
            <a:r>
              <a:rPr b="0" i="0" lang="en-US" sz="1250" u="none" cap="none" strike="noStrike">
                <a:solidFill>
                  <a:srgbClr val="CAD6DE"/>
                </a:solidFill>
                <a:latin typeface="Cabin"/>
                <a:ea typeface="Cabin"/>
                <a:cs typeface="Cabin"/>
                <a:sym typeface="Cabin"/>
              </a:rPr>
              <a:t>For all non-chosen candidates (</a:t>
            </a:r>
            <a:r>
              <a:rPr b="0" i="0" lang="en-US" sz="1250" u="none" cap="none" strike="noStrike">
                <a:solidFill>
                  <a:srgbClr val="CAD6DE"/>
                </a:solidFill>
                <a:highlight>
                  <a:srgbClr val="1E3543"/>
                </a:highlight>
                <a:latin typeface="Consolas"/>
                <a:ea typeface="Consolas"/>
                <a:cs typeface="Consolas"/>
                <a:sym typeface="Consolas"/>
              </a:rPr>
              <a:t>is_chosen == false</a:t>
            </a:r>
            <a:r>
              <a:rPr b="0" i="0" lang="en-US" sz="1250" u="none" cap="none" strike="noStrike">
                <a:solidFill>
                  <a:srgbClr val="CAD6DE"/>
                </a:solidFill>
                <a:latin typeface="Cabin"/>
                <a:ea typeface="Cabin"/>
                <a:cs typeface="Cabin"/>
                <a:sym typeface="Cabin"/>
              </a:rPr>
              <a:t>): State transitions to </a:t>
            </a:r>
            <a:r>
              <a:rPr b="0" i="0" lang="en-US" sz="1250" u="none" cap="none" strike="noStrike">
                <a:solidFill>
                  <a:srgbClr val="CAD6DE"/>
                </a:solidFill>
                <a:highlight>
                  <a:srgbClr val="1E3543"/>
                </a:highlight>
                <a:latin typeface="Consolas"/>
                <a:ea typeface="Consolas"/>
                <a:cs typeface="Consolas"/>
                <a:sym typeface="Consolas"/>
              </a:rPr>
              <a:t>(Active, Follower)</a:t>
            </a:r>
            <a:r>
              <a:rPr b="0" i="0" lang="en-US" sz="1250" u="none" cap="none" strike="noStrike">
                <a:solidFill>
                  <a:srgbClr val="CAD6DE"/>
                </a:solidFill>
                <a:latin typeface="Cabin"/>
                <a:ea typeface="Cabin"/>
                <a:cs typeface="Cabin"/>
                <a:sym typeface="Cabin"/>
              </a:rPr>
              <a:t>.</a:t>
            </a:r>
            <a:endParaRPr b="0" i="0" sz="1250" u="none" cap="none" strike="noStrike">
              <a:solidFill>
                <a:schemeClr val="dk1"/>
              </a:solidFill>
              <a:latin typeface="Calibri"/>
              <a:ea typeface="Calibri"/>
              <a:cs typeface="Calibri"/>
              <a:sym typeface="Calibri"/>
            </a:endParaRPr>
          </a:p>
        </p:txBody>
      </p:sp>
      <p:sp>
        <p:nvSpPr>
          <p:cNvPr id="742" name="Google Shape;742;p58"/>
          <p:cNvSpPr/>
          <p:nvPr/>
        </p:nvSpPr>
        <p:spPr>
          <a:xfrm>
            <a:off x="698086" y="3950097"/>
            <a:ext cx="10795524"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The Leader election is offically complete, now the drones are spawner and are on the ground, waiting for the order to arrange themselves in formation to take off</a:t>
            </a:r>
            <a:endParaRPr b="0" i="0" sz="1450" u="none" cap="none" strike="noStrike">
              <a:solidFill>
                <a:schemeClr val="dk1"/>
              </a:solidFill>
              <a:latin typeface="Calibri"/>
              <a:ea typeface="Calibri"/>
              <a:cs typeface="Calibri"/>
              <a:sym typeface="Calibri"/>
            </a:endParaRPr>
          </a:p>
        </p:txBody>
      </p:sp>
      <p:sp>
        <p:nvSpPr>
          <p:cNvPr id="743" name="Google Shape;743;p58"/>
          <p:cNvSpPr/>
          <p:nvPr/>
        </p:nvSpPr>
        <p:spPr>
          <a:xfrm>
            <a:off x="698086" y="4637286"/>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58"/>
          <p:cNvSpPr/>
          <p:nvPr/>
        </p:nvSpPr>
        <p:spPr>
          <a:xfrm>
            <a:off x="698086" y="4861917"/>
            <a:ext cx="10795524" cy="26402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650"/>
              <a:buFont typeface="Unbounded"/>
              <a:buNone/>
            </a:pPr>
            <a:r>
              <a:rPr b="0" i="0" lang="en-US" sz="1650" u="none" cap="none" strike="noStrike">
                <a:solidFill>
                  <a:srgbClr val="FFFFFF"/>
                </a:solidFill>
                <a:latin typeface="Unbounded"/>
                <a:ea typeface="Unbounded"/>
                <a:cs typeface="Unbounded"/>
                <a:sym typeface="Unbounded"/>
              </a:rPr>
              <a:t>Files &amp; Technology:</a:t>
            </a:r>
            <a:endParaRPr b="0" i="0" sz="1650" u="none" cap="none" strike="noStrike">
              <a:solidFill>
                <a:schemeClr val="dk1"/>
              </a:solidFill>
              <a:latin typeface="Calibri"/>
              <a:ea typeface="Calibri"/>
              <a:cs typeface="Calibri"/>
              <a:sym typeface="Calibri"/>
            </a:endParaRPr>
          </a:p>
        </p:txBody>
      </p:sp>
      <p:sp>
        <p:nvSpPr>
          <p:cNvPr id="745" name="Google Shape;745;p58"/>
          <p:cNvSpPr/>
          <p:nvPr/>
        </p:nvSpPr>
        <p:spPr>
          <a:xfrm>
            <a:off x="698086" y="5294213"/>
            <a:ext cx="10795524" cy="464443"/>
          </a:xfrm>
          <a:prstGeom prst="rect">
            <a:avLst/>
          </a:prstGeom>
          <a:noFill/>
          <a:ln>
            <a:noFill/>
          </a:ln>
        </p:spPr>
        <p:txBody>
          <a:bodyPr anchorCtr="0" anchor="t" bIns="0" lIns="0" spcFirstLastPara="1" rIns="0" wrap="square" tIns="59825">
            <a:noAutofit/>
          </a:bodyPr>
          <a:lstStyle/>
          <a:p>
            <a:pPr indent="-233680" lvl="0" marL="233680" marR="0" rtl="0" algn="l">
              <a:lnSpc>
                <a:spcPct val="117000"/>
              </a:lnSpc>
              <a:spcBef>
                <a:spcPts val="0"/>
              </a:spcBef>
              <a:spcAft>
                <a:spcPts val="0"/>
              </a:spcAft>
              <a:buClr>
                <a:srgbClr val="CAD6DE"/>
              </a:buClr>
              <a:buSzPts val="1150"/>
              <a:buFont typeface="Consolas"/>
              <a:buChar char="•"/>
            </a:pPr>
            <a:r>
              <a:rPr b="0" i="0" lang="en-US" sz="1150" u="none" cap="none" strike="noStrike">
                <a:solidFill>
                  <a:srgbClr val="CAD6DE"/>
                </a:solidFill>
                <a:highlight>
                  <a:srgbClr val="1E3543"/>
                </a:highlight>
                <a:latin typeface="Consolas"/>
                <a:ea typeface="Consolas"/>
                <a:cs typeface="Consolas"/>
                <a:sym typeface="Consolas"/>
              </a:rPr>
              <a:t>main.rs</a:t>
            </a:r>
            <a:r>
              <a:rPr b="0" i="0" lang="en-US" sz="1150" u="none" cap="none" strike="noStrike">
                <a:solidFill>
                  <a:srgbClr val="CAD6DE"/>
                </a:solidFill>
                <a:latin typeface="Cabin"/>
                <a:ea typeface="Cabin"/>
                <a:cs typeface="Cabin"/>
                <a:sym typeface="Cabin"/>
              </a:rPr>
              <a:t> &amp; </a:t>
            </a:r>
            <a:r>
              <a:rPr b="0" i="0" lang="en-US" sz="1150" u="none" cap="none" strike="noStrike">
                <a:solidFill>
                  <a:srgbClr val="CAD6DE"/>
                </a:solidFill>
                <a:highlight>
                  <a:srgbClr val="1E3543"/>
                </a:highlight>
                <a:latin typeface="Consolas"/>
                <a:ea typeface="Consolas"/>
                <a:cs typeface="Consolas"/>
                <a:sym typeface="Consolas"/>
              </a:rPr>
              <a:t>lib.rs</a:t>
            </a:r>
            <a:r>
              <a:rPr b="0" i="0" lang="en-US" sz="1150" u="none" cap="none" strike="noStrike">
                <a:solidFill>
                  <a:srgbClr val="CAD6DE"/>
                </a:solidFill>
                <a:latin typeface="Cabin"/>
                <a:ea typeface="Cabin"/>
                <a:cs typeface="Cabin"/>
                <a:sym typeface="Cabin"/>
              </a:rPr>
              <a:t> (Kani_verify)</a:t>
            </a:r>
            <a:endParaRPr b="0" i="0" sz="1150" u="none" cap="none" strike="noStrike">
              <a:solidFill>
                <a:schemeClr val="dk1"/>
              </a:solidFill>
              <a:latin typeface="Calibri"/>
              <a:ea typeface="Calibri"/>
              <a:cs typeface="Calibri"/>
              <a:sym typeface="Calibri"/>
            </a:endParaRPr>
          </a:p>
          <a:p>
            <a:pPr indent="-233680" lvl="0" marL="233680" marR="0" rtl="0" algn="l">
              <a:lnSpc>
                <a:spcPct val="117000"/>
              </a:lnSpc>
              <a:spcBef>
                <a:spcPts val="0"/>
              </a:spcBef>
              <a:spcAft>
                <a:spcPts val="0"/>
              </a:spcAft>
              <a:buClr>
                <a:srgbClr val="CAD6DE"/>
              </a:buClr>
              <a:buSzPts val="1150"/>
              <a:buFont typeface="Cabin"/>
              <a:buChar char="•"/>
            </a:pPr>
            <a:r>
              <a:rPr b="0" i="0" lang="en-US" sz="1150" u="none" cap="none" strike="noStrike">
                <a:solidFill>
                  <a:srgbClr val="CAD6DE"/>
                </a:solidFill>
                <a:latin typeface="Cabin"/>
                <a:ea typeface="Cabin"/>
                <a:cs typeface="Cabin"/>
                <a:sym typeface="Cabin"/>
              </a:rPr>
              <a:t>Kani Formal Verification Engine, Rust State Machine (transition)</a:t>
            </a:r>
            <a:endParaRPr b="0" i="0" sz="1150" u="none" cap="none" strike="noStrike">
              <a:solidFill>
                <a:schemeClr val="dk1"/>
              </a:solidFill>
              <a:latin typeface="Calibri"/>
              <a:ea typeface="Calibri"/>
              <a:cs typeface="Calibri"/>
              <a:sym typeface="Calibri"/>
            </a:endParaRPr>
          </a:p>
        </p:txBody>
      </p:sp>
      <p:pic>
        <p:nvPicPr>
          <p:cNvPr id="746" name="Google Shape;746;p58"/>
          <p:cNvPicPr preferRelativeResize="0"/>
          <p:nvPr/>
        </p:nvPicPr>
        <p:blipFill>
          <a:blip r:embed="rId3">
            <a:alphaModFix/>
          </a:blip>
          <a:stretch>
            <a:fillRect/>
          </a:stretch>
        </p:blipFill>
        <p:spPr>
          <a:xfrm>
            <a:off x="553748" y="1295750"/>
            <a:ext cx="6937126" cy="15469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pic>
        <p:nvPicPr>
          <p:cNvPr descr="preencoded.png" id="752" name="Google Shape;752;p59"/>
          <p:cNvPicPr preferRelativeResize="0"/>
          <p:nvPr/>
        </p:nvPicPr>
        <p:blipFill rotWithShape="1">
          <a:blip r:embed="rId3">
            <a:alphaModFix/>
          </a:blip>
          <a:srcRect b="0" l="0" r="0" t="0"/>
          <a:stretch/>
        </p:blipFill>
        <p:spPr>
          <a:xfrm>
            <a:off x="0" y="0"/>
            <a:ext cx="6095848" cy="6858000"/>
          </a:xfrm>
          <a:prstGeom prst="rect">
            <a:avLst/>
          </a:prstGeom>
          <a:noFill/>
          <a:ln>
            <a:noFill/>
          </a:ln>
        </p:spPr>
      </p:pic>
      <p:sp>
        <p:nvSpPr>
          <p:cNvPr id="753" name="Google Shape;753;p59"/>
          <p:cNvSpPr/>
          <p:nvPr/>
        </p:nvSpPr>
        <p:spPr>
          <a:xfrm>
            <a:off x="6793933" y="2080220"/>
            <a:ext cx="4699676" cy="176004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How to put drones in formation</a:t>
            </a:r>
            <a:endParaRPr b="0" i="0" sz="3650" u="none" cap="none" strike="noStrike">
              <a:solidFill>
                <a:schemeClr val="dk1"/>
              </a:solidFill>
              <a:latin typeface="Calibri"/>
              <a:ea typeface="Calibri"/>
              <a:cs typeface="Calibri"/>
              <a:sym typeface="Calibri"/>
            </a:endParaRPr>
          </a:p>
        </p:txBody>
      </p:sp>
      <p:sp>
        <p:nvSpPr>
          <p:cNvPr id="754" name="Google Shape;754;p59"/>
          <p:cNvSpPr/>
          <p:nvPr/>
        </p:nvSpPr>
        <p:spPr>
          <a:xfrm>
            <a:off x="6793933" y="4139406"/>
            <a:ext cx="4699676"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A988B"/>
              </a:buClr>
              <a:buSzPts val="1550"/>
              <a:buFont typeface="Cabin"/>
              <a:buNone/>
            </a:pPr>
            <a:r>
              <a:rPr b="0" i="0" lang="en-US" sz="1550" u="none" cap="none" strike="noStrike">
                <a:solidFill>
                  <a:srgbClr val="0A988B"/>
                </a:solidFill>
                <a:latin typeface="Cabin"/>
                <a:ea typeface="Cabin"/>
                <a:cs typeface="Cabin"/>
                <a:sym typeface="Cabin"/>
              </a:rPr>
              <a:t>Line Formation </a:t>
            </a:r>
            <a:r>
              <a:rPr b="0" i="0" lang="en-US" sz="1550" u="none" cap="none" strike="noStrike">
                <a:solidFill>
                  <a:srgbClr val="CAD6DE"/>
                </a:solidFill>
                <a:latin typeface="Cabin"/>
                <a:ea typeface="Cabin"/>
                <a:cs typeface="Cabin"/>
                <a:sym typeface="Cabin"/>
              </a:rPr>
              <a:t>— Full logical steps to make drones arrange in formation</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60"/>
          <p:cNvSpPr/>
          <p:nvPr/>
        </p:nvSpPr>
        <p:spPr>
          <a:xfrm>
            <a:off x="698086" y="548580"/>
            <a:ext cx="10795524" cy="46940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b="0" i="0" lang="en-US" sz="2950" u="none" cap="none" strike="noStrike">
                <a:solidFill>
                  <a:srgbClr val="FFFFFF"/>
                </a:solidFill>
                <a:latin typeface="Unbounded"/>
                <a:ea typeface="Unbounded"/>
                <a:cs typeface="Unbounded"/>
                <a:sym typeface="Unbounded"/>
              </a:rPr>
              <a:t>Step 1: Line formation request</a:t>
            </a:r>
            <a:endParaRPr b="0" i="0" sz="2950" u="none" cap="none" strike="noStrike">
              <a:solidFill>
                <a:schemeClr val="dk1"/>
              </a:solidFill>
              <a:latin typeface="Calibri"/>
              <a:ea typeface="Calibri"/>
              <a:cs typeface="Calibri"/>
              <a:sym typeface="Calibri"/>
            </a:endParaRPr>
          </a:p>
        </p:txBody>
      </p:sp>
      <p:sp>
        <p:nvSpPr>
          <p:cNvPr id="761" name="Google Shape;761;p60"/>
          <p:cNvSpPr/>
          <p:nvPr/>
        </p:nvSpPr>
        <p:spPr>
          <a:xfrm>
            <a:off x="6520493" y="1324372"/>
            <a:ext cx="5588952" cy="28723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1" i="0" lang="en-US" sz="1550" u="none" cap="none" strike="noStrike">
                <a:solidFill>
                  <a:srgbClr val="CAD6DE"/>
                </a:solidFill>
                <a:latin typeface="Cabin"/>
                <a:ea typeface="Cabin"/>
                <a:cs typeface="Cabin"/>
                <a:sym typeface="Cabin"/>
              </a:rPr>
              <a:t>Steps:</a:t>
            </a:r>
            <a:endParaRPr b="0" i="0" sz="1550" u="none" cap="none" strike="noStrike">
              <a:solidFill>
                <a:schemeClr val="dk1"/>
              </a:solidFill>
              <a:latin typeface="Calibri"/>
              <a:ea typeface="Calibri"/>
              <a:cs typeface="Calibri"/>
              <a:sym typeface="Calibri"/>
            </a:endParaRPr>
          </a:p>
        </p:txBody>
      </p:sp>
      <p:sp>
        <p:nvSpPr>
          <p:cNvPr id="762" name="Google Shape;762;p60"/>
          <p:cNvSpPr/>
          <p:nvPr/>
        </p:nvSpPr>
        <p:spPr>
          <a:xfrm>
            <a:off x="6520500" y="1726500"/>
            <a:ext cx="5535000" cy="2436900"/>
          </a:xfrm>
          <a:prstGeom prst="rect">
            <a:avLst/>
          </a:prstGeom>
          <a:noFill/>
          <a:ln>
            <a:noFill/>
          </a:ln>
        </p:spPr>
        <p:txBody>
          <a:bodyPr anchorCtr="0" anchor="t" bIns="0" lIns="0" spcFirstLastPara="1" rIns="0" wrap="square" tIns="63825">
            <a:noAutofit/>
          </a:bodyPr>
          <a:lstStyle/>
          <a:p>
            <a:pPr indent="-314325" lvl="0" marL="457200" marR="0" rtl="0" algn="l">
              <a:lnSpc>
                <a:spcPct val="120000"/>
              </a:lnSpc>
              <a:spcBef>
                <a:spcPts val="0"/>
              </a:spcBef>
              <a:spcAft>
                <a:spcPts val="0"/>
              </a:spcAft>
              <a:buClr>
                <a:srgbClr val="CAD6DE"/>
              </a:buClr>
              <a:buSzPts val="1350"/>
              <a:buChar char="●"/>
            </a:pPr>
            <a:r>
              <a:rPr b="0" i="0" lang="en-US" sz="1350" u="none" cap="none" strike="noStrike">
                <a:solidFill>
                  <a:srgbClr val="CAD6DE"/>
                </a:solidFill>
                <a:latin typeface="Cabin"/>
                <a:ea typeface="Cabin"/>
                <a:cs typeface="Cabin"/>
                <a:sym typeface="Cabin"/>
              </a:rPr>
              <a:t>The frontend sends an HTTP </a:t>
            </a:r>
            <a:r>
              <a:rPr b="0" i="0" lang="en-US" sz="1350" u="none" cap="none" strike="noStrike">
                <a:solidFill>
                  <a:srgbClr val="CAD6DE"/>
                </a:solidFill>
                <a:highlight>
                  <a:srgbClr val="1E3543"/>
                </a:highlight>
                <a:latin typeface="Consolas"/>
                <a:ea typeface="Consolas"/>
                <a:cs typeface="Consolas"/>
                <a:sym typeface="Consolas"/>
              </a:rPr>
              <a:t>POST</a:t>
            </a:r>
            <a:r>
              <a:rPr b="0" i="0" lang="en-US" sz="1350" u="none" cap="none" strike="noStrike">
                <a:solidFill>
                  <a:srgbClr val="CAD6DE"/>
                </a:solidFill>
                <a:latin typeface="Cabin"/>
                <a:ea typeface="Cabin"/>
                <a:cs typeface="Cabin"/>
                <a:sym typeface="Cabin"/>
              </a:rPr>
              <a:t> request to the </a:t>
            </a:r>
            <a:r>
              <a:rPr b="0" i="0" lang="en-US" sz="1350" u="none" cap="none" strike="noStrike">
                <a:solidFill>
                  <a:srgbClr val="CAD6DE"/>
                </a:solidFill>
                <a:highlight>
                  <a:srgbClr val="1E3543"/>
                </a:highlight>
                <a:latin typeface="Consolas"/>
                <a:ea typeface="Consolas"/>
                <a:cs typeface="Consolas"/>
                <a:sym typeface="Consolas"/>
              </a:rPr>
              <a:t>/api/swarm/formation/line</a:t>
            </a:r>
            <a:r>
              <a:rPr b="0" i="0" lang="en-US" sz="1350" u="none" cap="none" strike="noStrike">
                <a:solidFill>
                  <a:srgbClr val="CAD6DE"/>
                </a:solidFill>
                <a:latin typeface="Cabin"/>
                <a:ea typeface="Cabin"/>
                <a:cs typeface="Cabin"/>
                <a:sym typeface="Cabin"/>
              </a:rPr>
              <a:t> endpoint. The FastAPI server interacts with the Docker SDK (</a:t>
            </a:r>
            <a:r>
              <a:rPr b="0" i="0" lang="en-US" sz="1350" u="none" cap="none" strike="noStrike">
                <a:solidFill>
                  <a:srgbClr val="CAD6DE"/>
                </a:solidFill>
                <a:highlight>
                  <a:srgbClr val="1E3543"/>
                </a:highlight>
                <a:latin typeface="Consolas"/>
                <a:ea typeface="Consolas"/>
                <a:cs typeface="Consolas"/>
                <a:sym typeface="Consolas"/>
              </a:rPr>
              <a:t>docker.from_env()</a:t>
            </a:r>
            <a:r>
              <a:rPr b="0" i="0" lang="en-US" sz="1350" u="none" cap="none" strike="noStrike">
                <a:solidFill>
                  <a:srgbClr val="CAD6DE"/>
                </a:solidFill>
                <a:latin typeface="Cabin"/>
                <a:ea typeface="Cabin"/>
                <a:cs typeface="Cabin"/>
                <a:sym typeface="Cabin"/>
              </a:rPr>
              <a:t>) to invoke a </a:t>
            </a:r>
            <a:r>
              <a:rPr b="0" i="0" lang="en-US" sz="1350" u="none" cap="none" strike="noStrike">
                <a:solidFill>
                  <a:srgbClr val="CAD6DE"/>
                </a:solidFill>
                <a:highlight>
                  <a:srgbClr val="1E3543"/>
                </a:highlight>
                <a:latin typeface="Consolas"/>
                <a:ea typeface="Consolas"/>
                <a:cs typeface="Consolas"/>
                <a:sym typeface="Consolas"/>
              </a:rPr>
              <a:t>ros2 topic pub --once</a:t>
            </a:r>
            <a:r>
              <a:rPr b="0" i="0" lang="en-US" sz="1350" u="none" cap="none" strike="noStrike">
                <a:solidFill>
                  <a:srgbClr val="CAD6DE"/>
                </a:solidFill>
                <a:latin typeface="Cabin"/>
                <a:ea typeface="Cabin"/>
                <a:cs typeface="Cabin"/>
                <a:sym typeface="Cabin"/>
              </a:rPr>
              <a:t> CLI command inside the running Coordinator container via Docker Engine </a:t>
            </a:r>
            <a:r>
              <a:rPr b="0" i="0" lang="en-US" sz="1350" u="none" cap="none" strike="noStrike">
                <a:solidFill>
                  <a:srgbClr val="CAD6DE"/>
                </a:solidFill>
                <a:highlight>
                  <a:srgbClr val="1E3543"/>
                </a:highlight>
                <a:latin typeface="Consolas"/>
                <a:ea typeface="Consolas"/>
                <a:cs typeface="Consolas"/>
                <a:sym typeface="Consolas"/>
              </a:rPr>
              <a:t>exec_run</a:t>
            </a:r>
            <a:r>
              <a:rPr b="0" i="0" lang="en-US" sz="1350" u="none" cap="none" strike="noStrike">
                <a:solidFill>
                  <a:srgbClr val="CAD6DE"/>
                </a:solidFill>
                <a:latin typeface="Cabin"/>
                <a:ea typeface="Cabin"/>
                <a:cs typeface="Cabin"/>
                <a:sym typeface="Cabin"/>
              </a:rPr>
              <a:t>.</a:t>
            </a:r>
            <a:endParaRPr b="0" i="0" sz="1350" u="none" cap="none" strike="noStrike">
              <a:solidFill>
                <a:schemeClr val="dk1"/>
              </a:solidFill>
              <a:latin typeface="Calibri"/>
              <a:ea typeface="Calibri"/>
              <a:cs typeface="Calibri"/>
              <a:sym typeface="Calibri"/>
            </a:endParaRPr>
          </a:p>
          <a:p>
            <a:pPr indent="-314325" lvl="0" marL="457200" marR="0" rtl="0" algn="l">
              <a:lnSpc>
                <a:spcPct val="120000"/>
              </a:lnSpc>
              <a:spcBef>
                <a:spcPts val="0"/>
              </a:spcBef>
              <a:spcAft>
                <a:spcPts val="0"/>
              </a:spcAft>
              <a:buClr>
                <a:srgbClr val="CAD6DE"/>
              </a:buClr>
              <a:buSzPts val="1350"/>
              <a:buChar char="●"/>
            </a:pPr>
            <a:r>
              <a:rPr b="0" i="0" lang="en-US" sz="1350" u="none" cap="none" strike="noStrike">
                <a:solidFill>
                  <a:srgbClr val="CAD6DE"/>
                </a:solidFill>
                <a:latin typeface="Cabin"/>
                <a:ea typeface="Cabin"/>
                <a:cs typeface="Cabin"/>
                <a:sym typeface="Cabin"/>
              </a:rPr>
              <a:t>Payload published on </a:t>
            </a:r>
            <a:r>
              <a:rPr b="0" i="0" lang="en-US" sz="1350" u="none" cap="none" strike="noStrike">
                <a:solidFill>
                  <a:srgbClr val="CAD6DE"/>
                </a:solidFill>
                <a:highlight>
                  <a:srgbClr val="1E3543"/>
                </a:highlight>
                <a:latin typeface="Consolas"/>
                <a:ea typeface="Consolas"/>
                <a:cs typeface="Consolas"/>
                <a:sym typeface="Consolas"/>
              </a:rPr>
              <a:t>/swarm/formation</a:t>
            </a:r>
            <a:r>
              <a:rPr b="0" i="0" lang="en-US" sz="1350" u="none" cap="none" strike="noStrike">
                <a:solidFill>
                  <a:srgbClr val="CAD6DE"/>
                </a:solidFill>
                <a:latin typeface="Cabin"/>
                <a:ea typeface="Cabin"/>
                <a:cs typeface="Cabin"/>
                <a:sym typeface="Cabin"/>
              </a:rPr>
              <a:t> topic over the Fast-DDS Discovery Server network (IP </a:t>
            </a:r>
            <a:r>
              <a:rPr b="0" i="0" lang="en-US" sz="1350" u="none" cap="none" strike="noStrike">
                <a:solidFill>
                  <a:srgbClr val="CAD6DE"/>
                </a:solidFill>
                <a:highlight>
                  <a:srgbClr val="1E3543"/>
                </a:highlight>
                <a:latin typeface="Consolas"/>
                <a:ea typeface="Consolas"/>
                <a:cs typeface="Consolas"/>
                <a:sym typeface="Consolas"/>
              </a:rPr>
              <a:t>172.28.0.10:11811</a:t>
            </a:r>
            <a:r>
              <a:rPr b="0" i="0" lang="en-US" sz="1350" u="none" cap="none" strike="noStrike">
                <a:solidFill>
                  <a:srgbClr val="CAD6DE"/>
                </a:solidFill>
                <a:latin typeface="Cabin"/>
                <a:ea typeface="Cabin"/>
                <a:cs typeface="Cabin"/>
                <a:sym typeface="Cabin"/>
              </a:rPr>
              <a:t>).</a:t>
            </a:r>
            <a:endParaRPr b="0" i="0" sz="1350" u="none" cap="none" strike="noStrike">
              <a:solidFill>
                <a:schemeClr val="dk1"/>
              </a:solidFill>
              <a:latin typeface="Calibri"/>
              <a:ea typeface="Calibri"/>
              <a:cs typeface="Calibri"/>
              <a:sym typeface="Calibri"/>
            </a:endParaRPr>
          </a:p>
          <a:p>
            <a:pPr indent="-314325" lvl="0" marL="457200" marR="0" rtl="0" algn="l">
              <a:lnSpc>
                <a:spcPct val="120000"/>
              </a:lnSpc>
              <a:spcBef>
                <a:spcPts val="0"/>
              </a:spcBef>
              <a:spcAft>
                <a:spcPts val="0"/>
              </a:spcAft>
              <a:buClr>
                <a:srgbClr val="CAD6DE"/>
              </a:buClr>
              <a:buSzPts val="1350"/>
              <a:buChar char="●"/>
            </a:pPr>
            <a:r>
              <a:rPr b="0" i="0" lang="en-US" sz="1350" u="none" cap="none" strike="noStrike">
                <a:solidFill>
                  <a:srgbClr val="CAD6DE"/>
                </a:solidFill>
                <a:latin typeface="Cabin"/>
                <a:ea typeface="Cabin"/>
                <a:cs typeface="Cabin"/>
                <a:sym typeface="Cabin"/>
              </a:rPr>
              <a:t>The CLI command publishes the one-shot JSON payload onto the ROS 2 network. The Fast-DDS Discovery Server routes this publication towards all subscribers listening to topic </a:t>
            </a:r>
            <a:r>
              <a:rPr b="0" i="0" lang="en-US" sz="1350" u="none" cap="none" strike="noStrike">
                <a:solidFill>
                  <a:srgbClr val="CAD6DE"/>
                </a:solidFill>
                <a:highlight>
                  <a:srgbClr val="1E3543"/>
                </a:highlight>
                <a:latin typeface="Consolas"/>
                <a:ea typeface="Consolas"/>
                <a:cs typeface="Consolas"/>
                <a:sym typeface="Consolas"/>
              </a:rPr>
              <a:t>/swarm/formation</a:t>
            </a:r>
            <a:r>
              <a:rPr b="0" i="0" lang="en-US" sz="1350" u="none" cap="none" strike="noStrike">
                <a:solidFill>
                  <a:srgbClr val="CAD6DE"/>
                </a:solidFill>
                <a:latin typeface="Cabin"/>
                <a:ea typeface="Cabin"/>
                <a:cs typeface="Cabin"/>
                <a:sym typeface="Cabin"/>
              </a:rPr>
              <a:t>.</a:t>
            </a:r>
            <a:endParaRPr b="0" i="0" sz="1350" u="none" cap="none" strike="noStrike">
              <a:solidFill>
                <a:schemeClr val="dk1"/>
              </a:solidFill>
              <a:latin typeface="Calibri"/>
              <a:ea typeface="Calibri"/>
              <a:cs typeface="Calibri"/>
              <a:sym typeface="Calibri"/>
            </a:endParaRPr>
          </a:p>
        </p:txBody>
      </p:sp>
      <p:sp>
        <p:nvSpPr>
          <p:cNvPr id="763" name="Google Shape;763;p60"/>
          <p:cNvSpPr/>
          <p:nvPr/>
        </p:nvSpPr>
        <p:spPr>
          <a:xfrm>
            <a:off x="698086" y="4806454"/>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0"/>
          <p:cNvSpPr/>
          <p:nvPr/>
        </p:nvSpPr>
        <p:spPr>
          <a:xfrm>
            <a:off x="698086" y="5056882"/>
            <a:ext cx="10795524" cy="2815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50"/>
              <a:buFont typeface="Unbounded"/>
              <a:buNone/>
            </a:pPr>
            <a:r>
              <a:rPr b="0" i="0" lang="en-US" sz="1750" u="none" cap="none" strike="noStrike">
                <a:solidFill>
                  <a:srgbClr val="FFFFFF"/>
                </a:solidFill>
                <a:latin typeface="Unbounded"/>
                <a:ea typeface="Unbounded"/>
                <a:cs typeface="Unbounded"/>
                <a:sym typeface="Unbounded"/>
              </a:rPr>
              <a:t>Files &amp; Technology:</a:t>
            </a:r>
            <a:endParaRPr b="0" i="0" sz="1750" u="none" cap="none" strike="noStrike">
              <a:solidFill>
                <a:schemeClr val="dk1"/>
              </a:solidFill>
              <a:latin typeface="Calibri"/>
              <a:ea typeface="Calibri"/>
              <a:cs typeface="Calibri"/>
              <a:sym typeface="Calibri"/>
            </a:endParaRPr>
          </a:p>
        </p:txBody>
      </p:sp>
      <p:sp>
        <p:nvSpPr>
          <p:cNvPr id="765" name="Google Shape;765;p60"/>
          <p:cNvSpPr/>
          <p:nvPr/>
        </p:nvSpPr>
        <p:spPr>
          <a:xfrm>
            <a:off x="698086" y="5529957"/>
            <a:ext cx="10795524" cy="516731"/>
          </a:xfrm>
          <a:prstGeom prst="rect">
            <a:avLst/>
          </a:prstGeom>
          <a:noFill/>
          <a:ln>
            <a:noFill/>
          </a:ln>
        </p:spPr>
        <p:txBody>
          <a:bodyPr anchorCtr="0" anchor="t" bIns="0" lIns="0" spcFirstLastPara="1" rIns="0" wrap="square" tIns="63825">
            <a:noAutofit/>
          </a:bodyPr>
          <a:lstStyle/>
          <a:p>
            <a:pPr indent="-254000" lvl="0" marL="254000" marR="0" rtl="0" algn="l">
              <a:lnSpc>
                <a:spcPct val="120000"/>
              </a:lnSpc>
              <a:spcBef>
                <a:spcPts val="0"/>
              </a:spcBef>
              <a:spcAft>
                <a:spcPts val="0"/>
              </a:spcAft>
              <a:buClr>
                <a:srgbClr val="CAD6DE"/>
              </a:buClr>
              <a:buSzPts val="1250"/>
              <a:buFont typeface="Consolas"/>
              <a:buChar char="•"/>
            </a:pPr>
            <a:r>
              <a:rPr b="0" i="0" lang="en-US" sz="1250" u="none" cap="none" strike="noStrike">
                <a:solidFill>
                  <a:srgbClr val="CAD6DE"/>
                </a:solidFill>
                <a:highlight>
                  <a:srgbClr val="1E3543"/>
                </a:highlight>
                <a:latin typeface="Consolas"/>
                <a:ea typeface="Consolas"/>
                <a:cs typeface="Consolas"/>
                <a:sym typeface="Consolas"/>
              </a:rPr>
              <a:t>main.py </a:t>
            </a:r>
            <a:r>
              <a:rPr b="0" i="0" lang="en-US" sz="1250" u="none" cap="none" strike="noStrike">
                <a:solidFill>
                  <a:srgbClr val="CAD6DE"/>
                </a:solidFill>
                <a:latin typeface="Cabin"/>
                <a:ea typeface="Cabin"/>
                <a:cs typeface="Cabin"/>
                <a:sym typeface="Cabin"/>
              </a:rPr>
              <a:t>&amp; </a:t>
            </a:r>
            <a:r>
              <a:rPr b="0" i="0" lang="en-US" sz="1250" u="none" cap="none" strike="noStrike">
                <a:solidFill>
                  <a:srgbClr val="CAD6DE"/>
                </a:solidFill>
                <a:highlight>
                  <a:srgbClr val="1E3543"/>
                </a:highlight>
                <a:latin typeface="Consolas"/>
                <a:ea typeface="Consolas"/>
                <a:cs typeface="Consolas"/>
                <a:sym typeface="Consolas"/>
              </a:rPr>
              <a:t>app.js</a:t>
            </a:r>
            <a:endParaRPr b="0" i="0" sz="1250" u="none" cap="none" strike="noStrike">
              <a:solidFill>
                <a:schemeClr val="dk1"/>
              </a:solidFill>
              <a:latin typeface="Calibri"/>
              <a:ea typeface="Calibri"/>
              <a:cs typeface="Calibri"/>
              <a:sym typeface="Calibri"/>
            </a:endParaRPr>
          </a:p>
          <a:p>
            <a:pPr indent="-254000" lvl="0" marL="254000" marR="0" rtl="0" algn="l">
              <a:lnSpc>
                <a:spcPct val="120000"/>
              </a:lnSpc>
              <a:spcBef>
                <a:spcPts val="0"/>
              </a:spcBef>
              <a:spcAft>
                <a:spcPts val="0"/>
              </a:spcAft>
              <a:buClr>
                <a:srgbClr val="CAD6DE"/>
              </a:buClr>
              <a:buSzPts val="1250"/>
              <a:buFont typeface="Cabin"/>
              <a:buChar char="•"/>
            </a:pPr>
            <a:r>
              <a:rPr b="1" i="0" lang="en-US" sz="1250" u="none" cap="none" strike="noStrike">
                <a:solidFill>
                  <a:srgbClr val="CAD6DE"/>
                </a:solidFill>
                <a:latin typeface="Cabin"/>
                <a:ea typeface="Cabin"/>
                <a:cs typeface="Cabin"/>
                <a:sym typeface="Cabin"/>
              </a:rPr>
              <a:t>FastAPI</a:t>
            </a:r>
            <a:r>
              <a:rPr b="0" i="0" lang="en-US" sz="1250" u="none" cap="none" strike="noStrike">
                <a:solidFill>
                  <a:srgbClr val="CAD6DE"/>
                </a:solidFill>
                <a:latin typeface="Cabin"/>
                <a:ea typeface="Cabin"/>
                <a:cs typeface="Cabin"/>
                <a:sym typeface="Cabin"/>
              </a:rPr>
              <a:t>, </a:t>
            </a:r>
            <a:r>
              <a:rPr b="1" i="0" lang="en-US" sz="1250" u="none" cap="none" strike="noStrike">
                <a:solidFill>
                  <a:srgbClr val="CAD6DE"/>
                </a:solidFill>
                <a:latin typeface="Cabin"/>
                <a:ea typeface="Cabin"/>
                <a:cs typeface="Cabin"/>
                <a:sym typeface="Cabin"/>
              </a:rPr>
              <a:t>Docker SDK for Python (</a:t>
            </a:r>
            <a:r>
              <a:rPr b="0" i="0" lang="en-US" sz="1250" u="none" cap="none" strike="noStrike">
                <a:solidFill>
                  <a:srgbClr val="CAD6DE"/>
                </a:solidFill>
                <a:highlight>
                  <a:srgbClr val="1E3543"/>
                </a:highlight>
                <a:latin typeface="Consolas"/>
                <a:ea typeface="Consolas"/>
                <a:cs typeface="Consolas"/>
                <a:sym typeface="Consolas"/>
              </a:rPr>
              <a:t>exec_run</a:t>
            </a:r>
            <a:r>
              <a:rPr b="1" i="0" lang="en-US" sz="1250" u="none" cap="none" strike="noStrike">
                <a:solidFill>
                  <a:srgbClr val="CAD6DE"/>
                </a:solidFill>
                <a:latin typeface="Cabin"/>
                <a:ea typeface="Cabin"/>
                <a:cs typeface="Cabin"/>
                <a:sym typeface="Cabin"/>
              </a:rPr>
              <a:t>)</a:t>
            </a:r>
            <a:r>
              <a:rPr b="0" i="0" lang="en-US" sz="1250" u="none" cap="none" strike="noStrike">
                <a:solidFill>
                  <a:srgbClr val="CAD6DE"/>
                </a:solidFill>
                <a:latin typeface="Cabin"/>
                <a:ea typeface="Cabin"/>
                <a:cs typeface="Cabin"/>
                <a:sym typeface="Cabin"/>
              </a:rPr>
              <a:t>, </a:t>
            </a:r>
            <a:r>
              <a:rPr b="1" i="0" lang="en-US" sz="1250" u="none" cap="none" strike="noStrike">
                <a:solidFill>
                  <a:srgbClr val="CAD6DE"/>
                </a:solidFill>
                <a:latin typeface="Cabin"/>
                <a:ea typeface="Cabin"/>
                <a:cs typeface="Cabin"/>
                <a:sym typeface="Cabin"/>
              </a:rPr>
              <a:t>JavaScript (Fetch API)</a:t>
            </a:r>
            <a:r>
              <a:rPr b="0" i="0" lang="en-US" sz="1250" u="none" cap="none" strike="noStrike">
                <a:solidFill>
                  <a:srgbClr val="CAD6DE"/>
                </a:solidFill>
                <a:latin typeface="Cabin"/>
                <a:ea typeface="Cabin"/>
                <a:cs typeface="Cabin"/>
                <a:sym typeface="Cabin"/>
              </a:rPr>
              <a:t>.</a:t>
            </a:r>
            <a:endParaRPr b="0" i="0" sz="1250" u="none" cap="none" strike="noStrike">
              <a:solidFill>
                <a:schemeClr val="dk1"/>
              </a:solidFill>
              <a:latin typeface="Calibri"/>
              <a:ea typeface="Calibri"/>
              <a:cs typeface="Calibri"/>
              <a:sym typeface="Calibri"/>
            </a:endParaRPr>
          </a:p>
        </p:txBody>
      </p:sp>
      <p:pic>
        <p:nvPicPr>
          <p:cNvPr id="766" name="Google Shape;766;p60"/>
          <p:cNvPicPr preferRelativeResize="0"/>
          <p:nvPr/>
        </p:nvPicPr>
        <p:blipFill>
          <a:blip r:embed="rId3">
            <a:alphaModFix/>
          </a:blip>
          <a:stretch>
            <a:fillRect/>
          </a:stretch>
        </p:blipFill>
        <p:spPr>
          <a:xfrm>
            <a:off x="428475" y="1383250"/>
            <a:ext cx="5960624" cy="27802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61"/>
          <p:cNvSpPr/>
          <p:nvPr/>
        </p:nvSpPr>
        <p:spPr>
          <a:xfrm>
            <a:off x="698086" y="548580"/>
            <a:ext cx="10795500" cy="9387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b="0" i="0" lang="en-US" sz="2950" u="none" cap="none" strike="noStrike">
                <a:solidFill>
                  <a:srgbClr val="FFFFFF"/>
                </a:solidFill>
                <a:latin typeface="Unbounded"/>
                <a:ea typeface="Unbounded"/>
                <a:cs typeface="Unbounded"/>
                <a:sym typeface="Unbounded"/>
              </a:rPr>
              <a:t>Step 2: Formation Request Interception &amp; Geometric Slot Calculation</a:t>
            </a:r>
            <a:endParaRPr b="0" i="0" sz="2950" u="none" cap="none" strike="noStrike">
              <a:solidFill>
                <a:schemeClr val="dk1"/>
              </a:solidFill>
              <a:latin typeface="Calibri"/>
              <a:ea typeface="Calibri"/>
              <a:cs typeface="Calibri"/>
              <a:sym typeface="Calibri"/>
            </a:endParaRPr>
          </a:p>
        </p:txBody>
      </p:sp>
      <p:pic>
        <p:nvPicPr>
          <p:cNvPr descr="preencoded.png" id="773" name="Google Shape;773;p61"/>
          <p:cNvPicPr preferRelativeResize="0"/>
          <p:nvPr/>
        </p:nvPicPr>
        <p:blipFill rotWithShape="1">
          <a:blip r:embed="rId3">
            <a:alphaModFix/>
          </a:blip>
          <a:srcRect b="0" l="0" r="0" t="0"/>
          <a:stretch/>
        </p:blipFill>
        <p:spPr>
          <a:xfrm>
            <a:off x="698086" y="1822450"/>
            <a:ext cx="5325632" cy="659805"/>
          </a:xfrm>
          <a:prstGeom prst="rect">
            <a:avLst/>
          </a:prstGeom>
          <a:noFill/>
          <a:ln>
            <a:noFill/>
          </a:ln>
        </p:spPr>
      </p:pic>
      <p:pic>
        <p:nvPicPr>
          <p:cNvPr descr="preencoded.png" id="774" name="Google Shape;774;p61"/>
          <p:cNvPicPr preferRelativeResize="0"/>
          <p:nvPr/>
        </p:nvPicPr>
        <p:blipFill rotWithShape="1">
          <a:blip r:embed="rId4">
            <a:alphaModFix/>
          </a:blip>
          <a:srcRect b="0" l="0" r="0" t="0"/>
          <a:stretch/>
        </p:blipFill>
        <p:spPr>
          <a:xfrm>
            <a:off x="698086" y="2625824"/>
            <a:ext cx="5325632" cy="1753592"/>
          </a:xfrm>
          <a:prstGeom prst="rect">
            <a:avLst/>
          </a:prstGeom>
          <a:noFill/>
          <a:ln>
            <a:noFill/>
          </a:ln>
        </p:spPr>
      </p:pic>
      <p:sp>
        <p:nvSpPr>
          <p:cNvPr id="775" name="Google Shape;775;p61"/>
          <p:cNvSpPr/>
          <p:nvPr/>
        </p:nvSpPr>
        <p:spPr>
          <a:xfrm>
            <a:off x="6952324" y="1822451"/>
            <a:ext cx="4358700" cy="28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1" i="0" lang="en-US" sz="1550" u="none" cap="none" strike="noStrike">
                <a:solidFill>
                  <a:srgbClr val="CAD6DE"/>
                </a:solidFill>
                <a:latin typeface="Cabin"/>
                <a:ea typeface="Cabin"/>
                <a:cs typeface="Cabin"/>
                <a:sym typeface="Cabin"/>
              </a:rPr>
              <a:t>Steps:</a:t>
            </a:r>
            <a:endParaRPr b="0" i="0" sz="1550" u="none" cap="none" strike="noStrike">
              <a:solidFill>
                <a:schemeClr val="dk1"/>
              </a:solidFill>
              <a:latin typeface="Calibri"/>
              <a:ea typeface="Calibri"/>
              <a:cs typeface="Calibri"/>
              <a:sym typeface="Calibri"/>
            </a:endParaRPr>
          </a:p>
        </p:txBody>
      </p:sp>
      <p:sp>
        <p:nvSpPr>
          <p:cNvPr id="776" name="Google Shape;776;p61"/>
          <p:cNvSpPr/>
          <p:nvPr/>
        </p:nvSpPr>
        <p:spPr>
          <a:xfrm>
            <a:off x="6952324" y="2224584"/>
            <a:ext cx="3749100" cy="1435500"/>
          </a:xfrm>
          <a:prstGeom prst="rect">
            <a:avLst/>
          </a:prstGeom>
          <a:noFill/>
          <a:ln>
            <a:noFill/>
          </a:ln>
        </p:spPr>
        <p:txBody>
          <a:bodyPr anchorCtr="0" anchor="t" bIns="0" lIns="0" spcFirstLastPara="1" rIns="0" wrap="square" tIns="63825">
            <a:noAutofit/>
          </a:bodyPr>
          <a:lstStyle/>
          <a:p>
            <a:pPr indent="-314325" lvl="0" marL="457200" marR="0" rtl="0" algn="l">
              <a:lnSpc>
                <a:spcPct val="120000"/>
              </a:lnSpc>
              <a:spcBef>
                <a:spcPts val="0"/>
              </a:spcBef>
              <a:spcAft>
                <a:spcPts val="0"/>
              </a:spcAft>
              <a:buClr>
                <a:srgbClr val="CAD6DE"/>
              </a:buClr>
              <a:buSzPts val="1350"/>
              <a:buChar char="●"/>
            </a:pPr>
            <a:r>
              <a:rPr b="0" i="0" lang="en-US" sz="1350" u="none" cap="none" strike="noStrike">
                <a:solidFill>
                  <a:srgbClr val="CAD6DE"/>
                </a:solidFill>
                <a:latin typeface="Cabin"/>
                <a:ea typeface="Cabin"/>
                <a:cs typeface="Cabin"/>
                <a:sym typeface="Cabin"/>
              </a:rPr>
              <a:t>The coordinator receives the request to arrange drones in formation (e.g., </a:t>
            </a:r>
            <a:r>
              <a:rPr b="0" i="0" lang="en-US" sz="1350" u="none" cap="none" strike="noStrike">
                <a:solidFill>
                  <a:srgbClr val="CAD6DE"/>
                </a:solidFill>
                <a:highlight>
                  <a:srgbClr val="1E3543"/>
                </a:highlight>
                <a:latin typeface="Consolas"/>
                <a:ea typeface="Consolas"/>
                <a:cs typeface="Consolas"/>
                <a:sym typeface="Consolas"/>
              </a:rPr>
              <a:t>"line"</a:t>
            </a:r>
            <a:r>
              <a:rPr b="0" i="0" lang="en-US" sz="1350" u="none" cap="none" strike="noStrike">
                <a:solidFill>
                  <a:srgbClr val="CAD6DE"/>
                </a:solidFill>
                <a:latin typeface="Cabin"/>
                <a:ea typeface="Cabin"/>
                <a:cs typeface="Cabin"/>
                <a:sym typeface="Cabin"/>
              </a:rPr>
              <a:t> on topic </a:t>
            </a:r>
            <a:r>
              <a:rPr b="0" i="0" lang="en-US" sz="1350" u="none" cap="none" strike="noStrike">
                <a:solidFill>
                  <a:srgbClr val="CAD6DE"/>
                </a:solidFill>
                <a:highlight>
                  <a:srgbClr val="1E3543"/>
                </a:highlight>
                <a:latin typeface="Consolas"/>
                <a:ea typeface="Consolas"/>
                <a:cs typeface="Consolas"/>
                <a:sym typeface="Consolas"/>
              </a:rPr>
              <a:t>/swarm/formation</a:t>
            </a:r>
            <a:r>
              <a:rPr b="0" i="0" lang="en-US" sz="1350" u="none" cap="none" strike="noStrike">
                <a:solidFill>
                  <a:srgbClr val="CAD6DE"/>
                </a:solidFill>
                <a:latin typeface="Cabin"/>
                <a:ea typeface="Cabin"/>
                <a:cs typeface="Cabin"/>
                <a:sym typeface="Cabin"/>
              </a:rPr>
              <a:t>)</a:t>
            </a:r>
            <a:endParaRPr b="0" i="0" sz="1350" u="none" cap="none" strike="noStrike">
              <a:solidFill>
                <a:schemeClr val="dk1"/>
              </a:solidFill>
              <a:latin typeface="Calibri"/>
              <a:ea typeface="Calibri"/>
              <a:cs typeface="Calibri"/>
              <a:sym typeface="Calibri"/>
            </a:endParaRPr>
          </a:p>
          <a:p>
            <a:pPr indent="-314325" lvl="0" marL="457200" marR="0" rtl="0" algn="l">
              <a:lnSpc>
                <a:spcPct val="120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the Rust Coordinator locks the active Leader at the center and symmetrically computes target 3D offsets for all active Followers.</a:t>
            </a:r>
            <a:endParaRPr b="0" i="0" sz="1350" u="none" cap="none" strike="noStrike">
              <a:solidFill>
                <a:schemeClr val="dk1"/>
              </a:solidFill>
              <a:latin typeface="Calibri"/>
              <a:ea typeface="Calibri"/>
              <a:cs typeface="Calibri"/>
              <a:sym typeface="Calibri"/>
            </a:endParaRPr>
          </a:p>
        </p:txBody>
      </p:sp>
      <p:sp>
        <p:nvSpPr>
          <p:cNvPr id="777" name="Google Shape;777;p61"/>
          <p:cNvSpPr/>
          <p:nvPr/>
        </p:nvSpPr>
        <p:spPr>
          <a:xfrm>
            <a:off x="698086" y="5051028"/>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61"/>
          <p:cNvSpPr/>
          <p:nvPr/>
        </p:nvSpPr>
        <p:spPr>
          <a:xfrm>
            <a:off x="698086" y="5301456"/>
            <a:ext cx="10795524" cy="2815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50"/>
              <a:buFont typeface="Unbounded"/>
              <a:buNone/>
            </a:pPr>
            <a:r>
              <a:rPr b="0" i="0" lang="en-US" sz="1750" u="none" cap="none" strike="noStrike">
                <a:solidFill>
                  <a:srgbClr val="FFFFFF"/>
                </a:solidFill>
                <a:latin typeface="Unbounded"/>
                <a:ea typeface="Unbounded"/>
                <a:cs typeface="Unbounded"/>
                <a:sym typeface="Unbounded"/>
              </a:rPr>
              <a:t>Files &amp; Technology:</a:t>
            </a:r>
            <a:endParaRPr b="0" i="0" sz="1750" u="none" cap="none" strike="noStrike">
              <a:solidFill>
                <a:schemeClr val="dk1"/>
              </a:solidFill>
              <a:latin typeface="Calibri"/>
              <a:ea typeface="Calibri"/>
              <a:cs typeface="Calibri"/>
              <a:sym typeface="Calibri"/>
            </a:endParaRPr>
          </a:p>
        </p:txBody>
      </p:sp>
      <p:sp>
        <p:nvSpPr>
          <p:cNvPr id="779" name="Google Shape;779;p61"/>
          <p:cNvSpPr/>
          <p:nvPr/>
        </p:nvSpPr>
        <p:spPr>
          <a:xfrm>
            <a:off x="698086" y="5774531"/>
            <a:ext cx="10795524" cy="510381"/>
          </a:xfrm>
          <a:prstGeom prst="rect">
            <a:avLst/>
          </a:prstGeom>
          <a:noFill/>
          <a:ln>
            <a:noFill/>
          </a:ln>
        </p:spPr>
        <p:txBody>
          <a:bodyPr anchorCtr="0" anchor="t" bIns="0" lIns="0" spcFirstLastPara="1" rIns="0" wrap="square" tIns="63825">
            <a:noAutofit/>
          </a:bodyPr>
          <a:lstStyle/>
          <a:p>
            <a:pPr indent="-254000" lvl="0" marL="254000" marR="0" rtl="0" algn="l">
              <a:lnSpc>
                <a:spcPct val="120000"/>
              </a:lnSpc>
              <a:spcBef>
                <a:spcPts val="0"/>
              </a:spcBef>
              <a:spcAft>
                <a:spcPts val="0"/>
              </a:spcAft>
              <a:buClr>
                <a:srgbClr val="CAD6DE"/>
              </a:buClr>
              <a:buSzPts val="1250"/>
              <a:buFont typeface="Consolas"/>
              <a:buChar char="•"/>
            </a:pPr>
            <a:r>
              <a:rPr b="0" i="0" lang="en-US" sz="1250" u="none" cap="none" strike="noStrike">
                <a:solidFill>
                  <a:srgbClr val="CAD6DE"/>
                </a:solidFill>
                <a:highlight>
                  <a:srgbClr val="1E3543"/>
                </a:highlight>
                <a:latin typeface="Consolas"/>
                <a:ea typeface="Consolas"/>
                <a:cs typeface="Consolas"/>
                <a:sym typeface="Consolas"/>
              </a:rPr>
              <a:t>main.rs</a:t>
            </a:r>
            <a:endParaRPr b="0" i="0" sz="1250" u="none" cap="none" strike="noStrike">
              <a:solidFill>
                <a:schemeClr val="dk1"/>
              </a:solidFill>
              <a:latin typeface="Calibri"/>
              <a:ea typeface="Calibri"/>
              <a:cs typeface="Calibri"/>
              <a:sym typeface="Calibri"/>
            </a:endParaRPr>
          </a:p>
          <a:p>
            <a:pPr indent="-254000" lvl="0" marL="254000" marR="0" rtl="0" algn="l">
              <a:lnSpc>
                <a:spcPct val="120000"/>
              </a:lnSpc>
              <a:spcBef>
                <a:spcPts val="0"/>
              </a:spcBef>
              <a:spcAft>
                <a:spcPts val="0"/>
              </a:spcAft>
              <a:buClr>
                <a:srgbClr val="CAD6DE"/>
              </a:buClr>
              <a:buSzPts val="1250"/>
              <a:buFont typeface="Cabin"/>
              <a:buChar char="•"/>
            </a:pPr>
            <a:r>
              <a:rPr b="1" i="0" lang="en-US" sz="1250" u="none" cap="none" strike="noStrike">
                <a:solidFill>
                  <a:srgbClr val="CAD6DE"/>
                </a:solidFill>
                <a:latin typeface="Cabin"/>
                <a:ea typeface="Cabin"/>
                <a:cs typeface="Cabin"/>
                <a:sym typeface="Cabin"/>
              </a:rPr>
              <a:t>ROS 2 Topic Subscriber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62"/>
          <p:cNvSpPr/>
          <p:nvPr/>
        </p:nvSpPr>
        <p:spPr>
          <a:xfrm>
            <a:off x="698086" y="548580"/>
            <a:ext cx="10795524" cy="498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100"/>
              <a:buFont typeface="Unbounded"/>
              <a:buNone/>
            </a:pPr>
            <a:r>
              <a:rPr b="0" i="0" lang="en-US" sz="3100" u="none" cap="none" strike="noStrike">
                <a:solidFill>
                  <a:srgbClr val="FFFFFF"/>
                </a:solidFill>
                <a:latin typeface="Unbounded"/>
                <a:ea typeface="Unbounded"/>
                <a:cs typeface="Unbounded"/>
                <a:sym typeface="Unbounded"/>
              </a:rPr>
              <a:t>Step </a:t>
            </a:r>
            <a:r>
              <a:rPr lang="en-US" sz="3100">
                <a:solidFill>
                  <a:srgbClr val="FFFFFF"/>
                </a:solidFill>
                <a:latin typeface="Unbounded"/>
                <a:ea typeface="Unbounded"/>
                <a:cs typeface="Unbounded"/>
                <a:sym typeface="Unbounded"/>
              </a:rPr>
              <a:t>3</a:t>
            </a:r>
            <a:r>
              <a:rPr b="0" i="0" lang="en-US" sz="3100" u="none" cap="none" strike="noStrike">
                <a:solidFill>
                  <a:srgbClr val="FFFFFF"/>
                </a:solidFill>
                <a:latin typeface="Unbounded"/>
                <a:ea typeface="Unbounded"/>
                <a:cs typeface="Unbounded"/>
                <a:sym typeface="Unbounded"/>
              </a:rPr>
              <a:t>: Asynchronous Target Dispatch</a:t>
            </a:r>
            <a:endParaRPr b="0" i="0" sz="3100" u="none" cap="none" strike="noStrike">
              <a:solidFill>
                <a:schemeClr val="dk1"/>
              </a:solidFill>
              <a:latin typeface="Calibri"/>
              <a:ea typeface="Calibri"/>
              <a:cs typeface="Calibri"/>
              <a:sym typeface="Calibri"/>
            </a:endParaRPr>
          </a:p>
        </p:txBody>
      </p:sp>
      <p:sp>
        <p:nvSpPr>
          <p:cNvPr id="786" name="Google Shape;786;p62"/>
          <p:cNvSpPr/>
          <p:nvPr/>
        </p:nvSpPr>
        <p:spPr>
          <a:xfrm>
            <a:off x="7766054" y="1393031"/>
            <a:ext cx="4343391" cy="31363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650"/>
              <a:buFont typeface="Cabin"/>
              <a:buNone/>
            </a:pPr>
            <a:r>
              <a:rPr b="1" i="0" lang="en-US" sz="1650" u="none" cap="none" strike="noStrike">
                <a:solidFill>
                  <a:srgbClr val="CAD6DE"/>
                </a:solidFill>
                <a:latin typeface="Cabin"/>
                <a:ea typeface="Cabin"/>
                <a:cs typeface="Cabin"/>
                <a:sym typeface="Cabin"/>
              </a:rPr>
              <a:t>Steps:</a:t>
            </a:r>
            <a:endParaRPr b="0" i="0" sz="1650" u="none" cap="none" strike="noStrike">
              <a:solidFill>
                <a:schemeClr val="dk1"/>
              </a:solidFill>
              <a:latin typeface="Calibri"/>
              <a:ea typeface="Calibri"/>
              <a:cs typeface="Calibri"/>
              <a:sym typeface="Calibri"/>
            </a:endParaRPr>
          </a:p>
        </p:txBody>
      </p:sp>
      <p:sp>
        <p:nvSpPr>
          <p:cNvPr id="787" name="Google Shape;787;p62"/>
          <p:cNvSpPr/>
          <p:nvPr/>
        </p:nvSpPr>
        <p:spPr>
          <a:xfrm>
            <a:off x="7766050" y="1836350"/>
            <a:ext cx="4039200" cy="2371800"/>
          </a:xfrm>
          <a:prstGeom prst="rect">
            <a:avLst/>
          </a:prstGeom>
          <a:noFill/>
          <a:ln>
            <a:noFill/>
          </a:ln>
        </p:spPr>
        <p:txBody>
          <a:bodyPr anchorCtr="0" anchor="t" bIns="0" lIns="0" spcFirstLastPara="1" rIns="0" wrap="square" tIns="67800">
            <a:noAutofit/>
          </a:bodyPr>
          <a:lstStyle/>
          <a:p>
            <a:pPr indent="-311150" lvl="0" marL="457200" marR="0" rtl="0" algn="l">
              <a:lnSpc>
                <a:spcPct val="123000"/>
              </a:lnSpc>
              <a:spcBef>
                <a:spcPts val="0"/>
              </a:spcBef>
              <a:spcAft>
                <a:spcPts val="0"/>
              </a:spcAft>
              <a:buClr>
                <a:srgbClr val="CAD6DE"/>
              </a:buClr>
              <a:buSzPts val="1300"/>
              <a:buChar char="●"/>
            </a:pPr>
            <a:r>
              <a:rPr b="0" i="0" lang="en-US" sz="1300" u="none" cap="none" strike="noStrike">
                <a:solidFill>
                  <a:srgbClr val="CAD6DE"/>
                </a:solidFill>
                <a:latin typeface="Cabin"/>
                <a:ea typeface="Cabin"/>
                <a:cs typeface="Cabin"/>
                <a:sym typeface="Cabin"/>
              </a:rPr>
              <a:t>The Coordinator dispatches individual target commands via </a:t>
            </a:r>
            <a:r>
              <a:rPr b="0" i="0" lang="en-US" sz="1300" u="none" cap="none" strike="noStrike">
                <a:solidFill>
                  <a:srgbClr val="CAD6DE"/>
                </a:solidFill>
                <a:highlight>
                  <a:srgbClr val="1E3543"/>
                </a:highlight>
                <a:latin typeface="Consolas"/>
                <a:ea typeface="Consolas"/>
                <a:cs typeface="Consolas"/>
                <a:sym typeface="Consolas"/>
              </a:rPr>
              <a:t>ros2 topic pub</a:t>
            </a:r>
            <a:r>
              <a:rPr b="0" i="0" lang="en-US" sz="1300" u="none" cap="none" strike="noStrike">
                <a:solidFill>
                  <a:srgbClr val="CAD6DE"/>
                </a:solidFill>
                <a:latin typeface="Cabin"/>
                <a:ea typeface="Cabin"/>
                <a:cs typeface="Cabin"/>
                <a:sym typeface="Cabin"/>
              </a:rPr>
              <a:t> on topic </a:t>
            </a:r>
            <a:r>
              <a:rPr b="0" i="0" lang="en-US" sz="1300" u="none" cap="none" strike="noStrike">
                <a:solidFill>
                  <a:srgbClr val="CAD6DE"/>
                </a:solidFill>
                <a:highlight>
                  <a:srgbClr val="1E3543"/>
                </a:highlight>
                <a:latin typeface="Consolas"/>
                <a:ea typeface="Consolas"/>
                <a:cs typeface="Consolas"/>
                <a:sym typeface="Consolas"/>
              </a:rPr>
              <a:t>/swarm/goto</a:t>
            </a:r>
            <a:endParaRPr b="0" i="0" sz="1300" u="none" cap="none" strike="noStrike">
              <a:solidFill>
                <a:schemeClr val="dk1"/>
              </a:solidFill>
              <a:latin typeface="Calibri"/>
              <a:ea typeface="Calibri"/>
              <a:cs typeface="Calibri"/>
              <a:sym typeface="Calibri"/>
            </a:endParaRPr>
          </a:p>
          <a:p>
            <a:pPr indent="-311150" lvl="0" marL="45720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Each drone's Python agent receives its assigned target</a:t>
            </a:r>
            <a:endParaRPr b="0" i="0" sz="1300" u="none" cap="none" strike="noStrike">
              <a:solidFill>
                <a:schemeClr val="dk1"/>
              </a:solidFill>
              <a:latin typeface="Calibri"/>
              <a:ea typeface="Calibri"/>
              <a:cs typeface="Calibri"/>
              <a:sym typeface="Calibri"/>
            </a:endParaRPr>
          </a:p>
          <a:p>
            <a:pPr indent="-311150" lvl="0" marL="457200" marR="0" rtl="0" algn="l">
              <a:lnSpc>
                <a:spcPct val="123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Each drone drives its motors using a P-Controller at 20 Hz, while applying Artificial Potential Fields (APF) to maintain safe distances from peer drones avoiding collisions</a:t>
            </a:r>
            <a:endParaRPr b="0" i="0" sz="1300" u="none" cap="none" strike="noStrike">
              <a:solidFill>
                <a:schemeClr val="dk1"/>
              </a:solidFill>
              <a:latin typeface="Calibri"/>
              <a:ea typeface="Calibri"/>
              <a:cs typeface="Calibri"/>
              <a:sym typeface="Calibri"/>
            </a:endParaRPr>
          </a:p>
        </p:txBody>
      </p:sp>
      <p:sp>
        <p:nvSpPr>
          <p:cNvPr id="788" name="Google Shape;788;p62"/>
          <p:cNvSpPr/>
          <p:nvPr/>
        </p:nvSpPr>
        <p:spPr>
          <a:xfrm>
            <a:off x="698086" y="4922937"/>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62"/>
          <p:cNvSpPr/>
          <p:nvPr/>
        </p:nvSpPr>
        <p:spPr>
          <a:xfrm>
            <a:off x="698086" y="5200452"/>
            <a:ext cx="10795524" cy="2992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50"/>
              <a:buFont typeface="Unbounded"/>
              <a:buNone/>
            </a:pPr>
            <a:r>
              <a:rPr b="0" i="0" lang="en-US" sz="1850" u="none" cap="none" strike="noStrike">
                <a:solidFill>
                  <a:srgbClr val="FFFFFF"/>
                </a:solidFill>
                <a:latin typeface="Unbounded"/>
                <a:ea typeface="Unbounded"/>
                <a:cs typeface="Unbounded"/>
                <a:sym typeface="Unbounded"/>
              </a:rPr>
              <a:t>Files &amp; Technology:</a:t>
            </a:r>
            <a:endParaRPr b="0" i="0" sz="1850" u="none" cap="none" strike="noStrike">
              <a:solidFill>
                <a:schemeClr val="dk1"/>
              </a:solidFill>
              <a:latin typeface="Calibri"/>
              <a:ea typeface="Calibri"/>
              <a:cs typeface="Calibri"/>
              <a:sym typeface="Calibri"/>
            </a:endParaRPr>
          </a:p>
        </p:txBody>
      </p:sp>
      <p:sp>
        <p:nvSpPr>
          <p:cNvPr id="790" name="Google Shape;790;p62"/>
          <p:cNvSpPr/>
          <p:nvPr/>
        </p:nvSpPr>
        <p:spPr>
          <a:xfrm>
            <a:off x="698086" y="5715794"/>
            <a:ext cx="10795524" cy="558602"/>
          </a:xfrm>
          <a:prstGeom prst="rect">
            <a:avLst/>
          </a:prstGeom>
          <a:noFill/>
          <a:ln>
            <a:noFill/>
          </a:ln>
        </p:spPr>
        <p:txBody>
          <a:bodyPr anchorCtr="0" anchor="t" bIns="0" lIns="0" spcFirstLastPara="1" rIns="0" wrap="square" tIns="67800">
            <a:noAutofit/>
          </a:bodyPr>
          <a:lstStyle/>
          <a:p>
            <a:pPr indent="-264160" lvl="0" marL="264160" marR="0" rtl="0" algn="l">
              <a:lnSpc>
                <a:spcPct val="123000"/>
              </a:lnSpc>
              <a:spcBef>
                <a:spcPts val="0"/>
              </a:spcBef>
              <a:spcAft>
                <a:spcPts val="0"/>
              </a:spcAft>
              <a:buClr>
                <a:srgbClr val="CAD6DE"/>
              </a:buClr>
              <a:buSzPts val="1300"/>
              <a:buFont typeface="Consolas"/>
              <a:buChar char="•"/>
            </a:pPr>
            <a:r>
              <a:rPr b="0" i="0" lang="en-US" sz="1300" u="none" cap="none" strike="noStrike">
                <a:solidFill>
                  <a:srgbClr val="CAD6DE"/>
                </a:solidFill>
                <a:highlight>
                  <a:srgbClr val="1E3543"/>
                </a:highlight>
                <a:latin typeface="Consolas"/>
                <a:ea typeface="Consolas"/>
                <a:cs typeface="Consolas"/>
                <a:sym typeface="Consolas"/>
              </a:rPr>
              <a:t>main.rs</a:t>
            </a:r>
            <a:r>
              <a:rPr b="0" i="0" lang="en-US" sz="1300" u="none" cap="none" strike="noStrike">
                <a:solidFill>
                  <a:srgbClr val="CAD6DE"/>
                </a:solidFill>
                <a:latin typeface="Cabin"/>
                <a:ea typeface="Cabin"/>
                <a:cs typeface="Cabin"/>
                <a:sym typeface="Cabin"/>
              </a:rPr>
              <a:t> &amp; </a:t>
            </a:r>
            <a:r>
              <a:rPr b="0" i="0" lang="en-US" sz="1300" u="none" cap="none" strike="noStrike">
                <a:solidFill>
                  <a:srgbClr val="CAD6DE"/>
                </a:solidFill>
                <a:highlight>
                  <a:srgbClr val="1E3543"/>
                </a:highlight>
                <a:latin typeface="Consolas"/>
                <a:ea typeface="Consolas"/>
                <a:cs typeface="Consolas"/>
                <a:sym typeface="Consolas"/>
              </a:rPr>
              <a:t>drone_agent_wrapper</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CAD6DE"/>
              </a:buClr>
              <a:buSzPts val="1300"/>
              <a:buFont typeface="Cabin"/>
              <a:buChar char="•"/>
            </a:pPr>
            <a:r>
              <a:rPr b="1" i="0" lang="en-US" sz="1300" u="none" cap="none" strike="noStrike">
                <a:solidFill>
                  <a:srgbClr val="CAD6DE"/>
                </a:solidFill>
                <a:latin typeface="Cabin"/>
                <a:ea typeface="Cabin"/>
                <a:cs typeface="Cabin"/>
                <a:sym typeface="Cabin"/>
              </a:rPr>
              <a:t>ROS 2 Topic Publisher</a:t>
            </a:r>
            <a:r>
              <a:rPr b="0" i="0" lang="en-US" sz="1300" u="none" cap="none" strike="noStrike">
                <a:solidFill>
                  <a:srgbClr val="CAD6DE"/>
                </a:solidFill>
                <a:latin typeface="Cabin"/>
                <a:ea typeface="Cabin"/>
                <a:cs typeface="Cabin"/>
                <a:sym typeface="Cabin"/>
              </a:rPr>
              <a:t>, </a:t>
            </a:r>
            <a:r>
              <a:rPr b="1" i="0" lang="en-US" sz="1300" u="none" cap="none" strike="noStrike">
                <a:solidFill>
                  <a:srgbClr val="CAD6DE"/>
                </a:solidFill>
                <a:latin typeface="Cabin"/>
                <a:ea typeface="Cabin"/>
                <a:cs typeface="Cabin"/>
                <a:sym typeface="Cabin"/>
              </a:rPr>
              <a:t>Python P-Controller</a:t>
            </a:r>
            <a:r>
              <a:rPr b="0" i="0" lang="en-US" sz="1300" u="none" cap="none" strike="noStrike">
                <a:solidFill>
                  <a:srgbClr val="CAD6DE"/>
                </a:solidFill>
                <a:latin typeface="Cabin"/>
                <a:ea typeface="Cabin"/>
                <a:cs typeface="Cabin"/>
                <a:sym typeface="Cabin"/>
              </a:rPr>
              <a:t>, </a:t>
            </a:r>
            <a:r>
              <a:rPr b="1" i="0" lang="en-US" sz="1300" u="none" cap="none" strike="noStrike">
                <a:solidFill>
                  <a:srgbClr val="CAD6DE"/>
                </a:solidFill>
                <a:latin typeface="Cabin"/>
                <a:ea typeface="Cabin"/>
                <a:cs typeface="Cabin"/>
                <a:sym typeface="Cabin"/>
              </a:rPr>
              <a:t>3D Artificial Potential Fields (APF)</a:t>
            </a:r>
            <a:r>
              <a:rPr b="0" i="0" lang="en-US" sz="1300" u="none" cap="none" strike="noStrike">
                <a:solidFill>
                  <a:srgbClr val="CAD6DE"/>
                </a:solidFill>
                <a:latin typeface="Cabin"/>
                <a:ea typeface="Cabin"/>
                <a:cs typeface="Cabin"/>
                <a:sym typeface="Cabin"/>
              </a:rPr>
              <a:t>.</a:t>
            </a:r>
            <a:endParaRPr b="0" i="0" sz="1300" u="none" cap="none" strike="noStrike">
              <a:solidFill>
                <a:schemeClr val="dk1"/>
              </a:solidFill>
              <a:latin typeface="Calibri"/>
              <a:ea typeface="Calibri"/>
              <a:cs typeface="Calibri"/>
              <a:sym typeface="Calibri"/>
            </a:endParaRPr>
          </a:p>
        </p:txBody>
      </p:sp>
      <p:pic>
        <p:nvPicPr>
          <p:cNvPr id="791" name="Google Shape;791;p62"/>
          <p:cNvPicPr preferRelativeResize="0"/>
          <p:nvPr/>
        </p:nvPicPr>
        <p:blipFill>
          <a:blip r:embed="rId3">
            <a:alphaModFix/>
          </a:blip>
          <a:stretch>
            <a:fillRect/>
          </a:stretch>
        </p:blipFill>
        <p:spPr>
          <a:xfrm>
            <a:off x="549123" y="1483550"/>
            <a:ext cx="7044154" cy="11295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63"/>
          <p:cNvSpPr/>
          <p:nvPr/>
        </p:nvSpPr>
        <p:spPr>
          <a:xfrm>
            <a:off x="698086" y="548580"/>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Step </a:t>
            </a:r>
            <a:r>
              <a:rPr lang="en-US" sz="3650">
                <a:solidFill>
                  <a:srgbClr val="FFFFFF"/>
                </a:solidFill>
                <a:latin typeface="Unbounded"/>
                <a:ea typeface="Unbounded"/>
                <a:cs typeface="Unbounded"/>
                <a:sym typeface="Unbounded"/>
              </a:rPr>
              <a:t>4</a:t>
            </a:r>
            <a:r>
              <a:rPr b="0" i="0" lang="en-US" sz="3650" u="none" cap="none" strike="noStrike">
                <a:solidFill>
                  <a:srgbClr val="FFFFFF"/>
                </a:solidFill>
                <a:latin typeface="Unbounded"/>
                <a:ea typeface="Unbounded"/>
                <a:cs typeface="Unbounded"/>
                <a:sym typeface="Unbounded"/>
              </a:rPr>
              <a:t>: Collision avoidance</a:t>
            </a:r>
            <a:endParaRPr b="0" i="0" sz="3650" u="none" cap="none" strike="noStrike">
              <a:solidFill>
                <a:schemeClr val="dk1"/>
              </a:solidFill>
              <a:latin typeface="Calibri"/>
              <a:ea typeface="Calibri"/>
              <a:cs typeface="Calibri"/>
              <a:sym typeface="Calibri"/>
            </a:endParaRPr>
          </a:p>
        </p:txBody>
      </p:sp>
      <p:sp>
        <p:nvSpPr>
          <p:cNvPr id="798" name="Google Shape;798;p63"/>
          <p:cNvSpPr/>
          <p:nvPr/>
        </p:nvSpPr>
        <p:spPr>
          <a:xfrm>
            <a:off x="698086" y="1534220"/>
            <a:ext cx="11405108" cy="39885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950"/>
              <a:buFont typeface="Cabin"/>
              <a:buNone/>
            </a:pPr>
            <a:r>
              <a:rPr b="0" i="0" lang="en-US" sz="1950" u="none" cap="none" strike="noStrike">
                <a:solidFill>
                  <a:srgbClr val="CAD6DE"/>
                </a:solidFill>
                <a:latin typeface="Cabin"/>
                <a:ea typeface="Cabin"/>
                <a:cs typeface="Cabin"/>
                <a:sym typeface="Cabin"/>
              </a:rPr>
              <a:t>Steps:</a:t>
            </a:r>
            <a:endParaRPr b="0" i="0" sz="1950" u="none" cap="none" strike="noStrike">
              <a:solidFill>
                <a:schemeClr val="dk1"/>
              </a:solidFill>
              <a:latin typeface="Calibri"/>
              <a:ea typeface="Calibri"/>
              <a:cs typeface="Calibri"/>
              <a:sym typeface="Calibri"/>
            </a:endParaRPr>
          </a:p>
        </p:txBody>
      </p:sp>
      <p:sp>
        <p:nvSpPr>
          <p:cNvPr id="799" name="Google Shape;799;p63"/>
          <p:cNvSpPr/>
          <p:nvPr/>
        </p:nvSpPr>
        <p:spPr>
          <a:xfrm>
            <a:off x="698086" y="2157413"/>
            <a:ext cx="10795524" cy="1027311"/>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To prevent mid-air collisions during formation changes, the Coordinator assigns staggered transit flight altitudes 4.8m for even-indexed followers, 5.6m for odd-indexed followers). Adjacent drones never cross horizontal space at the same height.</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1" lang="en-US" sz="1550">
                <a:solidFill>
                  <a:srgbClr val="CAD6DE"/>
                </a:solidFill>
                <a:latin typeface="Cabin"/>
                <a:ea typeface="Cabin"/>
                <a:cs typeface="Cabin"/>
                <a:sym typeface="Cabin"/>
              </a:rPr>
              <a:t>APF (Artificial Potential Fields): </a:t>
            </a:r>
            <a:r>
              <a:rPr lang="en-US" sz="1550">
                <a:solidFill>
                  <a:srgbClr val="CAD6DE"/>
                </a:solidFill>
                <a:latin typeface="Cabin"/>
                <a:ea typeface="Cabin"/>
                <a:cs typeface="Cabin"/>
                <a:sym typeface="Cabin"/>
              </a:rPr>
              <a:t>each drone applies a 3D repulsive forces to prevent collisions between neighboring drones</a:t>
            </a:r>
            <a:endParaRPr b="0" i="0" sz="1550" u="none" cap="none" strike="noStrike">
              <a:solidFill>
                <a:schemeClr val="dk1"/>
              </a:solidFill>
              <a:latin typeface="Calibri"/>
              <a:ea typeface="Calibri"/>
              <a:cs typeface="Calibri"/>
              <a:sym typeface="Calibri"/>
            </a:endParaRPr>
          </a:p>
        </p:txBody>
      </p:sp>
      <p:sp>
        <p:nvSpPr>
          <p:cNvPr id="800" name="Google Shape;800;p63"/>
          <p:cNvSpPr/>
          <p:nvPr/>
        </p:nvSpPr>
        <p:spPr>
          <a:xfrm>
            <a:off x="698086" y="4002385"/>
            <a:ext cx="10795524" cy="2540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63"/>
          <p:cNvSpPr/>
          <p:nvPr/>
        </p:nvSpPr>
        <p:spPr>
          <a:xfrm>
            <a:off x="698086" y="4376738"/>
            <a:ext cx="10795524" cy="35192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00"/>
              <a:buFont typeface="Unbounded"/>
              <a:buNone/>
            </a:pPr>
            <a:r>
              <a:rPr b="0" i="0" lang="en-US" sz="2200" u="none" cap="none" strike="noStrike">
                <a:solidFill>
                  <a:srgbClr val="FFFFFF"/>
                </a:solidFill>
                <a:latin typeface="Unbounded"/>
                <a:ea typeface="Unbounded"/>
                <a:cs typeface="Unbounded"/>
                <a:sym typeface="Unbounded"/>
              </a:rPr>
              <a:t>Files &amp; Technology:</a:t>
            </a:r>
            <a:endParaRPr b="0" i="0" sz="2200" u="none" cap="none" strike="noStrike">
              <a:solidFill>
                <a:schemeClr val="dk1"/>
              </a:solidFill>
              <a:latin typeface="Calibri"/>
              <a:ea typeface="Calibri"/>
              <a:cs typeface="Calibri"/>
              <a:sym typeface="Calibri"/>
            </a:endParaRPr>
          </a:p>
        </p:txBody>
      </p:sp>
      <p:sp>
        <p:nvSpPr>
          <p:cNvPr id="802" name="Google Shape;802;p63"/>
          <p:cNvSpPr/>
          <p:nvPr/>
        </p:nvSpPr>
        <p:spPr>
          <a:xfrm>
            <a:off x="698086" y="5027811"/>
            <a:ext cx="10795524" cy="714474"/>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CAD6DE"/>
              </a:buClr>
              <a:buSzPts val="1550"/>
              <a:buFont typeface="Consolas"/>
              <a:buChar char="•"/>
            </a:pPr>
            <a:r>
              <a:rPr b="0" i="0" lang="en-US" sz="1550" u="none" cap="none" strike="noStrike">
                <a:solidFill>
                  <a:srgbClr val="CAD6DE"/>
                </a:solidFill>
                <a:highlight>
                  <a:srgbClr val="1E3543"/>
                </a:highlight>
                <a:latin typeface="Consolas"/>
                <a:ea typeface="Consolas"/>
                <a:cs typeface="Consolas"/>
                <a:sym typeface="Consolas"/>
              </a:rPr>
              <a:t>main.rs</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1" i="0" lang="en-US" sz="1550" u="none" cap="none" strike="noStrike">
                <a:solidFill>
                  <a:srgbClr val="CAD6DE"/>
                </a:solidFill>
                <a:latin typeface="Cabin"/>
                <a:ea typeface="Cabin"/>
                <a:cs typeface="Cabin"/>
                <a:sym typeface="Cabin"/>
              </a:rPr>
              <a:t>Altitude Layering Collision Avoidance Protocol, Rust State Matching.</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pic>
        <p:nvPicPr>
          <p:cNvPr descr="preencoded.png" id="808" name="Google Shape;808;p64"/>
          <p:cNvPicPr preferRelativeResize="0"/>
          <p:nvPr/>
        </p:nvPicPr>
        <p:blipFill rotWithShape="1">
          <a:blip r:embed="rId3">
            <a:alphaModFix/>
          </a:blip>
          <a:srcRect b="0" l="0" r="0" t="0"/>
          <a:stretch/>
        </p:blipFill>
        <p:spPr>
          <a:xfrm>
            <a:off x="0" y="0"/>
            <a:ext cx="6095848" cy="6858000"/>
          </a:xfrm>
          <a:prstGeom prst="rect">
            <a:avLst/>
          </a:prstGeom>
          <a:noFill/>
          <a:ln>
            <a:noFill/>
          </a:ln>
        </p:spPr>
      </p:pic>
      <p:sp>
        <p:nvSpPr>
          <p:cNvPr id="809" name="Google Shape;809;p64"/>
          <p:cNvSpPr/>
          <p:nvPr/>
        </p:nvSpPr>
        <p:spPr>
          <a:xfrm>
            <a:off x="6793933" y="2373511"/>
            <a:ext cx="4699676" cy="11733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Failure and repair</a:t>
            </a:r>
            <a:endParaRPr b="0" i="0" sz="3650" u="none" cap="none" strike="noStrike">
              <a:solidFill>
                <a:schemeClr val="dk1"/>
              </a:solidFill>
              <a:latin typeface="Calibri"/>
              <a:ea typeface="Calibri"/>
              <a:cs typeface="Calibri"/>
              <a:sym typeface="Calibri"/>
            </a:endParaRPr>
          </a:p>
        </p:txBody>
      </p:sp>
      <p:sp>
        <p:nvSpPr>
          <p:cNvPr id="810" name="Google Shape;810;p64"/>
          <p:cNvSpPr/>
          <p:nvPr/>
        </p:nvSpPr>
        <p:spPr>
          <a:xfrm>
            <a:off x="6793933" y="3846016"/>
            <a:ext cx="4699676"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A988B"/>
              </a:buClr>
              <a:buSzPts val="1550"/>
              <a:buFont typeface="Cabin"/>
              <a:buNone/>
            </a:pPr>
            <a:r>
              <a:rPr b="0" i="0" lang="en-US" sz="1550" u="none" cap="none" strike="noStrike">
                <a:solidFill>
                  <a:srgbClr val="0A988B"/>
                </a:solidFill>
                <a:latin typeface="Cabin"/>
                <a:ea typeface="Cabin"/>
                <a:cs typeface="Cabin"/>
                <a:sym typeface="Cabin"/>
              </a:rPr>
              <a:t>Fail and Recovery </a:t>
            </a:r>
            <a:r>
              <a:rPr b="0" i="0" lang="en-US" sz="1550" u="none" cap="none" strike="noStrike">
                <a:solidFill>
                  <a:srgbClr val="CAD6DE"/>
                </a:solidFill>
                <a:latin typeface="Cabin"/>
                <a:ea typeface="Cabin"/>
                <a:cs typeface="Cabin"/>
                <a:sym typeface="Cabin"/>
              </a:rPr>
              <a:t>— Full logical steps to simulate failure of a drone and recovery</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65"/>
          <p:cNvSpPr/>
          <p:nvPr/>
        </p:nvSpPr>
        <p:spPr>
          <a:xfrm>
            <a:off x="698086" y="809129"/>
            <a:ext cx="10795524" cy="41056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550"/>
              <a:buFont typeface="Unbounded"/>
              <a:buNone/>
            </a:pPr>
            <a:r>
              <a:rPr b="0" i="0" lang="en-US" sz="2550" u="none" cap="none" strike="noStrike">
                <a:solidFill>
                  <a:srgbClr val="FFFFFF"/>
                </a:solidFill>
                <a:latin typeface="Unbounded"/>
                <a:ea typeface="Unbounded"/>
                <a:cs typeface="Unbounded"/>
                <a:sym typeface="Unbounded"/>
              </a:rPr>
              <a:t>Scenario 1: </a:t>
            </a:r>
            <a:r>
              <a:rPr b="1" i="0" lang="en-US" sz="2550" u="none" cap="none" strike="noStrike">
                <a:solidFill>
                  <a:srgbClr val="FFFFFF"/>
                </a:solidFill>
                <a:latin typeface="Unbounded"/>
                <a:ea typeface="Unbounded"/>
                <a:cs typeface="Unbounded"/>
                <a:sym typeface="Unbounded"/>
              </a:rPr>
              <a:t>Follower</a:t>
            </a:r>
            <a:r>
              <a:rPr b="0" i="0" lang="en-US" sz="2550" u="none" cap="none" strike="noStrike">
                <a:solidFill>
                  <a:srgbClr val="FFFFFF"/>
                </a:solidFill>
                <a:latin typeface="Unbounded"/>
                <a:ea typeface="Unbounded"/>
                <a:cs typeface="Unbounded"/>
                <a:sym typeface="Unbounded"/>
              </a:rPr>
              <a:t> Drone Failure </a:t>
            </a:r>
            <a:endParaRPr b="0" i="0" sz="2550" u="none" cap="none" strike="noStrike">
              <a:solidFill>
                <a:schemeClr val="dk1"/>
              </a:solidFill>
              <a:latin typeface="Calibri"/>
              <a:ea typeface="Calibri"/>
              <a:cs typeface="Calibri"/>
              <a:sym typeface="Calibri"/>
            </a:endParaRPr>
          </a:p>
        </p:txBody>
      </p:sp>
      <p:pic>
        <p:nvPicPr>
          <p:cNvPr descr="preencoded.png" id="817" name="Google Shape;817;p65"/>
          <p:cNvPicPr preferRelativeResize="0"/>
          <p:nvPr/>
        </p:nvPicPr>
        <p:blipFill rotWithShape="1">
          <a:blip r:embed="rId3">
            <a:alphaModFix/>
          </a:blip>
          <a:srcRect b="0" l="0" r="0" t="0"/>
          <a:stretch/>
        </p:blipFill>
        <p:spPr>
          <a:xfrm>
            <a:off x="1283986" y="2080345"/>
            <a:ext cx="3533290" cy="2066727"/>
          </a:xfrm>
          <a:prstGeom prst="rect">
            <a:avLst/>
          </a:prstGeom>
          <a:noFill/>
          <a:ln>
            <a:noFill/>
          </a:ln>
        </p:spPr>
      </p:pic>
      <p:sp>
        <p:nvSpPr>
          <p:cNvPr id="818" name="Google Shape;818;p65"/>
          <p:cNvSpPr/>
          <p:nvPr/>
        </p:nvSpPr>
        <p:spPr>
          <a:xfrm>
            <a:off x="2966892" y="2185020"/>
            <a:ext cx="1674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Unbounded"/>
              <a:buNone/>
            </a:pPr>
            <a:r>
              <a:rPr b="0" i="0" lang="en-US" sz="1300" u="none" cap="none" strike="noStrike">
                <a:solidFill>
                  <a:srgbClr val="FFFFFF"/>
                </a:solidFill>
                <a:latin typeface="Unbounded"/>
                <a:ea typeface="Unbounded"/>
                <a:cs typeface="Unbounded"/>
                <a:sym typeface="Unbounded"/>
              </a:rPr>
              <a:t>1</a:t>
            </a:r>
            <a:endParaRPr b="0" i="0" sz="1300" u="none" cap="none" strike="noStrike">
              <a:solidFill>
                <a:schemeClr val="dk1"/>
              </a:solidFill>
              <a:latin typeface="Calibri"/>
              <a:ea typeface="Calibri"/>
              <a:cs typeface="Calibri"/>
              <a:sym typeface="Calibri"/>
            </a:endParaRPr>
          </a:p>
        </p:txBody>
      </p:sp>
      <p:sp>
        <p:nvSpPr>
          <p:cNvPr id="819" name="Google Shape;819;p65"/>
          <p:cNvSpPr/>
          <p:nvPr/>
        </p:nvSpPr>
        <p:spPr>
          <a:xfrm>
            <a:off x="1442632" y="2638847"/>
            <a:ext cx="3216000" cy="205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Failure Detection</a:t>
            </a:r>
            <a:endParaRPr b="0" i="0" sz="1250" u="none" cap="none" strike="noStrike">
              <a:solidFill>
                <a:schemeClr val="dk1"/>
              </a:solidFill>
              <a:latin typeface="Calibri"/>
              <a:ea typeface="Calibri"/>
              <a:cs typeface="Calibri"/>
              <a:sym typeface="Calibri"/>
            </a:endParaRPr>
          </a:p>
        </p:txBody>
      </p:sp>
      <p:sp>
        <p:nvSpPr>
          <p:cNvPr id="820" name="Google Shape;820;p65"/>
          <p:cNvSpPr/>
          <p:nvPr/>
        </p:nvSpPr>
        <p:spPr>
          <a:xfrm>
            <a:off x="1442632" y="2902868"/>
            <a:ext cx="3216000" cy="637800"/>
          </a:xfrm>
          <a:prstGeom prst="rect">
            <a:avLst/>
          </a:prstGeom>
          <a:noFill/>
          <a:ln>
            <a:noFill/>
          </a:ln>
        </p:spPr>
        <p:txBody>
          <a:bodyPr anchorCtr="0" anchor="t" bIns="0" lIns="0" spcFirstLastPara="1" rIns="0" wrap="square" tIns="55850">
            <a:noAutofit/>
          </a:bodyPr>
          <a:lstStyle/>
          <a:p>
            <a:pPr indent="-213360" lvl="0" marL="213360" marR="0" rtl="0" algn="l">
              <a:lnSpc>
                <a:spcPct val="113000"/>
              </a:lnSpc>
              <a:spcBef>
                <a:spcPts val="0"/>
              </a:spcBef>
              <a:spcAft>
                <a:spcPts val="0"/>
              </a:spcAft>
              <a:buClr>
                <a:srgbClr val="CAD6DE"/>
              </a:buClr>
              <a:buSzPts val="1050"/>
              <a:buFont typeface="Cabin"/>
              <a:buChar char="•"/>
            </a:pPr>
            <a:r>
              <a:rPr b="0" i="0" lang="en-US" sz="1050" u="none" cap="none" strike="noStrike">
                <a:solidFill>
                  <a:srgbClr val="CAD6DE"/>
                </a:solidFill>
                <a:latin typeface="Cabin"/>
                <a:ea typeface="Cabin"/>
                <a:cs typeface="Cabin"/>
                <a:sym typeface="Cabin"/>
              </a:rPr>
              <a:t>Heartbeat timeout (10s)</a:t>
            </a:r>
            <a:endParaRPr b="0" i="0" sz="1050" u="none" cap="none" strike="noStrike">
              <a:solidFill>
                <a:schemeClr val="dk1"/>
              </a:solidFill>
              <a:latin typeface="Calibri"/>
              <a:ea typeface="Calibri"/>
              <a:cs typeface="Calibri"/>
              <a:sym typeface="Calibri"/>
            </a:endParaRPr>
          </a:p>
          <a:p>
            <a:pPr indent="-213360" lvl="0" marL="213360" marR="0" rtl="0" algn="l">
              <a:lnSpc>
                <a:spcPct val="113000"/>
              </a:lnSpc>
              <a:spcBef>
                <a:spcPts val="0"/>
              </a:spcBef>
              <a:spcAft>
                <a:spcPts val="0"/>
              </a:spcAft>
              <a:buClr>
                <a:srgbClr val="CAD6DE"/>
              </a:buClr>
              <a:buSzPts val="1050"/>
              <a:buFont typeface="Cabin"/>
              <a:buChar char="•"/>
            </a:pPr>
            <a:r>
              <a:rPr b="0" i="0" lang="en-US" sz="1050" u="none" cap="none" strike="noStrike">
                <a:solidFill>
                  <a:srgbClr val="CAD6DE"/>
                </a:solidFill>
                <a:latin typeface="Cabin"/>
                <a:ea typeface="Cabin"/>
                <a:cs typeface="Cabin"/>
                <a:sym typeface="Cabin"/>
              </a:rPr>
              <a:t>Drone marked as Failed in FSM</a:t>
            </a:r>
            <a:endParaRPr b="0" i="0" sz="1050" u="none" cap="none" strike="noStrike">
              <a:solidFill>
                <a:schemeClr val="dk1"/>
              </a:solidFill>
              <a:latin typeface="Calibri"/>
              <a:ea typeface="Calibri"/>
              <a:cs typeface="Calibri"/>
              <a:sym typeface="Calibri"/>
            </a:endParaRPr>
          </a:p>
          <a:p>
            <a:pPr indent="-213360" lvl="0" marL="213360" marR="0" rtl="0" algn="l">
              <a:lnSpc>
                <a:spcPct val="113000"/>
              </a:lnSpc>
              <a:spcBef>
                <a:spcPts val="0"/>
              </a:spcBef>
              <a:spcAft>
                <a:spcPts val="0"/>
              </a:spcAft>
              <a:buClr>
                <a:srgbClr val="CAD6DE"/>
              </a:buClr>
              <a:buSzPts val="1050"/>
              <a:buFont typeface="Cabin"/>
              <a:buChar char="•"/>
            </a:pPr>
            <a:r>
              <a:rPr b="0" i="0" lang="en-US" sz="1050" u="none" cap="none" strike="noStrike">
                <a:solidFill>
                  <a:srgbClr val="CAD6DE"/>
                </a:solidFill>
                <a:latin typeface="Cabin"/>
                <a:ea typeface="Cabin"/>
                <a:cs typeface="Cabin"/>
                <a:sym typeface="Cabin"/>
              </a:rPr>
              <a:t>Despawned from Gazebo</a:t>
            </a:r>
            <a:endParaRPr b="0" i="0" sz="1050" u="none" cap="none" strike="noStrike">
              <a:solidFill>
                <a:schemeClr val="dk1"/>
              </a:solidFill>
              <a:latin typeface="Calibri"/>
              <a:ea typeface="Calibri"/>
              <a:cs typeface="Calibri"/>
              <a:sym typeface="Calibri"/>
            </a:endParaRPr>
          </a:p>
        </p:txBody>
      </p:sp>
      <p:pic>
        <p:nvPicPr>
          <p:cNvPr descr="preencoded.png" id="821" name="Google Shape;821;p65"/>
          <p:cNvPicPr preferRelativeResize="0"/>
          <p:nvPr/>
        </p:nvPicPr>
        <p:blipFill rotWithShape="1">
          <a:blip r:embed="rId3">
            <a:alphaModFix/>
          </a:blip>
          <a:srcRect b="0" l="0" r="0" t="0"/>
          <a:stretch/>
        </p:blipFill>
        <p:spPr>
          <a:xfrm>
            <a:off x="6211678" y="2080345"/>
            <a:ext cx="3533389" cy="2066727"/>
          </a:xfrm>
          <a:prstGeom prst="rect">
            <a:avLst/>
          </a:prstGeom>
          <a:noFill/>
          <a:ln>
            <a:noFill/>
          </a:ln>
        </p:spPr>
      </p:pic>
      <p:sp>
        <p:nvSpPr>
          <p:cNvPr id="822" name="Google Shape;822;p65"/>
          <p:cNvSpPr/>
          <p:nvPr/>
        </p:nvSpPr>
        <p:spPr>
          <a:xfrm>
            <a:off x="7894585" y="2185020"/>
            <a:ext cx="167400" cy="20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Unbounded"/>
              <a:buNone/>
            </a:pPr>
            <a:r>
              <a:rPr b="0" i="0" lang="en-US" sz="1300" u="none" cap="none" strike="noStrike">
                <a:solidFill>
                  <a:srgbClr val="FFFFFF"/>
                </a:solidFill>
                <a:latin typeface="Unbounded"/>
                <a:ea typeface="Unbounded"/>
                <a:cs typeface="Unbounded"/>
                <a:sym typeface="Unbounded"/>
              </a:rPr>
              <a:t>2</a:t>
            </a:r>
            <a:endParaRPr b="0" i="0" sz="1300" u="none" cap="none" strike="noStrike">
              <a:solidFill>
                <a:schemeClr val="dk1"/>
              </a:solidFill>
              <a:latin typeface="Calibri"/>
              <a:ea typeface="Calibri"/>
              <a:cs typeface="Calibri"/>
              <a:sym typeface="Calibri"/>
            </a:endParaRPr>
          </a:p>
        </p:txBody>
      </p:sp>
      <p:sp>
        <p:nvSpPr>
          <p:cNvPr id="823" name="Google Shape;823;p65"/>
          <p:cNvSpPr/>
          <p:nvPr/>
        </p:nvSpPr>
        <p:spPr>
          <a:xfrm>
            <a:off x="6370325" y="2638847"/>
            <a:ext cx="3216000" cy="205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State Persistence</a:t>
            </a:r>
            <a:endParaRPr b="0" i="0" sz="1250" u="none" cap="none" strike="noStrike">
              <a:solidFill>
                <a:schemeClr val="dk1"/>
              </a:solidFill>
              <a:latin typeface="Calibri"/>
              <a:ea typeface="Calibri"/>
              <a:cs typeface="Calibri"/>
              <a:sym typeface="Calibri"/>
            </a:endParaRPr>
          </a:p>
        </p:txBody>
      </p:sp>
      <p:sp>
        <p:nvSpPr>
          <p:cNvPr id="824" name="Google Shape;824;p65"/>
          <p:cNvSpPr/>
          <p:nvPr/>
        </p:nvSpPr>
        <p:spPr>
          <a:xfrm>
            <a:off x="6370325" y="2902868"/>
            <a:ext cx="3216000" cy="603600"/>
          </a:xfrm>
          <a:prstGeom prst="rect">
            <a:avLst/>
          </a:prstGeom>
          <a:noFill/>
          <a:ln>
            <a:noFill/>
          </a:ln>
        </p:spPr>
        <p:txBody>
          <a:bodyPr anchorCtr="0" anchor="t" bIns="0" lIns="0" spcFirstLastPara="1" rIns="0" wrap="square" tIns="55850">
            <a:noAutofit/>
          </a:bodyPr>
          <a:lstStyle/>
          <a:p>
            <a:pPr indent="-213360" lvl="0" marL="213360" marR="0" rtl="0" algn="l">
              <a:lnSpc>
                <a:spcPct val="113000"/>
              </a:lnSpc>
              <a:spcBef>
                <a:spcPts val="0"/>
              </a:spcBef>
              <a:spcAft>
                <a:spcPts val="0"/>
              </a:spcAft>
              <a:buClr>
                <a:srgbClr val="CAD6DE"/>
              </a:buClr>
              <a:buSzPts val="1050"/>
              <a:buFont typeface="Cabin"/>
              <a:buChar char="•"/>
            </a:pPr>
            <a:r>
              <a:rPr b="0" i="0" lang="en-US" sz="1050" u="none" cap="none" strike="noStrike">
                <a:solidFill>
                  <a:srgbClr val="CAD6DE"/>
                </a:solidFill>
                <a:latin typeface="Cabin"/>
                <a:ea typeface="Cabin"/>
                <a:cs typeface="Cabin"/>
                <a:sym typeface="Cabin"/>
              </a:rPr>
              <a:t>Coordinator maintains target coordinates in memory</a:t>
            </a:r>
            <a:endParaRPr b="0" i="0" sz="1050" u="none" cap="none" strike="noStrike">
              <a:solidFill>
                <a:schemeClr val="dk1"/>
              </a:solidFill>
              <a:latin typeface="Calibri"/>
              <a:ea typeface="Calibri"/>
              <a:cs typeface="Calibri"/>
              <a:sym typeface="Calibri"/>
            </a:endParaRPr>
          </a:p>
          <a:p>
            <a:pPr indent="-213360" lvl="0" marL="213360" marR="0" rtl="0" algn="l">
              <a:lnSpc>
                <a:spcPct val="113000"/>
              </a:lnSpc>
              <a:spcBef>
                <a:spcPts val="0"/>
              </a:spcBef>
              <a:spcAft>
                <a:spcPts val="0"/>
              </a:spcAft>
              <a:buClr>
                <a:srgbClr val="CAD6DE"/>
              </a:buClr>
              <a:buSzPts val="1050"/>
              <a:buFont typeface="Cabin"/>
              <a:buChar char="•"/>
            </a:pPr>
            <a:r>
              <a:rPr b="0" i="0" lang="en-US" sz="1050" u="none" cap="none" strike="noStrike">
                <a:solidFill>
                  <a:srgbClr val="CAD6DE"/>
                </a:solidFill>
                <a:latin typeface="Cabin"/>
                <a:ea typeface="Cabin"/>
                <a:cs typeface="Cabin"/>
                <a:sym typeface="Cabin"/>
              </a:rPr>
              <a:t>Previous 3D position stored for every drone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66"/>
          <p:cNvSpPr/>
          <p:nvPr/>
        </p:nvSpPr>
        <p:spPr>
          <a:xfrm>
            <a:off x="698086" y="1057473"/>
            <a:ext cx="10795524" cy="9973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100"/>
              <a:buFont typeface="Unbounded"/>
              <a:buNone/>
            </a:pPr>
            <a:r>
              <a:rPr b="0" i="0" lang="en-US" sz="3100" u="none" cap="none" strike="noStrike">
                <a:solidFill>
                  <a:srgbClr val="FFFFFF"/>
                </a:solidFill>
                <a:latin typeface="Unbounded"/>
                <a:ea typeface="Unbounded"/>
                <a:cs typeface="Unbounded"/>
                <a:sym typeface="Unbounded"/>
              </a:rPr>
              <a:t>Scenario 2: </a:t>
            </a:r>
            <a:r>
              <a:rPr b="1" i="0" lang="en-US" sz="3100" u="none" cap="none" strike="noStrike">
                <a:solidFill>
                  <a:srgbClr val="FFFFFF"/>
                </a:solidFill>
                <a:latin typeface="Unbounded"/>
                <a:ea typeface="Unbounded"/>
                <a:cs typeface="Unbounded"/>
                <a:sym typeface="Unbounded"/>
              </a:rPr>
              <a:t>Leader</a:t>
            </a:r>
            <a:r>
              <a:rPr b="0" i="0" lang="en-US" sz="3100" u="none" cap="none" strike="noStrike">
                <a:solidFill>
                  <a:srgbClr val="FFFFFF"/>
                </a:solidFill>
                <a:latin typeface="Unbounded"/>
                <a:ea typeface="Unbounded"/>
                <a:cs typeface="Unbounded"/>
                <a:sym typeface="Unbounded"/>
              </a:rPr>
              <a:t> Drone Failure &amp; Reconfiguration</a:t>
            </a:r>
            <a:endParaRPr b="0" i="0" sz="3100" u="none" cap="none" strike="noStrike">
              <a:solidFill>
                <a:schemeClr val="dk1"/>
              </a:solidFill>
              <a:latin typeface="Calibri"/>
              <a:ea typeface="Calibri"/>
              <a:cs typeface="Calibri"/>
              <a:sym typeface="Calibri"/>
            </a:endParaRPr>
          </a:p>
        </p:txBody>
      </p:sp>
      <p:pic>
        <p:nvPicPr>
          <p:cNvPr descr="preencoded.png" id="831" name="Google Shape;831;p66"/>
          <p:cNvPicPr preferRelativeResize="0"/>
          <p:nvPr/>
        </p:nvPicPr>
        <p:blipFill rotWithShape="1">
          <a:blip r:embed="rId3">
            <a:alphaModFix/>
          </a:blip>
          <a:srcRect b="0" l="0" r="0" t="0"/>
          <a:stretch/>
        </p:blipFill>
        <p:spPr>
          <a:xfrm>
            <a:off x="698086" y="2270919"/>
            <a:ext cx="847704" cy="1176536"/>
          </a:xfrm>
          <a:prstGeom prst="rect">
            <a:avLst/>
          </a:prstGeom>
          <a:noFill/>
          <a:ln>
            <a:noFill/>
          </a:ln>
        </p:spPr>
      </p:pic>
      <p:sp>
        <p:nvSpPr>
          <p:cNvPr id="832" name="Google Shape;832;p66"/>
          <p:cNvSpPr/>
          <p:nvPr/>
        </p:nvSpPr>
        <p:spPr>
          <a:xfrm>
            <a:off x="1689851" y="2440384"/>
            <a:ext cx="9803758" cy="2493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None/>
            </a:pPr>
            <a:r>
              <a:rPr lang="en-US" sz="1550">
                <a:solidFill>
                  <a:srgbClr val="CAD6DE"/>
                </a:solidFill>
                <a:latin typeface="Unbounded"/>
                <a:ea typeface="Unbounded"/>
                <a:cs typeface="Unbounded"/>
                <a:sym typeface="Unbounded"/>
              </a:rPr>
              <a:t>1) </a:t>
            </a:r>
            <a:r>
              <a:rPr b="0" i="0" lang="en-US" sz="1550" u="none" cap="none" strike="noStrike">
                <a:solidFill>
                  <a:srgbClr val="CAD6DE"/>
                </a:solidFill>
                <a:latin typeface="Unbounded"/>
                <a:ea typeface="Unbounded"/>
                <a:cs typeface="Unbounded"/>
                <a:sym typeface="Unbounded"/>
              </a:rPr>
              <a:t>FSM Role Reset</a:t>
            </a:r>
            <a:endParaRPr b="0" i="0" sz="1550" u="none" cap="none" strike="noStrike">
              <a:solidFill>
                <a:schemeClr val="dk1"/>
              </a:solidFill>
              <a:latin typeface="Calibri"/>
              <a:ea typeface="Calibri"/>
              <a:cs typeface="Calibri"/>
              <a:sym typeface="Calibri"/>
            </a:endParaRPr>
          </a:p>
        </p:txBody>
      </p:sp>
      <p:sp>
        <p:nvSpPr>
          <p:cNvPr id="833" name="Google Shape;833;p66"/>
          <p:cNvSpPr/>
          <p:nvPr/>
        </p:nvSpPr>
        <p:spPr>
          <a:xfrm>
            <a:off x="1689851" y="2776141"/>
            <a:ext cx="9803758" cy="50184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Leader drone fails (detected via heartbeat timeout). All active Followers transition to Candidate state. Drones become eligible for new leader election.</a:t>
            </a:r>
            <a:endParaRPr b="0" i="0" sz="1300" u="none" cap="none" strike="noStrike">
              <a:solidFill>
                <a:schemeClr val="dk1"/>
              </a:solidFill>
              <a:latin typeface="Calibri"/>
              <a:ea typeface="Calibri"/>
              <a:cs typeface="Calibri"/>
              <a:sym typeface="Calibri"/>
            </a:endParaRPr>
          </a:p>
        </p:txBody>
      </p:sp>
      <p:pic>
        <p:nvPicPr>
          <p:cNvPr descr="preencoded.png" id="834" name="Google Shape;834;p66"/>
          <p:cNvPicPr preferRelativeResize="0"/>
          <p:nvPr/>
        </p:nvPicPr>
        <p:blipFill rotWithShape="1">
          <a:blip r:embed="rId4">
            <a:alphaModFix/>
          </a:blip>
          <a:srcRect b="0" l="0" r="0" t="0"/>
          <a:stretch/>
        </p:blipFill>
        <p:spPr>
          <a:xfrm>
            <a:off x="698086" y="3447455"/>
            <a:ext cx="847704" cy="1176536"/>
          </a:xfrm>
          <a:prstGeom prst="rect">
            <a:avLst/>
          </a:prstGeom>
          <a:noFill/>
          <a:ln>
            <a:noFill/>
          </a:ln>
        </p:spPr>
      </p:pic>
      <p:sp>
        <p:nvSpPr>
          <p:cNvPr id="835" name="Google Shape;835;p66"/>
          <p:cNvSpPr/>
          <p:nvPr/>
        </p:nvSpPr>
        <p:spPr>
          <a:xfrm>
            <a:off x="1689851" y="3616920"/>
            <a:ext cx="9803758" cy="2493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50"/>
              <a:buFont typeface="Unbounded"/>
              <a:buNone/>
            </a:pPr>
            <a:r>
              <a:rPr lang="en-US" sz="1550">
                <a:solidFill>
                  <a:srgbClr val="CAD6DE"/>
                </a:solidFill>
                <a:latin typeface="Unbounded"/>
                <a:ea typeface="Unbounded"/>
                <a:cs typeface="Unbounded"/>
                <a:sym typeface="Unbounded"/>
              </a:rPr>
              <a:t>2) </a:t>
            </a:r>
            <a:r>
              <a:rPr b="0" i="0" lang="en-US" sz="1550" u="none" cap="none" strike="noStrike">
                <a:solidFill>
                  <a:srgbClr val="CAD6DE"/>
                </a:solidFill>
                <a:latin typeface="Unbounded"/>
                <a:ea typeface="Unbounded"/>
                <a:cs typeface="Unbounded"/>
                <a:sym typeface="Unbounded"/>
              </a:rPr>
              <a:t>Smart Leader Election</a:t>
            </a:r>
            <a:endParaRPr b="0" i="0" sz="1550" u="none" cap="none" strike="noStrike">
              <a:solidFill>
                <a:schemeClr val="dk1"/>
              </a:solidFill>
              <a:latin typeface="Calibri"/>
              <a:ea typeface="Calibri"/>
              <a:cs typeface="Calibri"/>
              <a:sym typeface="Calibri"/>
            </a:endParaRPr>
          </a:p>
        </p:txBody>
      </p:sp>
      <p:sp>
        <p:nvSpPr>
          <p:cNvPr id="836" name="Google Shape;836;p66"/>
          <p:cNvSpPr/>
          <p:nvPr/>
        </p:nvSpPr>
        <p:spPr>
          <a:xfrm>
            <a:off x="1689851" y="3952677"/>
            <a:ext cx="9803758" cy="50184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Algorithm considers spatial proximity to failed leader's slot. Selects candidate from denser wing (side with more drones). Ensures balanced formation.</a:t>
            </a:r>
            <a:endParaRPr b="0" i="0" sz="1300" u="none" cap="none" strike="noStrike">
              <a:solidFill>
                <a:schemeClr val="dk1"/>
              </a:solidFill>
              <a:latin typeface="Calibri"/>
              <a:ea typeface="Calibri"/>
              <a:cs typeface="Calibri"/>
              <a:sym typeface="Calibri"/>
            </a:endParaRPr>
          </a:p>
        </p:txBody>
      </p:sp>
      <p:pic>
        <p:nvPicPr>
          <p:cNvPr descr="preencoded.png" id="837" name="Google Shape;837;p66"/>
          <p:cNvPicPr preferRelativeResize="0"/>
          <p:nvPr/>
        </p:nvPicPr>
        <p:blipFill rotWithShape="1">
          <a:blip r:embed="rId5">
            <a:alphaModFix/>
          </a:blip>
          <a:srcRect b="0" l="0" r="0" t="0"/>
          <a:stretch/>
        </p:blipFill>
        <p:spPr>
          <a:xfrm>
            <a:off x="698086" y="4623991"/>
            <a:ext cx="847704" cy="1176536"/>
          </a:xfrm>
          <a:prstGeom prst="rect">
            <a:avLst/>
          </a:prstGeom>
          <a:noFill/>
          <a:ln>
            <a:noFill/>
          </a:ln>
        </p:spPr>
      </p:pic>
      <p:sp>
        <p:nvSpPr>
          <p:cNvPr id="838" name="Google Shape;838;p66"/>
          <p:cNvSpPr/>
          <p:nvPr/>
        </p:nvSpPr>
        <p:spPr>
          <a:xfrm>
            <a:off x="1689851" y="4793456"/>
            <a:ext cx="9803758" cy="2493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550"/>
              <a:buFont typeface="Unbounded"/>
              <a:buNone/>
            </a:pPr>
            <a:r>
              <a:rPr lang="en-US" sz="1550">
                <a:solidFill>
                  <a:srgbClr val="CAD6DE"/>
                </a:solidFill>
                <a:latin typeface="Unbounded"/>
                <a:ea typeface="Unbounded"/>
                <a:cs typeface="Unbounded"/>
                <a:sym typeface="Unbounded"/>
              </a:rPr>
              <a:t>3) </a:t>
            </a:r>
            <a:r>
              <a:rPr b="0" i="0" lang="en-US" sz="1550" u="none" cap="none" strike="noStrike">
                <a:solidFill>
                  <a:srgbClr val="CAD6DE"/>
                </a:solidFill>
                <a:latin typeface="Unbounded"/>
                <a:ea typeface="Unbounded"/>
                <a:cs typeface="Unbounded"/>
                <a:sym typeface="Unbounded"/>
              </a:rPr>
              <a:t>Ripple-Shift Re-formation</a:t>
            </a:r>
            <a:endParaRPr b="0" i="0" sz="1550" u="none" cap="none" strike="noStrike">
              <a:solidFill>
                <a:schemeClr val="dk1"/>
              </a:solidFill>
              <a:latin typeface="Calibri"/>
              <a:ea typeface="Calibri"/>
              <a:cs typeface="Calibri"/>
              <a:sym typeface="Calibri"/>
            </a:endParaRPr>
          </a:p>
        </p:txBody>
      </p:sp>
      <p:sp>
        <p:nvSpPr>
          <p:cNvPr id="839" name="Google Shape;839;p66"/>
          <p:cNvSpPr/>
          <p:nvPr/>
        </p:nvSpPr>
        <p:spPr>
          <a:xfrm>
            <a:off x="1689851" y="5129213"/>
            <a:ext cx="9803758" cy="50184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New Leader moves to center position. Opposite wing remains stationary (no unnecessary moves). Vacant wing performs cascade shift inward by 2.0m safety distance. Formation automatically rebalances.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67"/>
          <p:cNvSpPr/>
          <p:nvPr/>
        </p:nvSpPr>
        <p:spPr>
          <a:xfrm>
            <a:off x="698086" y="548580"/>
            <a:ext cx="10795524" cy="498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100"/>
              <a:buFont typeface="Unbounded"/>
              <a:buNone/>
            </a:pPr>
            <a:r>
              <a:rPr b="0" i="0" lang="en-US" sz="3100" u="none" cap="none" strike="noStrike">
                <a:solidFill>
                  <a:srgbClr val="FFFFFF"/>
                </a:solidFill>
                <a:latin typeface="Unbounded"/>
                <a:ea typeface="Unbounded"/>
                <a:cs typeface="Unbounded"/>
                <a:sym typeface="Unbounded"/>
              </a:rPr>
              <a:t>Step 1: User simulates the failure</a:t>
            </a:r>
            <a:endParaRPr b="0" i="0" sz="3100" u="none" cap="none" strike="noStrike">
              <a:solidFill>
                <a:schemeClr val="dk1"/>
              </a:solidFill>
              <a:latin typeface="Calibri"/>
              <a:ea typeface="Calibri"/>
              <a:cs typeface="Calibri"/>
              <a:sym typeface="Calibri"/>
            </a:endParaRPr>
          </a:p>
        </p:txBody>
      </p:sp>
      <p:sp>
        <p:nvSpPr>
          <p:cNvPr id="846" name="Google Shape;846;p67"/>
          <p:cNvSpPr/>
          <p:nvPr/>
        </p:nvSpPr>
        <p:spPr>
          <a:xfrm>
            <a:off x="7766054" y="1393031"/>
            <a:ext cx="4343391" cy="31363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650"/>
              <a:buFont typeface="Cabin"/>
              <a:buNone/>
            </a:pPr>
            <a:r>
              <a:rPr b="1" i="0" lang="en-US" sz="1650" u="none" cap="none" strike="noStrike">
                <a:solidFill>
                  <a:srgbClr val="CAD6DE"/>
                </a:solidFill>
                <a:latin typeface="Cabin"/>
                <a:ea typeface="Cabin"/>
                <a:cs typeface="Cabin"/>
                <a:sym typeface="Cabin"/>
              </a:rPr>
              <a:t>Steps:</a:t>
            </a:r>
            <a:endParaRPr b="0" i="0" sz="1650" u="none" cap="none" strike="noStrike">
              <a:solidFill>
                <a:schemeClr val="dk1"/>
              </a:solidFill>
              <a:latin typeface="Calibri"/>
              <a:ea typeface="Calibri"/>
              <a:cs typeface="Calibri"/>
              <a:sym typeface="Calibri"/>
            </a:endParaRPr>
          </a:p>
        </p:txBody>
      </p:sp>
      <p:sp>
        <p:nvSpPr>
          <p:cNvPr id="847" name="Google Shape;847;p67"/>
          <p:cNvSpPr/>
          <p:nvPr/>
        </p:nvSpPr>
        <p:spPr>
          <a:xfrm>
            <a:off x="7766050" y="1836350"/>
            <a:ext cx="4173900" cy="2089500"/>
          </a:xfrm>
          <a:prstGeom prst="rect">
            <a:avLst/>
          </a:prstGeom>
          <a:noFill/>
          <a:ln>
            <a:noFill/>
          </a:ln>
        </p:spPr>
        <p:txBody>
          <a:bodyPr anchorCtr="0" anchor="t" bIns="0" lIns="0" spcFirstLastPara="1" rIns="0" wrap="square" tIns="67800">
            <a:noAutofit/>
          </a:bodyPr>
          <a:lstStyle/>
          <a:p>
            <a:pPr indent="-311150" lvl="0" marL="457200" marR="0" rtl="0" algn="l">
              <a:lnSpc>
                <a:spcPct val="123000"/>
              </a:lnSpc>
              <a:spcBef>
                <a:spcPts val="0"/>
              </a:spcBef>
              <a:spcAft>
                <a:spcPts val="0"/>
              </a:spcAft>
              <a:buClr>
                <a:srgbClr val="CAD6DE"/>
              </a:buClr>
              <a:buSzPts val="1300"/>
              <a:buChar char="●"/>
            </a:pPr>
            <a:r>
              <a:rPr b="0" i="0" lang="en-US" sz="1300" u="none" cap="none" strike="noStrike">
                <a:solidFill>
                  <a:srgbClr val="CAD6DE"/>
                </a:solidFill>
                <a:latin typeface="Cabin"/>
                <a:ea typeface="Cabin"/>
                <a:cs typeface="Cabin"/>
                <a:sym typeface="Cabin"/>
              </a:rPr>
              <a:t>When the users click this button, the JavaScript code (</a:t>
            </a:r>
            <a:r>
              <a:rPr b="0" i="0" lang="en-US" sz="1300" u="none" cap="none" strike="noStrike">
                <a:solidFill>
                  <a:srgbClr val="CAD6DE"/>
                </a:solidFill>
                <a:highlight>
                  <a:srgbClr val="1E3543"/>
                </a:highlight>
                <a:latin typeface="Consolas"/>
                <a:ea typeface="Consolas"/>
                <a:cs typeface="Consolas"/>
                <a:sym typeface="Consolas"/>
              </a:rPr>
              <a:t>app.js</a:t>
            </a:r>
            <a:r>
              <a:rPr b="0" i="0" lang="en-US" sz="1300" u="none" cap="none" strike="noStrike">
                <a:solidFill>
                  <a:srgbClr val="CAD6DE"/>
                </a:solidFill>
                <a:latin typeface="Cabin"/>
                <a:ea typeface="Cabin"/>
                <a:cs typeface="Cabin"/>
                <a:sym typeface="Cabin"/>
              </a:rPr>
              <a:t>) intercepts the click event and sends an </a:t>
            </a:r>
            <a:r>
              <a:rPr b="1" i="0" lang="en-US" sz="1300" u="none" cap="none" strike="noStrike">
                <a:solidFill>
                  <a:srgbClr val="CAD6DE"/>
                </a:solidFill>
                <a:latin typeface="Cabin"/>
                <a:ea typeface="Cabin"/>
                <a:cs typeface="Cabin"/>
                <a:sym typeface="Cabin"/>
              </a:rPr>
              <a:t>HTTP </a:t>
            </a:r>
            <a:r>
              <a:rPr b="0" i="0" lang="en-US" sz="1300" u="none" cap="none" strike="noStrike">
                <a:solidFill>
                  <a:srgbClr val="CAD6DE"/>
                </a:solidFill>
                <a:highlight>
                  <a:srgbClr val="1E3543"/>
                </a:highlight>
                <a:latin typeface="Consolas"/>
                <a:ea typeface="Consolas"/>
                <a:cs typeface="Consolas"/>
                <a:sym typeface="Consolas"/>
              </a:rPr>
              <a:t>POST</a:t>
            </a:r>
            <a:r>
              <a:rPr b="0" i="0" lang="en-US" sz="1300" u="none" cap="none" strike="noStrike">
                <a:solidFill>
                  <a:srgbClr val="CAD6DE"/>
                </a:solidFill>
                <a:latin typeface="Cabin"/>
                <a:ea typeface="Cabin"/>
                <a:cs typeface="Cabin"/>
                <a:sym typeface="Cabin"/>
              </a:rPr>
              <a:t> request to the REST endpoint: </a:t>
            </a:r>
            <a:r>
              <a:rPr b="0" i="0" lang="en-US" sz="1300" u="none" cap="none" strike="noStrike">
                <a:solidFill>
                  <a:srgbClr val="CAD6DE"/>
                </a:solidFill>
                <a:highlight>
                  <a:srgbClr val="1E3543"/>
                </a:highlight>
                <a:latin typeface="Consolas"/>
                <a:ea typeface="Consolas"/>
                <a:cs typeface="Consolas"/>
                <a:sym typeface="Consolas"/>
              </a:rPr>
              <a:t>POST /api/drone/drone_1/pause</a:t>
            </a:r>
            <a:endParaRPr b="0" i="0" sz="1300" u="none" cap="none" strike="noStrike">
              <a:solidFill>
                <a:schemeClr val="dk1"/>
              </a:solidFill>
              <a:latin typeface="Calibri"/>
              <a:ea typeface="Calibri"/>
              <a:cs typeface="Calibri"/>
              <a:sym typeface="Calibri"/>
            </a:endParaRPr>
          </a:p>
          <a:p>
            <a:pPr indent="-311150" lvl="0" marL="457200" marR="0" rtl="0" algn="l">
              <a:lnSpc>
                <a:spcPct val="123000"/>
              </a:lnSpc>
              <a:spcBef>
                <a:spcPts val="0"/>
              </a:spcBef>
              <a:spcAft>
                <a:spcPts val="0"/>
              </a:spcAft>
              <a:buClr>
                <a:srgbClr val="CAD6DE"/>
              </a:buClr>
              <a:buSzPts val="1300"/>
              <a:buChar char="●"/>
            </a:pPr>
            <a:r>
              <a:rPr b="0" i="0" lang="en-US" sz="1300" u="none" cap="none" strike="noStrike">
                <a:solidFill>
                  <a:srgbClr val="CAD6DE"/>
                </a:solidFill>
                <a:latin typeface="Cabin"/>
                <a:ea typeface="Cabin"/>
                <a:cs typeface="Cabin"/>
                <a:sym typeface="Cabin"/>
              </a:rPr>
              <a:t>The FastAPI server utilizes the official </a:t>
            </a:r>
            <a:r>
              <a:rPr b="0" i="0" lang="en-US" sz="1300" u="none" cap="none" strike="noStrike">
                <a:solidFill>
                  <a:srgbClr val="CAD6DE"/>
                </a:solidFill>
                <a:highlight>
                  <a:srgbClr val="1E3543"/>
                </a:highlight>
                <a:latin typeface="Consolas"/>
                <a:ea typeface="Consolas"/>
                <a:cs typeface="Consolas"/>
                <a:sym typeface="Consolas"/>
              </a:rPr>
              <a:t>docker</a:t>
            </a:r>
            <a:r>
              <a:rPr b="0" i="0" lang="en-US" sz="1300" u="none" cap="none" strike="noStrike">
                <a:solidFill>
                  <a:srgbClr val="CAD6DE"/>
                </a:solidFill>
                <a:latin typeface="Cabin"/>
                <a:ea typeface="Cabin"/>
                <a:cs typeface="Cabin"/>
                <a:sym typeface="Cabin"/>
              </a:rPr>
              <a:t> library (</a:t>
            </a:r>
            <a:r>
              <a:rPr b="0" i="0" lang="en-US" sz="1300" u="none" cap="none" strike="noStrike">
                <a:solidFill>
                  <a:srgbClr val="CAD6DE"/>
                </a:solidFill>
                <a:highlight>
                  <a:srgbClr val="1E3543"/>
                </a:highlight>
                <a:latin typeface="Consolas"/>
                <a:ea typeface="Consolas"/>
                <a:cs typeface="Consolas"/>
                <a:sym typeface="Consolas"/>
              </a:rPr>
              <a:t>Docker SDK for Python</a:t>
            </a:r>
            <a:r>
              <a:rPr b="0" i="0" lang="en-US" sz="1300" u="none" cap="none" strike="noStrike">
                <a:solidFill>
                  <a:srgbClr val="CAD6DE"/>
                </a:solidFill>
                <a:latin typeface="Cabin"/>
                <a:ea typeface="Cabin"/>
                <a:cs typeface="Cabin"/>
                <a:sym typeface="Cabin"/>
              </a:rPr>
              <a:t>) to communicate directly with the Docker daemon running on the host OS.</a:t>
            </a:r>
            <a:endParaRPr b="0" i="0" sz="1300" u="none" cap="none" strike="noStrike">
              <a:solidFill>
                <a:schemeClr val="dk1"/>
              </a:solidFill>
              <a:latin typeface="Calibri"/>
              <a:ea typeface="Calibri"/>
              <a:cs typeface="Calibri"/>
              <a:sym typeface="Calibri"/>
            </a:endParaRPr>
          </a:p>
        </p:txBody>
      </p:sp>
      <p:sp>
        <p:nvSpPr>
          <p:cNvPr id="848" name="Google Shape;848;p67"/>
          <p:cNvSpPr/>
          <p:nvPr/>
        </p:nvSpPr>
        <p:spPr>
          <a:xfrm>
            <a:off x="698086" y="4834235"/>
            <a:ext cx="10795524" cy="19050"/>
          </a:xfrm>
          <a:prstGeom prst="roundRect">
            <a:avLst>
              <a:gd fmla="val 49999" name="adj"/>
            </a:avLst>
          </a:prstGeom>
          <a:solidFill>
            <a:srgbClr val="CAD6DE">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67"/>
          <p:cNvSpPr/>
          <p:nvPr/>
        </p:nvSpPr>
        <p:spPr>
          <a:xfrm>
            <a:off x="698086" y="5111750"/>
            <a:ext cx="10795524" cy="2992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50"/>
              <a:buFont typeface="Unbounded"/>
              <a:buNone/>
            </a:pPr>
            <a:r>
              <a:rPr b="0" i="0" lang="en-US" sz="1850" u="none" cap="none" strike="noStrike">
                <a:solidFill>
                  <a:srgbClr val="FFFFFF"/>
                </a:solidFill>
                <a:latin typeface="Unbounded"/>
                <a:ea typeface="Unbounded"/>
                <a:cs typeface="Unbounded"/>
                <a:sym typeface="Unbounded"/>
              </a:rPr>
              <a:t>Files &amp; Technology:</a:t>
            </a:r>
            <a:endParaRPr b="0" i="0" sz="1850" u="none" cap="none" strike="noStrike">
              <a:solidFill>
                <a:schemeClr val="dk1"/>
              </a:solidFill>
              <a:latin typeface="Calibri"/>
              <a:ea typeface="Calibri"/>
              <a:cs typeface="Calibri"/>
              <a:sym typeface="Calibri"/>
            </a:endParaRPr>
          </a:p>
        </p:txBody>
      </p:sp>
      <p:sp>
        <p:nvSpPr>
          <p:cNvPr id="850" name="Google Shape;850;p67"/>
          <p:cNvSpPr/>
          <p:nvPr/>
        </p:nvSpPr>
        <p:spPr>
          <a:xfrm>
            <a:off x="698086" y="5627092"/>
            <a:ext cx="10795524" cy="564952"/>
          </a:xfrm>
          <a:prstGeom prst="rect">
            <a:avLst/>
          </a:prstGeom>
          <a:noFill/>
          <a:ln>
            <a:noFill/>
          </a:ln>
        </p:spPr>
        <p:txBody>
          <a:bodyPr anchorCtr="0" anchor="t" bIns="0" lIns="0" spcFirstLastPara="1" rIns="0" wrap="square" tIns="67800">
            <a:noAutofit/>
          </a:bodyPr>
          <a:lstStyle/>
          <a:p>
            <a:pPr indent="-264160" lvl="0" marL="264160" marR="0" rtl="0" algn="l">
              <a:lnSpc>
                <a:spcPct val="123000"/>
              </a:lnSpc>
              <a:spcBef>
                <a:spcPts val="0"/>
              </a:spcBef>
              <a:spcAft>
                <a:spcPts val="0"/>
              </a:spcAft>
              <a:buClr>
                <a:srgbClr val="CAD6DE"/>
              </a:buClr>
              <a:buSzPts val="1300"/>
              <a:buFont typeface="Consolas"/>
              <a:buChar char="•"/>
            </a:pPr>
            <a:r>
              <a:rPr b="0" i="0" lang="en-US" sz="1300" u="none" cap="none" strike="noStrike">
                <a:solidFill>
                  <a:srgbClr val="CAD6DE"/>
                </a:solidFill>
                <a:highlight>
                  <a:srgbClr val="1E3543"/>
                </a:highlight>
                <a:latin typeface="Consolas"/>
                <a:ea typeface="Consolas"/>
                <a:cs typeface="Consolas"/>
                <a:sym typeface="Consolas"/>
              </a:rPr>
              <a:t>main.py</a:t>
            </a:r>
            <a:r>
              <a:rPr b="0" i="0" lang="en-US" sz="1300" u="none" cap="none" strike="noStrike">
                <a:solidFill>
                  <a:srgbClr val="CAD6DE"/>
                </a:solidFill>
                <a:latin typeface="Cabin"/>
                <a:ea typeface="Cabin"/>
                <a:cs typeface="Cabin"/>
                <a:sym typeface="Cabin"/>
              </a:rPr>
              <a:t> &amp; </a:t>
            </a:r>
            <a:r>
              <a:rPr b="0" i="0" lang="en-US" sz="1300" u="none" cap="none" strike="noStrike">
                <a:solidFill>
                  <a:srgbClr val="CAD6DE"/>
                </a:solidFill>
                <a:highlight>
                  <a:srgbClr val="1E3543"/>
                </a:highlight>
                <a:latin typeface="Consolas"/>
                <a:ea typeface="Consolas"/>
                <a:cs typeface="Consolas"/>
                <a:sym typeface="Consolas"/>
              </a:rPr>
              <a:t>app.js</a:t>
            </a:r>
            <a:endParaRPr b="0" i="0" sz="1300" u="none" cap="none" strike="noStrike">
              <a:solidFill>
                <a:schemeClr val="dk1"/>
              </a:solidFill>
              <a:latin typeface="Calibri"/>
              <a:ea typeface="Calibri"/>
              <a:cs typeface="Calibri"/>
              <a:sym typeface="Calibri"/>
            </a:endParaRPr>
          </a:p>
          <a:p>
            <a:pPr indent="-264160" lvl="0" marL="264160" marR="0" rtl="0" algn="l">
              <a:lnSpc>
                <a:spcPct val="123000"/>
              </a:lnSpc>
              <a:spcBef>
                <a:spcPts val="0"/>
              </a:spcBef>
              <a:spcAft>
                <a:spcPts val="0"/>
              </a:spcAft>
              <a:buClr>
                <a:srgbClr val="CAD6DE"/>
              </a:buClr>
              <a:buSzPts val="1300"/>
              <a:buFont typeface="Cabin"/>
              <a:buChar char="•"/>
            </a:pPr>
            <a:r>
              <a:rPr b="1" i="0" lang="en-US" sz="1300" u="none" cap="none" strike="noStrike">
                <a:solidFill>
                  <a:srgbClr val="CAD6DE"/>
                </a:solidFill>
                <a:latin typeface="Cabin"/>
                <a:ea typeface="Cabin"/>
                <a:cs typeface="Cabin"/>
                <a:sym typeface="Cabin"/>
              </a:rPr>
              <a:t>FastAPI</a:t>
            </a:r>
            <a:r>
              <a:rPr b="0" i="0" lang="en-US" sz="1300" u="none" cap="none" strike="noStrike">
                <a:solidFill>
                  <a:srgbClr val="CAD6DE"/>
                </a:solidFill>
                <a:latin typeface="Cabin"/>
                <a:ea typeface="Cabin"/>
                <a:cs typeface="Cabin"/>
                <a:sym typeface="Cabin"/>
              </a:rPr>
              <a:t>, </a:t>
            </a:r>
            <a:r>
              <a:rPr b="1" i="0" lang="en-US" sz="1300" u="none" cap="none" strike="noStrike">
                <a:solidFill>
                  <a:srgbClr val="CAD6DE"/>
                </a:solidFill>
                <a:latin typeface="Cabin"/>
                <a:ea typeface="Cabin"/>
                <a:cs typeface="Cabin"/>
                <a:sym typeface="Cabin"/>
              </a:rPr>
              <a:t>Docker SDK for Python (</a:t>
            </a:r>
            <a:r>
              <a:rPr b="0" i="0" lang="en-US" sz="1300" u="none" cap="none" strike="noStrike">
                <a:solidFill>
                  <a:srgbClr val="CAD6DE"/>
                </a:solidFill>
                <a:highlight>
                  <a:srgbClr val="1E3543"/>
                </a:highlight>
                <a:latin typeface="Consolas"/>
                <a:ea typeface="Consolas"/>
                <a:cs typeface="Consolas"/>
                <a:sym typeface="Consolas"/>
              </a:rPr>
              <a:t>exec_run</a:t>
            </a:r>
            <a:r>
              <a:rPr b="1" i="0" lang="en-US" sz="1300" u="none" cap="none" strike="noStrike">
                <a:solidFill>
                  <a:srgbClr val="CAD6DE"/>
                </a:solidFill>
                <a:latin typeface="Cabin"/>
                <a:ea typeface="Cabin"/>
                <a:cs typeface="Cabin"/>
                <a:sym typeface="Cabin"/>
              </a:rPr>
              <a:t>)</a:t>
            </a:r>
            <a:r>
              <a:rPr b="0" i="0" lang="en-US" sz="1300" u="none" cap="none" strike="noStrike">
                <a:solidFill>
                  <a:srgbClr val="CAD6DE"/>
                </a:solidFill>
                <a:latin typeface="Cabin"/>
                <a:ea typeface="Cabin"/>
                <a:cs typeface="Cabin"/>
                <a:sym typeface="Cabin"/>
              </a:rPr>
              <a:t>, </a:t>
            </a:r>
            <a:r>
              <a:rPr b="1" i="0" lang="en-US" sz="1300" u="none" cap="none" strike="noStrike">
                <a:solidFill>
                  <a:srgbClr val="CAD6DE"/>
                </a:solidFill>
                <a:latin typeface="Cabin"/>
                <a:ea typeface="Cabin"/>
                <a:cs typeface="Cabin"/>
                <a:sym typeface="Cabin"/>
              </a:rPr>
              <a:t>JavaScript (Fetch API)</a:t>
            </a:r>
            <a:r>
              <a:rPr b="0" i="0" lang="en-US" sz="1300" u="none" cap="none" strike="noStrike">
                <a:solidFill>
                  <a:srgbClr val="CAD6DE"/>
                </a:solidFill>
                <a:latin typeface="Cabin"/>
                <a:ea typeface="Cabin"/>
                <a:cs typeface="Cabin"/>
                <a:sym typeface="Cabin"/>
              </a:rPr>
              <a:t>.</a:t>
            </a:r>
            <a:endParaRPr b="0" i="0" sz="1300" u="none" cap="none" strike="noStrike">
              <a:solidFill>
                <a:schemeClr val="dk1"/>
              </a:solidFill>
              <a:latin typeface="Calibri"/>
              <a:ea typeface="Calibri"/>
              <a:cs typeface="Calibri"/>
              <a:sym typeface="Calibri"/>
            </a:endParaRPr>
          </a:p>
        </p:txBody>
      </p:sp>
      <p:pic>
        <p:nvPicPr>
          <p:cNvPr id="851" name="Google Shape;851;p67"/>
          <p:cNvPicPr preferRelativeResize="0"/>
          <p:nvPr/>
        </p:nvPicPr>
        <p:blipFill>
          <a:blip r:embed="rId3">
            <a:alphaModFix/>
          </a:blip>
          <a:stretch>
            <a:fillRect/>
          </a:stretch>
        </p:blipFill>
        <p:spPr>
          <a:xfrm>
            <a:off x="735925" y="1393013"/>
            <a:ext cx="6805272" cy="320526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68"/>
          <p:cNvSpPr/>
          <p:nvPr/>
        </p:nvSpPr>
        <p:spPr>
          <a:xfrm>
            <a:off x="698086" y="548580"/>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Step 2: Docker pauses the container</a:t>
            </a:r>
            <a:endParaRPr b="0" i="0" sz="3650" u="none" cap="none" strike="noStrike">
              <a:solidFill>
                <a:schemeClr val="dk1"/>
              </a:solidFill>
              <a:latin typeface="Calibri"/>
              <a:ea typeface="Calibri"/>
              <a:cs typeface="Calibri"/>
              <a:sym typeface="Calibri"/>
            </a:endParaRPr>
          </a:p>
        </p:txBody>
      </p:sp>
      <p:sp>
        <p:nvSpPr>
          <p:cNvPr id="858" name="Google Shape;858;p68"/>
          <p:cNvSpPr/>
          <p:nvPr/>
        </p:nvSpPr>
        <p:spPr>
          <a:xfrm>
            <a:off x="698086" y="1534220"/>
            <a:ext cx="10795524" cy="165794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950"/>
              <a:buFont typeface="Cabin"/>
              <a:buNone/>
            </a:pPr>
            <a:r>
              <a:rPr b="0" i="0" lang="en-US" sz="1950" u="none" cap="none" strike="noStrike">
                <a:solidFill>
                  <a:srgbClr val="CAD6DE"/>
                </a:solidFill>
                <a:latin typeface="Cabin"/>
                <a:ea typeface="Cabin"/>
                <a:cs typeface="Cabin"/>
                <a:sym typeface="Cabin"/>
              </a:rPr>
              <a:t>The call </a:t>
            </a:r>
            <a:r>
              <a:rPr b="0" i="0" lang="en-US" sz="1950" u="none" cap="none" strike="noStrike">
                <a:solidFill>
                  <a:srgbClr val="CAD6DE"/>
                </a:solidFill>
                <a:highlight>
                  <a:srgbClr val="1E3543"/>
                </a:highlight>
                <a:latin typeface="Consolas"/>
                <a:ea typeface="Consolas"/>
                <a:cs typeface="Consolas"/>
                <a:sym typeface="Consolas"/>
              </a:rPr>
              <a:t>target_container.pause()</a:t>
            </a:r>
            <a:r>
              <a:rPr b="0" i="0" lang="en-US" sz="1950" u="none" cap="none" strike="noStrike">
                <a:solidFill>
                  <a:srgbClr val="CAD6DE"/>
                </a:solidFill>
                <a:latin typeface="Cabin"/>
                <a:ea typeface="Cabin"/>
                <a:cs typeface="Cabin"/>
                <a:sym typeface="Cabin"/>
              </a:rPr>
              <a:t> is functionally identical to running the CLI command:</a:t>
            </a:r>
            <a:endParaRPr b="0" i="0" sz="1950" u="none" cap="none" strike="noStrike">
              <a:solidFill>
                <a:schemeClr val="dk1"/>
              </a:solidFill>
              <a:latin typeface="Calibri"/>
              <a:ea typeface="Calibri"/>
              <a:cs typeface="Calibri"/>
              <a:sym typeface="Calibri"/>
            </a:endParaRPr>
          </a:p>
          <a:p>
            <a:pPr indent="0" lvl="0" marL="0" marR="0" rtl="0" algn="l">
              <a:lnSpc>
                <a:spcPct val="133000"/>
              </a:lnSpc>
              <a:spcBef>
                <a:spcPts val="1750"/>
              </a:spcBef>
              <a:spcAft>
                <a:spcPts val="0"/>
              </a:spcAft>
              <a:buClr>
                <a:srgbClr val="CAD6DE"/>
              </a:buClr>
              <a:buSzPts val="1950"/>
              <a:buFont typeface="Consolas"/>
              <a:buNone/>
            </a:pPr>
            <a:r>
              <a:rPr b="0" i="0" lang="en-US" sz="1950" u="none" cap="none" strike="noStrike">
                <a:solidFill>
                  <a:srgbClr val="CAD6DE"/>
                </a:solidFill>
                <a:highlight>
                  <a:srgbClr val="1E3543"/>
                </a:highlight>
                <a:latin typeface="Consolas"/>
                <a:ea typeface="Consolas"/>
                <a:cs typeface="Consolas"/>
                <a:sym typeface="Consolas"/>
              </a:rPr>
              <a:t>docker pause implementation-drone-N</a:t>
            </a:r>
            <a:endParaRPr b="0" i="0" sz="1950" u="none" cap="none" strike="noStrike">
              <a:solidFill>
                <a:schemeClr val="dk1"/>
              </a:solidFill>
              <a:latin typeface="Calibri"/>
              <a:ea typeface="Calibri"/>
              <a:cs typeface="Calibri"/>
              <a:sym typeface="Calibri"/>
            </a:endParaRPr>
          </a:p>
          <a:p>
            <a:pPr indent="0" lvl="0" marL="0" marR="0" rtl="0" algn="l">
              <a:lnSpc>
                <a:spcPct val="133000"/>
              </a:lnSpc>
              <a:spcBef>
                <a:spcPts val="1750"/>
              </a:spcBef>
              <a:spcAft>
                <a:spcPts val="0"/>
              </a:spcAft>
              <a:buClr>
                <a:srgbClr val="CAD6DE"/>
              </a:buClr>
              <a:buSzPts val="1950"/>
              <a:buFont typeface="Cabin"/>
              <a:buNone/>
            </a:pPr>
            <a:r>
              <a:rPr b="1" i="0" lang="en-US" sz="1950" u="none" cap="none" strike="noStrike">
                <a:solidFill>
                  <a:srgbClr val="CAD6DE"/>
                </a:solidFill>
                <a:latin typeface="Cabin"/>
                <a:ea typeface="Cabin"/>
                <a:cs typeface="Cabin"/>
                <a:sym typeface="Cabin"/>
              </a:rPr>
              <a:t>At the Linux Operating System level:</a:t>
            </a:r>
            <a:endParaRPr b="0" i="0" sz="1950" u="none" cap="none" strike="noStrike">
              <a:solidFill>
                <a:schemeClr val="dk1"/>
              </a:solidFill>
              <a:latin typeface="Calibri"/>
              <a:ea typeface="Calibri"/>
              <a:cs typeface="Calibri"/>
              <a:sym typeface="Calibri"/>
            </a:endParaRPr>
          </a:p>
        </p:txBody>
      </p:sp>
      <p:sp>
        <p:nvSpPr>
          <p:cNvPr id="859" name="Google Shape;859;p68"/>
          <p:cNvSpPr/>
          <p:nvPr/>
        </p:nvSpPr>
        <p:spPr>
          <a:xfrm>
            <a:off x="698086" y="3416498"/>
            <a:ext cx="10795524" cy="1435298"/>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It issues a </a:t>
            </a:r>
            <a:r>
              <a:rPr b="0" i="0" lang="en-US" sz="1550" u="none" cap="none" strike="noStrike">
                <a:solidFill>
                  <a:srgbClr val="CAD6DE"/>
                </a:solidFill>
                <a:highlight>
                  <a:srgbClr val="1E3543"/>
                </a:highlight>
                <a:latin typeface="Consolas"/>
                <a:ea typeface="Consolas"/>
                <a:cs typeface="Consolas"/>
                <a:sym typeface="Consolas"/>
              </a:rPr>
              <a:t>SIGSTOP</a:t>
            </a:r>
            <a:r>
              <a:rPr b="1" i="0" lang="en-US" sz="1550" u="none" cap="none" strike="noStrike">
                <a:solidFill>
                  <a:srgbClr val="CAD6DE"/>
                </a:solidFill>
                <a:latin typeface="Cabin"/>
                <a:ea typeface="Cabin"/>
                <a:cs typeface="Cabin"/>
                <a:sym typeface="Cabin"/>
              </a:rPr>
              <a:t> signal</a:t>
            </a:r>
            <a:r>
              <a:rPr b="0" i="0" lang="en-US" sz="1550" u="none" cap="none" strike="noStrike">
                <a:solidFill>
                  <a:srgbClr val="CAD6DE"/>
                </a:solidFill>
                <a:latin typeface="Cabin"/>
                <a:ea typeface="Cabin"/>
                <a:cs typeface="Cabin"/>
                <a:sym typeface="Cabin"/>
              </a:rPr>
              <a:t> to all running processes inside that specific container.</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The Python process (</a:t>
            </a:r>
            <a:r>
              <a:rPr b="0" i="0" lang="en-US" sz="1550" u="none" cap="none" strike="noStrike">
                <a:solidFill>
                  <a:srgbClr val="CAD6DE"/>
                </a:solidFill>
                <a:highlight>
                  <a:srgbClr val="1E3543"/>
                </a:highlight>
                <a:latin typeface="Consolas"/>
                <a:ea typeface="Consolas"/>
                <a:cs typeface="Consolas"/>
                <a:sym typeface="Consolas"/>
              </a:rPr>
              <a:t>drone_agent_wrapper.py</a:t>
            </a:r>
            <a:r>
              <a:rPr b="0" i="0" lang="en-US" sz="1550" u="none" cap="none" strike="noStrike">
                <a:solidFill>
                  <a:srgbClr val="CAD6DE"/>
                </a:solidFill>
                <a:latin typeface="Cabin"/>
                <a:ea typeface="Cabin"/>
                <a:cs typeface="Cabin"/>
                <a:sym typeface="Cabin"/>
              </a:rPr>
              <a:t>) inside that container is </a:t>
            </a:r>
            <a:r>
              <a:rPr b="1" i="0" lang="en-US" sz="1550" u="none" cap="none" strike="noStrike">
                <a:solidFill>
                  <a:srgbClr val="CAD6DE"/>
                </a:solidFill>
                <a:latin typeface="Cabin"/>
                <a:ea typeface="Cabin"/>
                <a:cs typeface="Cabin"/>
                <a:sym typeface="Cabin"/>
              </a:rPr>
              <a:t>instantly frozen in its current execution state</a:t>
            </a:r>
            <a:r>
              <a:rPr b="0" i="0" lang="en-US" sz="1550" u="none" cap="none" strike="noStrike">
                <a:solidFill>
                  <a:srgbClr val="CAD6DE"/>
                </a:solidFill>
                <a:latin typeface="Cabin"/>
                <a:ea typeface="Cabin"/>
                <a:cs typeface="Cabin"/>
                <a:sym typeface="Cabin"/>
              </a:rPr>
              <a:t>.</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1" i="0" lang="en-US" sz="1550" u="none" cap="none" strike="noStrike">
                <a:solidFill>
                  <a:srgbClr val="CAD6DE"/>
                </a:solidFill>
                <a:latin typeface="Cabin"/>
                <a:ea typeface="Cabin"/>
                <a:cs typeface="Cabin"/>
                <a:sym typeface="Cabin"/>
              </a:rPr>
              <a:t>IMMEDIATE EFFECT:</a:t>
            </a:r>
            <a:r>
              <a:rPr b="0" i="0" lang="en-US" sz="1550" u="none" cap="none" strike="noStrike">
                <a:solidFill>
                  <a:srgbClr val="CAD6DE"/>
                </a:solidFill>
                <a:latin typeface="Cabin"/>
                <a:ea typeface="Cabin"/>
                <a:cs typeface="Cabin"/>
                <a:sym typeface="Cabin"/>
              </a:rPr>
              <a:t> The drone stops broadcasting messages across the ROS 2 / Fast-DDS bus. Odometry streaming and heartbeats on </a:t>
            </a:r>
            <a:r>
              <a:rPr b="0" i="0" lang="en-US" sz="1550" u="none" cap="none" strike="noStrike">
                <a:solidFill>
                  <a:srgbClr val="CAD6DE"/>
                </a:solidFill>
                <a:highlight>
                  <a:srgbClr val="1E3543"/>
                </a:highlight>
                <a:latin typeface="Consolas"/>
                <a:ea typeface="Consolas"/>
                <a:cs typeface="Consolas"/>
                <a:sym typeface="Consolas"/>
              </a:rPr>
              <a:t>/swarm/heartbeat</a:t>
            </a:r>
            <a:r>
              <a:rPr b="0" i="0" lang="en-US" sz="1550" u="none" cap="none" strike="noStrike">
                <a:solidFill>
                  <a:srgbClr val="CAD6DE"/>
                </a:solidFill>
                <a:latin typeface="Cabin"/>
                <a:ea typeface="Cabin"/>
                <a:cs typeface="Cabin"/>
                <a:sym typeface="Cabin"/>
              </a:rPr>
              <a:t> cease entirely.</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69"/>
          <p:cNvSpPr/>
          <p:nvPr/>
        </p:nvSpPr>
        <p:spPr>
          <a:xfrm>
            <a:off x="698086" y="548580"/>
            <a:ext cx="10795524" cy="11733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Step 3: How rust coordinator reacts to docker pause</a:t>
            </a:r>
            <a:endParaRPr b="0" i="0" sz="3650" u="none" cap="none" strike="noStrike">
              <a:solidFill>
                <a:schemeClr val="dk1"/>
              </a:solidFill>
              <a:latin typeface="Calibri"/>
              <a:ea typeface="Calibri"/>
              <a:cs typeface="Calibri"/>
              <a:sym typeface="Calibri"/>
            </a:endParaRPr>
          </a:p>
        </p:txBody>
      </p:sp>
      <p:sp>
        <p:nvSpPr>
          <p:cNvPr id="866" name="Google Shape;866;p69"/>
          <p:cNvSpPr/>
          <p:nvPr/>
        </p:nvSpPr>
        <p:spPr>
          <a:xfrm>
            <a:off x="698086" y="2120900"/>
            <a:ext cx="11405108" cy="39885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950"/>
              <a:buFont typeface="Cabin"/>
              <a:buNone/>
            </a:pPr>
            <a:r>
              <a:rPr b="0" i="0" lang="en-US" sz="1950" u="none" cap="none" strike="noStrike">
                <a:solidFill>
                  <a:srgbClr val="CAD6DE"/>
                </a:solidFill>
                <a:latin typeface="Cabin"/>
                <a:ea typeface="Cabin"/>
                <a:cs typeface="Cabin"/>
                <a:sym typeface="Cabin"/>
              </a:rPr>
              <a:t>Because the container process is frozen:</a:t>
            </a:r>
            <a:endParaRPr b="0" i="0" sz="1950" u="none" cap="none" strike="noStrike">
              <a:solidFill>
                <a:schemeClr val="dk1"/>
              </a:solidFill>
              <a:latin typeface="Calibri"/>
              <a:ea typeface="Calibri"/>
              <a:cs typeface="Calibri"/>
              <a:sym typeface="Calibri"/>
            </a:endParaRPr>
          </a:p>
        </p:txBody>
      </p:sp>
      <p:sp>
        <p:nvSpPr>
          <p:cNvPr id="867" name="Google Shape;867;p69"/>
          <p:cNvSpPr/>
          <p:nvPr/>
        </p:nvSpPr>
        <p:spPr>
          <a:xfrm>
            <a:off x="698086" y="2744093"/>
            <a:ext cx="10795524" cy="1046361"/>
          </a:xfrm>
          <a:prstGeom prst="rect">
            <a:avLst/>
          </a:prstGeom>
          <a:noFill/>
          <a:ln>
            <a:noFill/>
          </a:ln>
        </p:spPr>
        <p:txBody>
          <a:bodyPr anchorCtr="0" anchor="t" bIns="0" lIns="0" spcFirstLastPara="1" rIns="0" wrap="square" tIns="0">
            <a:noAutofit/>
          </a:bodyPr>
          <a:lstStyle/>
          <a:p>
            <a:pPr indent="-314960" lvl="0" marL="314960" marR="0" rtl="0" algn="l">
              <a:lnSpc>
                <a:spcPct val="133000"/>
              </a:lnSpc>
              <a:spcBef>
                <a:spcPts val="0"/>
              </a:spcBef>
              <a:spcAft>
                <a:spcPts val="0"/>
              </a:spcAft>
              <a:buClr>
                <a:srgbClr val="CAD6DE"/>
              </a:buClr>
              <a:buSzPts val="1550"/>
              <a:buFont typeface="Calibri"/>
              <a:buAutoNum type="arabicPeriod"/>
            </a:pPr>
            <a:r>
              <a:rPr b="1" i="0" lang="en-US" sz="1550" u="none" cap="none" strike="noStrike">
                <a:solidFill>
                  <a:srgbClr val="CAD6DE"/>
                </a:solidFill>
                <a:latin typeface="Cabin"/>
                <a:ea typeface="Cabin"/>
                <a:cs typeface="Cabin"/>
                <a:sym typeface="Cabin"/>
              </a:rPr>
              <a:t>After 5 seconds</a:t>
            </a:r>
            <a:r>
              <a:rPr b="0" i="0" lang="en-US" sz="1550" u="none" cap="none" strike="noStrike">
                <a:solidFill>
                  <a:srgbClr val="CAD6DE"/>
                </a:solidFill>
                <a:latin typeface="Cabin"/>
                <a:ea typeface="Cabin"/>
                <a:cs typeface="Cabin"/>
                <a:sym typeface="Cabin"/>
              </a:rPr>
              <a:t> of missing heartbeats, the Rust Coordinator's main event loop detects </a:t>
            </a:r>
            <a:r>
              <a:rPr lang="en-US" sz="1550">
                <a:solidFill>
                  <a:srgbClr val="CAD6DE"/>
                </a:solidFill>
                <a:highlight>
                  <a:srgbClr val="1E3543"/>
                </a:highlight>
                <a:latin typeface="Consolas"/>
                <a:ea typeface="Consolas"/>
                <a:cs typeface="Consolas"/>
                <a:sym typeface="Consolas"/>
              </a:rPr>
              <a:t>elapsed_seconds</a:t>
            </a:r>
            <a:r>
              <a:rPr b="0" i="0" lang="en-US" sz="1550" u="none" cap="none" strike="noStrike">
                <a:solidFill>
                  <a:srgbClr val="CAD6DE"/>
                </a:solidFill>
                <a:highlight>
                  <a:srgbClr val="1E3543"/>
                </a:highlight>
                <a:latin typeface="Consolas"/>
                <a:ea typeface="Consolas"/>
                <a:cs typeface="Consolas"/>
                <a:sym typeface="Consolas"/>
              </a:rPr>
              <a:t> &gt; 5s</a:t>
            </a:r>
            <a:r>
              <a:rPr b="0" i="0" lang="en-US" sz="1550" u="none" cap="none" strike="noStrike">
                <a:solidFill>
                  <a:srgbClr val="CAD6DE"/>
                </a:solidFill>
                <a:latin typeface="Cabin"/>
                <a:ea typeface="Cabin"/>
                <a:cs typeface="Cabin"/>
                <a:sym typeface="Cabin"/>
              </a:rPr>
              <a:t> and triggers FSM </a:t>
            </a:r>
            <a:r>
              <a:rPr lang="en-US" sz="1550">
                <a:solidFill>
                  <a:srgbClr val="CAD6DE"/>
                </a:solidFill>
                <a:latin typeface="Cabin"/>
                <a:ea typeface="Cabin"/>
                <a:cs typeface="Cabin"/>
                <a:sym typeface="Cabin"/>
              </a:rPr>
              <a:t>transition from </a:t>
            </a:r>
            <a:r>
              <a:rPr b="1" lang="en-US" sz="1550">
                <a:solidFill>
                  <a:srgbClr val="CAD6DE"/>
                </a:solidFill>
                <a:latin typeface="Cabin"/>
                <a:ea typeface="Cabin"/>
                <a:cs typeface="Cabin"/>
                <a:sym typeface="Cabin"/>
              </a:rPr>
              <a:t>Active</a:t>
            </a:r>
            <a:r>
              <a:rPr lang="en-US" sz="1550">
                <a:solidFill>
                  <a:srgbClr val="CAD6DE"/>
                </a:solidFill>
                <a:latin typeface="Cabin"/>
                <a:ea typeface="Cabin"/>
                <a:cs typeface="Cabin"/>
                <a:sym typeface="Cabin"/>
              </a:rPr>
              <a:t> to</a:t>
            </a:r>
            <a:r>
              <a:rPr b="0" i="0" lang="en-US" sz="1550" u="none" cap="none" strike="noStrike">
                <a:solidFill>
                  <a:srgbClr val="CAD6DE"/>
                </a:solidFill>
                <a:latin typeface="Cabin"/>
                <a:ea typeface="Cabin"/>
                <a:cs typeface="Cabin"/>
                <a:sym typeface="Cabin"/>
              </a:rPr>
              <a:t> </a:t>
            </a:r>
            <a:r>
              <a:rPr b="1" i="0" lang="en-US" sz="1550" u="none" cap="none" strike="noStrike">
                <a:solidFill>
                  <a:srgbClr val="CAD6DE"/>
                </a:solidFill>
                <a:latin typeface="Cabin"/>
                <a:ea typeface="Cabin"/>
                <a:cs typeface="Cabin"/>
                <a:sym typeface="Cabin"/>
              </a:rPr>
              <a:t>Suspected</a:t>
            </a:r>
            <a:r>
              <a:rPr b="0" i="0" lang="en-US" sz="1550" u="none" cap="none" strike="noStrike">
                <a:solidFill>
                  <a:srgbClr val="CAD6DE"/>
                </a:solidFill>
                <a:latin typeface="Cabin"/>
                <a:ea typeface="Cabin"/>
                <a:cs typeface="Cabin"/>
                <a:sym typeface="Cabin"/>
              </a:rPr>
              <a:t>.</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libri"/>
              <a:buAutoNum type="arabicPeriod"/>
            </a:pPr>
            <a:r>
              <a:rPr b="1" i="0" lang="en-US" sz="1550" u="none" cap="none" strike="noStrike">
                <a:solidFill>
                  <a:srgbClr val="CAD6DE"/>
                </a:solidFill>
                <a:latin typeface="Cabin"/>
                <a:ea typeface="Cabin"/>
                <a:cs typeface="Cabin"/>
                <a:sym typeface="Cabin"/>
              </a:rPr>
              <a:t>After 10 seconds</a:t>
            </a:r>
            <a:r>
              <a:rPr b="0" i="0" lang="en-US" sz="1550" u="none" cap="none" strike="noStrike">
                <a:solidFill>
                  <a:srgbClr val="CAD6DE"/>
                </a:solidFill>
                <a:latin typeface="Cabin"/>
                <a:ea typeface="Cabin"/>
                <a:cs typeface="Cabin"/>
                <a:sym typeface="Cabin"/>
              </a:rPr>
              <a:t>, the critical failure threshold is reached (</a:t>
            </a:r>
            <a:r>
              <a:rPr lang="en-US" sz="1550">
                <a:solidFill>
                  <a:srgbClr val="CAD6DE"/>
                </a:solidFill>
                <a:highlight>
                  <a:srgbClr val="1E3543"/>
                </a:highlight>
                <a:latin typeface="Consolas"/>
                <a:ea typeface="Consolas"/>
                <a:cs typeface="Consolas"/>
                <a:sym typeface="Consolas"/>
              </a:rPr>
              <a:t>elapsed_seconds </a:t>
            </a:r>
            <a:r>
              <a:rPr b="0" i="0" lang="en-US" sz="1550" u="none" cap="none" strike="noStrike">
                <a:solidFill>
                  <a:srgbClr val="CAD6DE"/>
                </a:solidFill>
                <a:highlight>
                  <a:srgbClr val="1E3543"/>
                </a:highlight>
                <a:latin typeface="Consolas"/>
                <a:ea typeface="Consolas"/>
                <a:cs typeface="Consolas"/>
                <a:sym typeface="Consolas"/>
              </a:rPr>
              <a:t>&gt; 10s</a:t>
            </a:r>
            <a:r>
              <a:rPr b="0" i="0" lang="en-US" sz="1550" u="none" cap="none" strike="noStrike">
                <a:solidFill>
                  <a:srgbClr val="CAD6DE"/>
                </a:solidFill>
                <a:latin typeface="Cabin"/>
                <a:ea typeface="Cabin"/>
                <a:cs typeface="Cabin"/>
                <a:sym typeface="Cabin"/>
              </a:rPr>
              <a:t>)</a:t>
            </a:r>
            <a:r>
              <a:rPr lang="en-US" sz="1550">
                <a:solidFill>
                  <a:srgbClr val="CAD6DE"/>
                </a:solidFill>
                <a:latin typeface="Cabin"/>
                <a:ea typeface="Cabin"/>
                <a:cs typeface="Cabin"/>
                <a:sym typeface="Cabin"/>
              </a:rPr>
              <a:t> </a:t>
            </a:r>
            <a:r>
              <a:rPr lang="en-US" sz="1550">
                <a:solidFill>
                  <a:srgbClr val="CAD6DE"/>
                </a:solidFill>
                <a:latin typeface="Cabin"/>
                <a:ea typeface="Cabin"/>
                <a:cs typeface="Cabin"/>
                <a:sym typeface="Cabin"/>
              </a:rPr>
              <a:t>and triggers FSM transition from </a:t>
            </a:r>
            <a:r>
              <a:rPr b="1" lang="en-US" sz="1550">
                <a:solidFill>
                  <a:srgbClr val="CAD6DE"/>
                </a:solidFill>
                <a:latin typeface="Cabin"/>
                <a:ea typeface="Cabin"/>
                <a:cs typeface="Cabin"/>
                <a:sym typeface="Cabin"/>
              </a:rPr>
              <a:t>Suspected</a:t>
            </a:r>
            <a:r>
              <a:rPr lang="en-US" sz="1550">
                <a:solidFill>
                  <a:srgbClr val="CAD6DE"/>
                </a:solidFill>
                <a:latin typeface="Cabin"/>
                <a:ea typeface="Cabin"/>
                <a:cs typeface="Cabin"/>
                <a:sym typeface="Cabin"/>
              </a:rPr>
              <a:t> to </a:t>
            </a:r>
            <a:r>
              <a:rPr b="1" lang="en-US" sz="1550">
                <a:solidFill>
                  <a:srgbClr val="CAD6DE"/>
                </a:solidFill>
                <a:latin typeface="Cabin"/>
                <a:ea typeface="Cabin"/>
                <a:cs typeface="Cabin"/>
                <a:sym typeface="Cabin"/>
              </a:rPr>
              <a:t>Failed</a:t>
            </a:r>
            <a:r>
              <a:rPr lang="en-US" sz="1550">
                <a:solidFill>
                  <a:srgbClr val="CAD6DE"/>
                </a:solidFill>
                <a:latin typeface="Cabin"/>
                <a:ea typeface="Cabin"/>
                <a:cs typeface="Cabin"/>
                <a:sym typeface="Cabin"/>
              </a:rPr>
              <a:t>.</a:t>
            </a:r>
            <a:endParaRPr sz="1550">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AutoNum type="arabicPeriod"/>
            </a:pPr>
            <a:r>
              <a:t/>
            </a:r>
            <a:endParaRPr sz="1550">
              <a:solidFill>
                <a:srgbClr val="CAD6DE"/>
              </a:solidFill>
              <a:latin typeface="Cabin"/>
              <a:ea typeface="Cabin"/>
              <a:cs typeface="Cabin"/>
              <a:sym typeface="Cabin"/>
            </a:endParaRPr>
          </a:p>
        </p:txBody>
      </p:sp>
      <p:sp>
        <p:nvSpPr>
          <p:cNvPr id="868" name="Google Shape;868;p69"/>
          <p:cNvSpPr/>
          <p:nvPr/>
        </p:nvSpPr>
        <p:spPr>
          <a:xfrm>
            <a:off x="650061" y="4101255"/>
            <a:ext cx="10795500" cy="1109700"/>
          </a:xfrm>
          <a:prstGeom prst="rect">
            <a:avLst/>
          </a:prstGeom>
          <a:noFill/>
          <a:ln>
            <a:noFill/>
          </a:ln>
        </p:spPr>
        <p:txBody>
          <a:bodyPr anchorCtr="0" anchor="t" bIns="0" lIns="0" spcFirstLastPara="1" rIns="0" wrap="square" tIns="79775">
            <a:noAutofit/>
          </a:bodyPr>
          <a:lstStyle/>
          <a:p>
            <a:pPr indent="-314960" lvl="1" marL="62992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Applies FSM event </a:t>
            </a:r>
            <a:r>
              <a:rPr b="0" i="0" lang="en-US" sz="1550" u="none" cap="none" strike="noStrike">
                <a:solidFill>
                  <a:srgbClr val="CAD6DE"/>
                </a:solidFill>
                <a:highlight>
                  <a:srgbClr val="1E3543"/>
                </a:highlight>
                <a:latin typeface="Consolas"/>
                <a:ea typeface="Consolas"/>
                <a:cs typeface="Consolas"/>
                <a:sym typeface="Consolas"/>
              </a:rPr>
              <a:t>DroneFailed</a:t>
            </a:r>
            <a:r>
              <a:rPr b="0" i="0" lang="en-US" sz="1550" u="none" cap="none" strike="noStrike">
                <a:solidFill>
                  <a:srgbClr val="CAD6DE"/>
                </a:solidFill>
                <a:latin typeface="Cabin"/>
                <a:ea typeface="Cabin"/>
                <a:cs typeface="Cabin"/>
                <a:sym typeface="Cabin"/>
              </a:rPr>
              <a:t> (</a:t>
            </a:r>
            <a:r>
              <a:rPr b="1" i="0" lang="en-US" sz="1550" u="none" cap="none" strike="noStrike">
                <a:solidFill>
                  <a:srgbClr val="CAD6DE"/>
                </a:solidFill>
                <a:latin typeface="Cabin"/>
                <a:ea typeface="Cabin"/>
                <a:cs typeface="Cabin"/>
                <a:sym typeface="Cabin"/>
              </a:rPr>
              <a:t>Failed</a:t>
            </a:r>
            <a:r>
              <a:rPr b="0" i="0" lang="en-US" sz="1550" u="none" cap="none" strike="noStrike">
                <a:solidFill>
                  <a:srgbClr val="CAD6DE"/>
                </a:solidFill>
                <a:latin typeface="Cabin"/>
                <a:ea typeface="Cabin"/>
                <a:cs typeface="Cabin"/>
                <a:sym typeface="Cabin"/>
              </a:rPr>
              <a:t> state).</a:t>
            </a:r>
            <a:endParaRPr b="0" i="0" sz="1550" u="none" cap="none" strike="noStrike">
              <a:solidFill>
                <a:schemeClr val="dk1"/>
              </a:solidFill>
              <a:latin typeface="Calibri"/>
              <a:ea typeface="Calibri"/>
              <a:cs typeface="Calibri"/>
              <a:sym typeface="Calibri"/>
            </a:endParaRPr>
          </a:p>
          <a:p>
            <a:pPr indent="-314960" lvl="1" marL="62992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Despawns the drone mesh from 3D Gazebo (</a:t>
            </a:r>
            <a:r>
              <a:rPr b="0" i="0" lang="en-US" sz="1550" u="none" cap="none" strike="noStrike">
                <a:solidFill>
                  <a:srgbClr val="CAD6DE"/>
                </a:solidFill>
                <a:highlight>
                  <a:srgbClr val="1E3543"/>
                </a:highlight>
                <a:latin typeface="Consolas"/>
                <a:ea typeface="Consolas"/>
                <a:cs typeface="Consolas"/>
                <a:sym typeface="Consolas"/>
              </a:rPr>
              <a:t>despawn_drone_from_gazebo</a:t>
            </a:r>
            <a:r>
              <a:rPr b="0" i="0" lang="en-US" sz="1550" u="none" cap="none" strike="noStrike">
                <a:solidFill>
                  <a:srgbClr val="CAD6DE"/>
                </a:solidFill>
                <a:latin typeface="Cabin"/>
                <a:ea typeface="Cabin"/>
                <a:cs typeface="Cabin"/>
                <a:sym typeface="Cabin"/>
              </a:rPr>
              <a:t>).</a:t>
            </a:r>
            <a:endParaRPr b="0" i="0" sz="1550" u="none" cap="none" strike="noStrike">
              <a:solidFill>
                <a:schemeClr val="dk1"/>
              </a:solidFill>
              <a:latin typeface="Calibri"/>
              <a:ea typeface="Calibri"/>
              <a:cs typeface="Calibri"/>
              <a:sym typeface="Calibri"/>
            </a:endParaRPr>
          </a:p>
          <a:p>
            <a:pPr indent="-314960" lvl="1" marL="62992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If the failed drone was the </a:t>
            </a:r>
            <a:r>
              <a:rPr b="1" i="0" lang="en-US" sz="1550" u="none" cap="none" strike="noStrike">
                <a:solidFill>
                  <a:srgbClr val="CAD6DE"/>
                </a:solidFill>
                <a:latin typeface="Cabin"/>
                <a:ea typeface="Cabin"/>
                <a:cs typeface="Cabin"/>
                <a:sym typeface="Cabin"/>
              </a:rPr>
              <a:t>Leader</a:t>
            </a:r>
            <a:r>
              <a:rPr b="0" i="0" lang="en-US" sz="1550" u="none" cap="none" strike="noStrike">
                <a:solidFill>
                  <a:srgbClr val="CAD6DE"/>
                </a:solidFill>
                <a:latin typeface="Cabin"/>
                <a:ea typeface="Cabin"/>
                <a:cs typeface="Cabin"/>
                <a:sym typeface="Cabin"/>
              </a:rPr>
              <a:t>, it triggers dynamic Leader Re-election and wing ripple-shift formation re-alignment!</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70"/>
          <p:cNvSpPr/>
          <p:nvPr/>
        </p:nvSpPr>
        <p:spPr>
          <a:xfrm>
            <a:off x="698086" y="548580"/>
            <a:ext cx="10795524" cy="46940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50"/>
              <a:buFont typeface="Unbounded"/>
              <a:buNone/>
            </a:pPr>
            <a:r>
              <a:rPr b="0" i="0" lang="en-US" sz="2950" u="none" cap="none" strike="noStrike">
                <a:solidFill>
                  <a:srgbClr val="FFFFFF"/>
                </a:solidFill>
                <a:latin typeface="Unbounded"/>
                <a:ea typeface="Unbounded"/>
                <a:cs typeface="Unbounded"/>
                <a:sym typeface="Unbounded"/>
              </a:rPr>
              <a:t>Drone Repair &amp; Re-integration: Two Scenarios</a:t>
            </a:r>
            <a:endParaRPr b="0" i="0" sz="2950" u="none" cap="none" strike="noStrike">
              <a:solidFill>
                <a:schemeClr val="dk1"/>
              </a:solidFill>
              <a:latin typeface="Calibri"/>
              <a:ea typeface="Calibri"/>
              <a:cs typeface="Calibri"/>
              <a:sym typeface="Calibri"/>
            </a:endParaRPr>
          </a:p>
        </p:txBody>
      </p:sp>
      <p:pic>
        <p:nvPicPr>
          <p:cNvPr descr="preencoded.png" id="875" name="Google Shape;875;p70"/>
          <p:cNvPicPr preferRelativeResize="0"/>
          <p:nvPr/>
        </p:nvPicPr>
        <p:blipFill rotWithShape="1">
          <a:blip r:embed="rId3">
            <a:alphaModFix/>
          </a:blip>
          <a:srcRect b="0" l="0" r="0" t="0"/>
          <a:stretch/>
        </p:blipFill>
        <p:spPr>
          <a:xfrm>
            <a:off x="698080" y="1978423"/>
            <a:ext cx="1081850" cy="1081850"/>
          </a:xfrm>
          <a:prstGeom prst="rect">
            <a:avLst/>
          </a:prstGeom>
          <a:noFill/>
          <a:ln>
            <a:noFill/>
          </a:ln>
        </p:spPr>
      </p:pic>
      <p:sp>
        <p:nvSpPr>
          <p:cNvPr id="876" name="Google Shape;876;p70"/>
          <p:cNvSpPr/>
          <p:nvPr/>
        </p:nvSpPr>
        <p:spPr>
          <a:xfrm>
            <a:off x="2073936" y="1978416"/>
            <a:ext cx="5203200" cy="234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450"/>
              <a:buFont typeface="Unbounded"/>
              <a:buNone/>
            </a:pPr>
            <a:r>
              <a:rPr b="0" i="0" lang="en-US" sz="1450" u="none" cap="none" strike="noStrike">
                <a:solidFill>
                  <a:srgbClr val="FFFFFF"/>
                </a:solidFill>
                <a:latin typeface="Unbounded"/>
                <a:ea typeface="Unbounded"/>
                <a:cs typeface="Unbounded"/>
                <a:sym typeface="Unbounded"/>
              </a:rPr>
              <a:t>Scenario 1: No Reconfiguration</a:t>
            </a:r>
            <a:endParaRPr b="0" i="0" sz="1450" u="none" cap="none" strike="noStrike">
              <a:solidFill>
                <a:schemeClr val="dk1"/>
              </a:solidFill>
              <a:latin typeface="Calibri"/>
              <a:ea typeface="Calibri"/>
              <a:cs typeface="Calibri"/>
              <a:sym typeface="Calibri"/>
            </a:endParaRPr>
          </a:p>
        </p:txBody>
      </p:sp>
      <p:sp>
        <p:nvSpPr>
          <p:cNvPr id="877" name="Google Shape;877;p70"/>
          <p:cNvSpPr/>
          <p:nvPr/>
        </p:nvSpPr>
        <p:spPr>
          <a:xfrm>
            <a:off x="2073936" y="2340663"/>
            <a:ext cx="5203200" cy="86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Formation remains unchanged while drone is offline. Upon repair, the drone automatically returns to its original slot. The coordinator sends it back to its previous position.</a:t>
            </a:r>
            <a:endParaRPr b="0" i="0" sz="1550" u="none" cap="none" strike="noStrike">
              <a:solidFill>
                <a:schemeClr val="dk1"/>
              </a:solidFill>
              <a:latin typeface="Calibri"/>
              <a:ea typeface="Calibri"/>
              <a:cs typeface="Calibri"/>
              <a:sym typeface="Calibri"/>
            </a:endParaRPr>
          </a:p>
        </p:txBody>
      </p:sp>
      <p:pic>
        <p:nvPicPr>
          <p:cNvPr descr="preencoded.png" id="878" name="Google Shape;878;p70"/>
          <p:cNvPicPr preferRelativeResize="0"/>
          <p:nvPr/>
        </p:nvPicPr>
        <p:blipFill rotWithShape="1">
          <a:blip r:embed="rId3">
            <a:alphaModFix/>
          </a:blip>
          <a:srcRect b="0" l="0" r="0" t="0"/>
          <a:stretch/>
        </p:blipFill>
        <p:spPr>
          <a:xfrm>
            <a:off x="698079" y="3960398"/>
            <a:ext cx="1081850" cy="1081878"/>
          </a:xfrm>
          <a:prstGeom prst="rect">
            <a:avLst/>
          </a:prstGeom>
          <a:noFill/>
          <a:ln>
            <a:noFill/>
          </a:ln>
        </p:spPr>
      </p:pic>
      <p:sp>
        <p:nvSpPr>
          <p:cNvPr id="879" name="Google Shape;879;p70"/>
          <p:cNvSpPr/>
          <p:nvPr/>
        </p:nvSpPr>
        <p:spPr>
          <a:xfrm>
            <a:off x="2073985" y="3899591"/>
            <a:ext cx="5203200" cy="234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450"/>
              <a:buFont typeface="Unbounded"/>
              <a:buNone/>
            </a:pPr>
            <a:r>
              <a:rPr b="0" i="0" lang="en-US" sz="1450" u="none" cap="none" strike="noStrike">
                <a:solidFill>
                  <a:srgbClr val="FFFFFF"/>
                </a:solidFill>
                <a:latin typeface="Unbounded"/>
                <a:ea typeface="Unbounded"/>
                <a:cs typeface="Unbounded"/>
                <a:sym typeface="Unbounded"/>
              </a:rPr>
              <a:t>Scenario 2: Formation Reconfigured</a:t>
            </a:r>
            <a:endParaRPr b="0" i="0" sz="1450" u="none" cap="none" strike="noStrike">
              <a:solidFill>
                <a:schemeClr val="dk1"/>
              </a:solidFill>
              <a:latin typeface="Calibri"/>
              <a:ea typeface="Calibri"/>
              <a:cs typeface="Calibri"/>
              <a:sym typeface="Calibri"/>
            </a:endParaRPr>
          </a:p>
        </p:txBody>
      </p:sp>
      <p:sp>
        <p:nvSpPr>
          <p:cNvPr id="880" name="Google Shape;880;p70"/>
          <p:cNvSpPr/>
          <p:nvPr/>
        </p:nvSpPr>
        <p:spPr>
          <a:xfrm>
            <a:off x="2073985" y="4261838"/>
            <a:ext cx="5203200" cy="1149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Leader fails and formation is reconfigured with ripple-shift. Original slot no longer exists. Upon repair, the drone is assigned to one of the formation ends and integrates at the edge.</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71"/>
          <p:cNvSpPr/>
          <p:nvPr/>
        </p:nvSpPr>
        <p:spPr>
          <a:xfrm>
            <a:off x="698086" y="548580"/>
            <a:ext cx="10795524" cy="52804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300"/>
              <a:buFont typeface="Unbounded"/>
              <a:buNone/>
            </a:pPr>
            <a:r>
              <a:rPr b="0" i="0" lang="en-US" sz="3300" u="none" cap="none" strike="noStrike">
                <a:solidFill>
                  <a:srgbClr val="FFFFFF"/>
                </a:solidFill>
                <a:latin typeface="Unbounded"/>
                <a:ea typeface="Unbounded"/>
                <a:cs typeface="Unbounded"/>
                <a:sym typeface="Unbounded"/>
              </a:rPr>
              <a:t>Repair:</a:t>
            </a:r>
            <a:endParaRPr b="0" i="0" sz="3300" u="none" cap="none" strike="noStrike">
              <a:solidFill>
                <a:schemeClr val="dk1"/>
              </a:solidFill>
              <a:latin typeface="Calibri"/>
              <a:ea typeface="Calibri"/>
              <a:cs typeface="Calibri"/>
              <a:sym typeface="Calibri"/>
            </a:endParaRPr>
          </a:p>
        </p:txBody>
      </p:sp>
      <p:sp>
        <p:nvSpPr>
          <p:cNvPr id="887" name="Google Shape;887;p71"/>
          <p:cNvSpPr/>
          <p:nvPr/>
        </p:nvSpPr>
        <p:spPr>
          <a:xfrm>
            <a:off x="7444494" y="1464270"/>
            <a:ext cx="4664950" cy="341114"/>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750"/>
              <a:buFont typeface="Cabin"/>
              <a:buNone/>
            </a:pPr>
            <a:r>
              <a:rPr b="1" i="0" lang="en-US" sz="1750" u="none" cap="none" strike="noStrike">
                <a:solidFill>
                  <a:srgbClr val="CAD6DE"/>
                </a:solidFill>
                <a:latin typeface="Cabin"/>
                <a:ea typeface="Cabin"/>
                <a:cs typeface="Cabin"/>
                <a:sym typeface="Cabin"/>
              </a:rPr>
              <a:t>Steps:</a:t>
            </a:r>
            <a:endParaRPr b="0" i="0" sz="1750" u="none" cap="none" strike="noStrike">
              <a:solidFill>
                <a:schemeClr val="dk1"/>
              </a:solidFill>
              <a:latin typeface="Calibri"/>
              <a:ea typeface="Calibri"/>
              <a:cs typeface="Calibri"/>
              <a:sym typeface="Calibri"/>
            </a:endParaRPr>
          </a:p>
        </p:txBody>
      </p:sp>
      <p:sp>
        <p:nvSpPr>
          <p:cNvPr id="888" name="Google Shape;888;p71"/>
          <p:cNvSpPr/>
          <p:nvPr/>
        </p:nvSpPr>
        <p:spPr>
          <a:xfrm>
            <a:off x="7444501" y="1950750"/>
            <a:ext cx="4485900" cy="3486900"/>
          </a:xfrm>
          <a:prstGeom prst="rect">
            <a:avLst/>
          </a:prstGeom>
          <a:noFill/>
          <a:ln>
            <a:noFill/>
          </a:ln>
        </p:spPr>
        <p:txBody>
          <a:bodyPr anchorCtr="0" anchor="t" bIns="0" lIns="0" spcFirstLastPara="1" rIns="0" wrap="square" tIns="71800">
            <a:noAutofit/>
          </a:bodyPr>
          <a:lstStyle/>
          <a:p>
            <a:pPr indent="-317500" lvl="0" marL="457200" marR="0" rtl="0" algn="l">
              <a:lnSpc>
                <a:spcPct val="127000"/>
              </a:lnSpc>
              <a:spcBef>
                <a:spcPts val="0"/>
              </a:spcBef>
              <a:spcAft>
                <a:spcPts val="0"/>
              </a:spcAft>
              <a:buClr>
                <a:srgbClr val="CAD6DE"/>
              </a:buClr>
              <a:buSzPts val="1400"/>
              <a:buChar char="●"/>
            </a:pPr>
            <a:r>
              <a:rPr b="0" i="0" lang="en-US" sz="1400" u="none" cap="none" strike="noStrike">
                <a:solidFill>
                  <a:srgbClr val="CAD6DE"/>
                </a:solidFill>
                <a:latin typeface="Cabin"/>
                <a:ea typeface="Cabin"/>
                <a:cs typeface="Cabin"/>
                <a:sym typeface="Cabin"/>
              </a:rPr>
              <a:t>When you click </a:t>
            </a:r>
            <a:r>
              <a:rPr b="1" i="0" lang="en-US" sz="1400" u="none" cap="none" strike="noStrike">
                <a:solidFill>
                  <a:srgbClr val="CAD6DE"/>
                </a:solidFill>
                <a:latin typeface="Cabin"/>
                <a:ea typeface="Cabin"/>
                <a:cs typeface="Cabin"/>
                <a:sym typeface="Cabin"/>
              </a:rPr>
              <a:t>"Simulate Repair"</a:t>
            </a:r>
            <a:r>
              <a:rPr b="0" i="0" lang="en-US" sz="1400" u="none" cap="none" strike="noStrike">
                <a:solidFill>
                  <a:srgbClr val="CAD6DE"/>
                </a:solidFill>
                <a:latin typeface="Cabin"/>
                <a:ea typeface="Cabin"/>
                <a:cs typeface="Cabin"/>
                <a:sym typeface="Cabin"/>
              </a:rPr>
              <a:t>, it sends </a:t>
            </a:r>
            <a:r>
              <a:rPr b="0" i="0" lang="en-US" sz="1400" u="none" cap="none" strike="noStrike">
                <a:solidFill>
                  <a:srgbClr val="CAD6DE"/>
                </a:solidFill>
                <a:highlight>
                  <a:srgbClr val="1E3543"/>
                </a:highlight>
                <a:latin typeface="Consolas"/>
                <a:ea typeface="Consolas"/>
                <a:cs typeface="Consolas"/>
                <a:sym typeface="Consolas"/>
              </a:rPr>
              <a:t>POST /api/drone/drone_1/unpause</a:t>
            </a:r>
            <a:r>
              <a:rPr b="0" i="0" lang="en-US" sz="1400" u="none" cap="none" strike="noStrike">
                <a:solidFill>
                  <a:srgbClr val="CAD6DE"/>
                </a:solidFill>
                <a:latin typeface="Cabin"/>
                <a:ea typeface="Cabin"/>
                <a:cs typeface="Cabin"/>
                <a:sym typeface="Cabin"/>
              </a:rPr>
              <a:t>.</a:t>
            </a:r>
            <a:endParaRPr b="0" i="0" sz="1400" u="none" cap="none" strike="noStrike">
              <a:solidFill>
                <a:schemeClr val="dk1"/>
              </a:solidFill>
              <a:latin typeface="Calibri"/>
              <a:ea typeface="Calibri"/>
              <a:cs typeface="Calibri"/>
              <a:sym typeface="Calibri"/>
            </a:endParaRPr>
          </a:p>
          <a:p>
            <a:pPr indent="-317500" lvl="0" marL="457200" marR="0" rtl="0" algn="l">
              <a:lnSpc>
                <a:spcPct val="127000"/>
              </a:lnSpc>
              <a:spcBef>
                <a:spcPts val="0"/>
              </a:spcBef>
              <a:spcAft>
                <a:spcPts val="0"/>
              </a:spcAft>
              <a:buClr>
                <a:srgbClr val="CAD6DE"/>
              </a:buClr>
              <a:buSzPts val="1400"/>
              <a:buChar char="●"/>
            </a:pPr>
            <a:r>
              <a:rPr b="0" i="0" lang="en-US" sz="1400" u="none" cap="none" strike="noStrike">
                <a:solidFill>
                  <a:srgbClr val="CAD6DE"/>
                </a:solidFill>
                <a:latin typeface="Cabin"/>
                <a:ea typeface="Cabin"/>
                <a:cs typeface="Cabin"/>
                <a:sym typeface="Cabin"/>
              </a:rPr>
              <a:t>FastAPI executes </a:t>
            </a:r>
            <a:r>
              <a:rPr b="0" i="0" lang="en-US" sz="1400" u="none" cap="none" strike="noStrike">
                <a:solidFill>
                  <a:srgbClr val="CAD6DE"/>
                </a:solidFill>
                <a:highlight>
                  <a:srgbClr val="1E3543"/>
                </a:highlight>
                <a:latin typeface="Consolas"/>
                <a:ea typeface="Consolas"/>
                <a:cs typeface="Consolas"/>
                <a:sym typeface="Consolas"/>
              </a:rPr>
              <a:t>target_container.unpause()</a:t>
            </a:r>
            <a:r>
              <a:rPr b="0" i="0" lang="en-US" sz="1400" u="none" cap="none" strike="noStrike">
                <a:solidFill>
                  <a:srgbClr val="CAD6DE"/>
                </a:solidFill>
                <a:latin typeface="Cabin"/>
                <a:ea typeface="Cabin"/>
                <a:cs typeface="Cabin"/>
                <a:sym typeface="Cabin"/>
              </a:rPr>
              <a:t> (equivalent to </a:t>
            </a:r>
            <a:r>
              <a:rPr b="0" i="0" lang="en-US" sz="1400" u="none" cap="none" strike="noStrike">
                <a:solidFill>
                  <a:srgbClr val="CAD6DE"/>
                </a:solidFill>
                <a:highlight>
                  <a:srgbClr val="1E3543"/>
                </a:highlight>
                <a:latin typeface="Consolas"/>
                <a:ea typeface="Consolas"/>
                <a:cs typeface="Consolas"/>
                <a:sym typeface="Consolas"/>
              </a:rPr>
              <a:t>docker unpause</a:t>
            </a:r>
            <a:r>
              <a:rPr b="0" i="0" lang="en-US" sz="1400" u="none" cap="none" strike="noStrike">
                <a:solidFill>
                  <a:srgbClr val="CAD6DE"/>
                </a:solidFill>
                <a:latin typeface="Cabin"/>
                <a:ea typeface="Cabin"/>
                <a:cs typeface="Cabin"/>
                <a:sym typeface="Cabin"/>
              </a:rPr>
              <a:t>)</a:t>
            </a:r>
            <a:endParaRPr b="0" i="0" sz="1400" u="none" cap="none" strike="noStrike">
              <a:solidFill>
                <a:schemeClr val="dk1"/>
              </a:solidFill>
              <a:latin typeface="Calibri"/>
              <a:ea typeface="Calibri"/>
              <a:cs typeface="Calibri"/>
              <a:sym typeface="Calibri"/>
            </a:endParaRPr>
          </a:p>
          <a:p>
            <a:pPr indent="-317500" lvl="0" marL="457200" marR="0" rtl="0" algn="l">
              <a:lnSpc>
                <a:spcPct val="127000"/>
              </a:lnSpc>
              <a:spcBef>
                <a:spcPts val="0"/>
              </a:spcBef>
              <a:spcAft>
                <a:spcPts val="0"/>
              </a:spcAft>
              <a:buClr>
                <a:srgbClr val="CAD6DE"/>
              </a:buClr>
              <a:buSzPts val="1400"/>
              <a:buChar char="●"/>
            </a:pPr>
            <a:r>
              <a:rPr b="0" i="0" lang="en-US" sz="1400" u="none" cap="none" strike="noStrike">
                <a:solidFill>
                  <a:srgbClr val="CAD6DE"/>
                </a:solidFill>
                <a:latin typeface="Cabin"/>
                <a:ea typeface="Cabin"/>
                <a:cs typeface="Cabin"/>
                <a:sym typeface="Cabin"/>
              </a:rPr>
              <a:t>The container process is unfrozen (</a:t>
            </a:r>
            <a:r>
              <a:rPr b="0" i="0" lang="en-US" sz="1400" u="none" cap="none" strike="noStrike">
                <a:solidFill>
                  <a:srgbClr val="CAD6DE"/>
                </a:solidFill>
                <a:highlight>
                  <a:srgbClr val="1E3543"/>
                </a:highlight>
                <a:latin typeface="Consolas"/>
                <a:ea typeface="Consolas"/>
                <a:cs typeface="Consolas"/>
                <a:sym typeface="Consolas"/>
              </a:rPr>
              <a:t>SIGCONT</a:t>
            </a:r>
            <a:r>
              <a:rPr b="0" i="0" lang="en-US" sz="1400" u="none" cap="none" strike="noStrike">
                <a:solidFill>
                  <a:srgbClr val="CAD6DE"/>
                </a:solidFill>
                <a:latin typeface="Cabin"/>
                <a:ea typeface="Cabin"/>
                <a:cs typeface="Cabin"/>
                <a:sym typeface="Cabin"/>
              </a:rPr>
              <a:t>) and the process resumes execution, re-broadcasts on </a:t>
            </a:r>
            <a:r>
              <a:rPr b="0" i="0" lang="en-US" sz="1400" u="none" cap="none" strike="noStrike">
                <a:solidFill>
                  <a:srgbClr val="CAD6DE"/>
                </a:solidFill>
                <a:highlight>
                  <a:srgbClr val="1E3543"/>
                </a:highlight>
                <a:latin typeface="Consolas"/>
                <a:ea typeface="Consolas"/>
                <a:cs typeface="Consolas"/>
                <a:sym typeface="Consolas"/>
              </a:rPr>
              <a:t>/swarm/register</a:t>
            </a:r>
            <a:r>
              <a:rPr b="0" i="0" lang="en-US" sz="1400" u="none" cap="none" strike="noStrike">
                <a:solidFill>
                  <a:srgbClr val="CAD6DE"/>
                </a:solidFill>
                <a:latin typeface="Cabin"/>
                <a:ea typeface="Cabin"/>
                <a:cs typeface="Cabin"/>
                <a:sym typeface="Cabin"/>
              </a:rPr>
              <a:t>.</a:t>
            </a:r>
            <a:endParaRPr b="0" i="0" sz="1400" u="none" cap="none" strike="noStrike">
              <a:solidFill>
                <a:schemeClr val="dk1"/>
              </a:solidFill>
              <a:latin typeface="Calibri"/>
              <a:ea typeface="Calibri"/>
              <a:cs typeface="Calibri"/>
              <a:sym typeface="Calibri"/>
            </a:endParaRPr>
          </a:p>
          <a:p>
            <a:pPr indent="-317500" lvl="0" marL="457200" marR="0" rtl="0" algn="l">
              <a:lnSpc>
                <a:spcPct val="127000"/>
              </a:lnSpc>
              <a:spcBef>
                <a:spcPts val="0"/>
              </a:spcBef>
              <a:spcAft>
                <a:spcPts val="0"/>
              </a:spcAft>
              <a:buClr>
                <a:srgbClr val="CAD6DE"/>
              </a:buClr>
              <a:buSzPts val="1400"/>
              <a:buChar char="●"/>
            </a:pPr>
            <a:r>
              <a:rPr b="0" i="0" lang="en-US" sz="1400" u="none" cap="none" strike="noStrike">
                <a:solidFill>
                  <a:srgbClr val="CAD6DE"/>
                </a:solidFill>
                <a:latin typeface="Cabin"/>
                <a:ea typeface="Cabin"/>
                <a:cs typeface="Cabin"/>
                <a:sym typeface="Cabin"/>
              </a:rPr>
              <a:t>The Rust Coordinator applies FSM event </a:t>
            </a:r>
            <a:r>
              <a:rPr b="0" i="0" lang="en-US" sz="1400" u="none" cap="none" strike="noStrike">
                <a:solidFill>
                  <a:srgbClr val="CAD6DE"/>
                </a:solidFill>
                <a:highlight>
                  <a:srgbClr val="1E3543"/>
                </a:highlight>
                <a:latin typeface="Consolas"/>
                <a:ea typeface="Consolas"/>
                <a:cs typeface="Consolas"/>
                <a:sym typeface="Consolas"/>
              </a:rPr>
              <a:t>RepairCompleted</a:t>
            </a:r>
            <a:r>
              <a:rPr b="0" i="0" lang="en-US" sz="1400" u="none" cap="none" strike="noStrike">
                <a:solidFill>
                  <a:srgbClr val="CAD6DE"/>
                </a:solidFill>
                <a:latin typeface="Cabin"/>
                <a:ea typeface="Cabin"/>
                <a:cs typeface="Cabin"/>
                <a:sym typeface="Cabin"/>
              </a:rPr>
              <a:t> ( </a:t>
            </a:r>
            <a:r>
              <a:rPr b="0" i="0" lang="en-US" sz="1400" u="none" cap="none" strike="noStrike">
                <a:solidFill>
                  <a:srgbClr val="CAD6DE"/>
                </a:solidFill>
                <a:highlight>
                  <a:srgbClr val="1E3543"/>
                </a:highlight>
                <a:latin typeface="Consolas"/>
                <a:ea typeface="Consolas"/>
                <a:cs typeface="Consolas"/>
                <a:sym typeface="Consolas"/>
              </a:rPr>
              <a:t>Unregistered</a:t>
            </a:r>
            <a:r>
              <a:rPr b="0" i="0" lang="en-US" sz="1400" u="none" cap="none" strike="noStrike">
                <a:solidFill>
                  <a:srgbClr val="CAD6DE"/>
                </a:solidFill>
                <a:latin typeface="Cabin"/>
                <a:ea typeface="Cabin"/>
                <a:cs typeface="Cabin"/>
                <a:sym typeface="Cabin"/>
              </a:rPr>
              <a:t> → </a:t>
            </a:r>
            <a:r>
              <a:rPr b="0" i="0" lang="en-US" sz="1400" u="none" cap="none" strike="noStrike">
                <a:solidFill>
                  <a:srgbClr val="CAD6DE"/>
                </a:solidFill>
                <a:highlight>
                  <a:srgbClr val="1E3543"/>
                </a:highlight>
                <a:latin typeface="Consolas"/>
                <a:ea typeface="Consolas"/>
                <a:cs typeface="Consolas"/>
                <a:sym typeface="Consolas"/>
              </a:rPr>
              <a:t>Active</a:t>
            </a:r>
            <a:r>
              <a:rPr b="0" i="0" lang="en-US" sz="1400" u="none" cap="none" strike="noStrike">
                <a:solidFill>
                  <a:srgbClr val="CAD6DE"/>
                </a:solidFill>
                <a:latin typeface="Cabin"/>
                <a:ea typeface="Cabin"/>
                <a:cs typeface="Cabin"/>
                <a:sym typeface="Cabin"/>
              </a:rPr>
              <a:t>), respawns the 3D model in Gazebo, and the drone autonomously navigates back to its designated formation slot!</a:t>
            </a:r>
            <a:endParaRPr b="0" i="0" sz="1400" u="none" cap="none" strike="noStrike">
              <a:solidFill>
                <a:schemeClr val="dk1"/>
              </a:solidFill>
              <a:latin typeface="Calibri"/>
              <a:ea typeface="Calibri"/>
              <a:cs typeface="Calibri"/>
              <a:sym typeface="Calibri"/>
            </a:endParaRPr>
          </a:p>
        </p:txBody>
      </p:sp>
      <p:pic>
        <p:nvPicPr>
          <p:cNvPr id="889" name="Google Shape;889;p71"/>
          <p:cNvPicPr preferRelativeResize="0"/>
          <p:nvPr/>
        </p:nvPicPr>
        <p:blipFill>
          <a:blip r:embed="rId3">
            <a:alphaModFix/>
          </a:blip>
          <a:stretch>
            <a:fillRect/>
          </a:stretch>
        </p:blipFill>
        <p:spPr>
          <a:xfrm>
            <a:off x="306850" y="1471475"/>
            <a:ext cx="6938174" cy="44453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72"/>
          <p:cNvSpPr/>
          <p:nvPr/>
        </p:nvSpPr>
        <p:spPr>
          <a:xfrm>
            <a:off x="698086" y="548580"/>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Summary: Key Results</a:t>
            </a:r>
            <a:endParaRPr b="0" i="0" sz="3650" u="none" cap="none" strike="noStrike">
              <a:solidFill>
                <a:schemeClr val="dk1"/>
              </a:solidFill>
              <a:latin typeface="Calibri"/>
              <a:ea typeface="Calibri"/>
              <a:cs typeface="Calibri"/>
              <a:sym typeface="Calibri"/>
            </a:endParaRPr>
          </a:p>
        </p:txBody>
      </p:sp>
      <p:sp>
        <p:nvSpPr>
          <p:cNvPr id="896" name="Google Shape;896;p72"/>
          <p:cNvSpPr/>
          <p:nvPr/>
        </p:nvSpPr>
        <p:spPr>
          <a:xfrm>
            <a:off x="698086" y="1534220"/>
            <a:ext cx="3465525" cy="4728865"/>
          </a:xfrm>
          <a:prstGeom prst="roundRect">
            <a:avLst>
              <a:gd fmla="val 863"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72"/>
          <p:cNvSpPr/>
          <p:nvPr/>
        </p:nvSpPr>
        <p:spPr>
          <a:xfrm>
            <a:off x="2131662" y="1733649"/>
            <a:ext cx="598373" cy="598388"/>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8" name="Google Shape;898;p72"/>
          <p:cNvPicPr preferRelativeResize="0"/>
          <p:nvPr/>
        </p:nvPicPr>
        <p:blipFill rotWithShape="1">
          <a:blip r:embed="rId3">
            <a:alphaModFix/>
          </a:blip>
          <a:srcRect b="0" l="0" r="0" t="0"/>
          <a:stretch/>
        </p:blipFill>
        <p:spPr>
          <a:xfrm>
            <a:off x="2296162" y="1898154"/>
            <a:ext cx="269273" cy="269280"/>
          </a:xfrm>
          <a:prstGeom prst="rect">
            <a:avLst/>
          </a:prstGeom>
          <a:noFill/>
          <a:ln>
            <a:noFill/>
          </a:ln>
        </p:spPr>
      </p:pic>
      <p:sp>
        <p:nvSpPr>
          <p:cNvPr id="899" name="Google Shape;899;p72"/>
          <p:cNvSpPr/>
          <p:nvPr/>
        </p:nvSpPr>
        <p:spPr>
          <a:xfrm>
            <a:off x="897510" y="2531467"/>
            <a:ext cx="3066676" cy="879872"/>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AD6DE"/>
              </a:buClr>
              <a:buSzPts val="1800"/>
              <a:buFont typeface="Unbounded"/>
              <a:buNone/>
            </a:pPr>
            <a:r>
              <a:rPr b="1" i="0" lang="en-US" sz="1800" u="none" cap="none" strike="noStrike">
                <a:solidFill>
                  <a:srgbClr val="CAD6DE"/>
                </a:solidFill>
                <a:latin typeface="Unbounded"/>
                <a:ea typeface="Unbounded"/>
                <a:cs typeface="Unbounded"/>
                <a:sym typeface="Unbounded"/>
              </a:rPr>
              <a:t>Distributed &amp; Fault-Tolerant Swarm Architecture</a:t>
            </a:r>
            <a:endParaRPr b="0" i="0" sz="1800" u="none" cap="none" strike="noStrike">
              <a:solidFill>
                <a:schemeClr val="dk1"/>
              </a:solidFill>
              <a:latin typeface="Calibri"/>
              <a:ea typeface="Calibri"/>
              <a:cs typeface="Calibri"/>
              <a:sym typeface="Calibri"/>
            </a:endParaRPr>
          </a:p>
        </p:txBody>
      </p:sp>
      <p:sp>
        <p:nvSpPr>
          <p:cNvPr id="900" name="Google Shape;900;p72"/>
          <p:cNvSpPr/>
          <p:nvPr/>
        </p:nvSpPr>
        <p:spPr>
          <a:xfrm>
            <a:off x="897510" y="3530997"/>
            <a:ext cx="3066676" cy="2064048"/>
          </a:xfrm>
          <a:prstGeom prst="rect">
            <a:avLst/>
          </a:prstGeom>
          <a:noFill/>
          <a:ln>
            <a:noFill/>
          </a:ln>
        </p:spPr>
        <p:txBody>
          <a:bodyPr anchorCtr="0" anchor="t" bIns="0" lIns="0" spcFirstLastPara="1" rIns="0" wrap="square" tIns="99725">
            <a:noAutofit/>
          </a:bodyPr>
          <a:lstStyle/>
          <a:p>
            <a:pPr indent="-396240" lvl="0" marL="396240" marR="0" rtl="0" algn="l">
              <a:lnSpc>
                <a:spcPct val="133000"/>
              </a:lnSpc>
              <a:spcBef>
                <a:spcPts val="0"/>
              </a:spcBef>
              <a:spcAft>
                <a:spcPts val="0"/>
              </a:spcAft>
              <a:buClr>
                <a:srgbClr val="CAD6DE"/>
              </a:buClr>
              <a:buSzPts val="1950"/>
              <a:buFont typeface="Cabin"/>
              <a:buChar char="•"/>
            </a:pPr>
            <a:r>
              <a:rPr b="0" i="0" lang="en-US" sz="1950" u="none" cap="none" strike="noStrike">
                <a:solidFill>
                  <a:srgbClr val="CAD6DE"/>
                </a:solidFill>
                <a:latin typeface="Cabin"/>
                <a:ea typeface="Cabin"/>
                <a:cs typeface="Cabin"/>
                <a:sym typeface="Cabin"/>
              </a:rPr>
              <a:t>Coordinated swarm based on ROS 2 &amp; Docker</a:t>
            </a:r>
            <a:endParaRPr b="0" i="0" sz="1950" u="none" cap="none" strike="noStrike">
              <a:solidFill>
                <a:schemeClr val="dk1"/>
              </a:solidFill>
              <a:latin typeface="Calibri"/>
              <a:ea typeface="Calibri"/>
              <a:cs typeface="Calibri"/>
              <a:sym typeface="Calibri"/>
            </a:endParaRPr>
          </a:p>
          <a:p>
            <a:pPr indent="-396240" lvl="0" marL="396240" marR="0" rtl="0" algn="l">
              <a:lnSpc>
                <a:spcPct val="133000"/>
              </a:lnSpc>
              <a:spcBef>
                <a:spcPts val="0"/>
              </a:spcBef>
              <a:spcAft>
                <a:spcPts val="0"/>
              </a:spcAft>
              <a:buClr>
                <a:srgbClr val="CAD6DE"/>
              </a:buClr>
              <a:buSzPts val="1950"/>
              <a:buFont typeface="Cabin"/>
              <a:buChar char="•"/>
            </a:pPr>
            <a:r>
              <a:rPr b="0" i="0" lang="en-US" sz="1950" u="none" cap="none" strike="noStrike">
                <a:solidFill>
                  <a:srgbClr val="CAD6DE"/>
                </a:solidFill>
                <a:latin typeface="Cabin"/>
                <a:ea typeface="Cabin"/>
                <a:cs typeface="Cabin"/>
                <a:sym typeface="Cabin"/>
              </a:rPr>
              <a:t>Actor Model with asynchronous messaging</a:t>
            </a:r>
            <a:endParaRPr b="0" i="0" sz="1950" u="none" cap="none" strike="noStrike">
              <a:solidFill>
                <a:schemeClr val="dk1"/>
              </a:solidFill>
              <a:latin typeface="Calibri"/>
              <a:ea typeface="Calibri"/>
              <a:cs typeface="Calibri"/>
              <a:sym typeface="Calibri"/>
            </a:endParaRPr>
          </a:p>
        </p:txBody>
      </p:sp>
      <p:sp>
        <p:nvSpPr>
          <p:cNvPr id="901" name="Google Shape;901;p72"/>
          <p:cNvSpPr/>
          <p:nvPr/>
        </p:nvSpPr>
        <p:spPr>
          <a:xfrm>
            <a:off x="4363035" y="1534220"/>
            <a:ext cx="3465525" cy="4728865"/>
          </a:xfrm>
          <a:prstGeom prst="roundRect">
            <a:avLst>
              <a:gd fmla="val 863"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2"/>
          <p:cNvSpPr/>
          <p:nvPr/>
        </p:nvSpPr>
        <p:spPr>
          <a:xfrm>
            <a:off x="5796611" y="1733649"/>
            <a:ext cx="598373" cy="598388"/>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3" name="Google Shape;903;p72"/>
          <p:cNvPicPr preferRelativeResize="0"/>
          <p:nvPr/>
        </p:nvPicPr>
        <p:blipFill rotWithShape="1">
          <a:blip r:embed="rId4">
            <a:alphaModFix/>
          </a:blip>
          <a:srcRect b="0" l="0" r="0" t="0"/>
          <a:stretch/>
        </p:blipFill>
        <p:spPr>
          <a:xfrm>
            <a:off x="5961112" y="1898154"/>
            <a:ext cx="269273" cy="269280"/>
          </a:xfrm>
          <a:prstGeom prst="rect">
            <a:avLst/>
          </a:prstGeom>
          <a:noFill/>
          <a:ln>
            <a:noFill/>
          </a:ln>
        </p:spPr>
      </p:pic>
      <p:sp>
        <p:nvSpPr>
          <p:cNvPr id="904" name="Google Shape;904;p72"/>
          <p:cNvSpPr/>
          <p:nvPr/>
        </p:nvSpPr>
        <p:spPr>
          <a:xfrm>
            <a:off x="4562460" y="2531467"/>
            <a:ext cx="3066676" cy="586581"/>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AD6DE"/>
              </a:buClr>
              <a:buSzPts val="1800"/>
              <a:buFont typeface="Unbounded"/>
              <a:buNone/>
            </a:pPr>
            <a:r>
              <a:rPr b="1" i="0" lang="en-US" sz="1800" u="none" cap="none" strike="noStrike">
                <a:solidFill>
                  <a:srgbClr val="CAD6DE"/>
                </a:solidFill>
                <a:latin typeface="Unbounded"/>
                <a:ea typeface="Unbounded"/>
                <a:cs typeface="Unbounded"/>
                <a:sym typeface="Unbounded"/>
              </a:rPr>
              <a:t>Formally Verified FSM Correctness</a:t>
            </a:r>
            <a:endParaRPr b="0" i="0" sz="1800" u="none" cap="none" strike="noStrike">
              <a:solidFill>
                <a:schemeClr val="dk1"/>
              </a:solidFill>
              <a:latin typeface="Calibri"/>
              <a:ea typeface="Calibri"/>
              <a:cs typeface="Calibri"/>
              <a:sym typeface="Calibri"/>
            </a:endParaRPr>
          </a:p>
        </p:txBody>
      </p:sp>
      <p:sp>
        <p:nvSpPr>
          <p:cNvPr id="905" name="Google Shape;905;p72"/>
          <p:cNvSpPr/>
          <p:nvPr/>
        </p:nvSpPr>
        <p:spPr>
          <a:xfrm>
            <a:off x="4562460" y="3237706"/>
            <a:ext cx="3066676" cy="2064048"/>
          </a:xfrm>
          <a:prstGeom prst="rect">
            <a:avLst/>
          </a:prstGeom>
          <a:noFill/>
          <a:ln>
            <a:noFill/>
          </a:ln>
        </p:spPr>
        <p:txBody>
          <a:bodyPr anchorCtr="0" anchor="t" bIns="0" lIns="0" spcFirstLastPara="1" rIns="0" wrap="square" tIns="99725">
            <a:noAutofit/>
          </a:bodyPr>
          <a:lstStyle/>
          <a:p>
            <a:pPr indent="-396240" lvl="0" marL="396240" marR="0" rtl="0" algn="l">
              <a:lnSpc>
                <a:spcPct val="133000"/>
              </a:lnSpc>
              <a:spcBef>
                <a:spcPts val="0"/>
              </a:spcBef>
              <a:spcAft>
                <a:spcPts val="0"/>
              </a:spcAft>
              <a:buClr>
                <a:srgbClr val="CAD6DE"/>
              </a:buClr>
              <a:buSzPts val="1950"/>
              <a:buFont typeface="Cabin"/>
              <a:buChar char="•"/>
            </a:pPr>
            <a:r>
              <a:rPr b="0" i="0" lang="en-US" sz="1950" u="none" cap="none" strike="noStrike">
                <a:solidFill>
                  <a:srgbClr val="CAD6DE"/>
                </a:solidFill>
                <a:latin typeface="Cabin"/>
                <a:ea typeface="Cabin"/>
                <a:cs typeface="Cabin"/>
                <a:sym typeface="Cabin"/>
              </a:rPr>
              <a:t>100% formal verification using Kani Model Checking</a:t>
            </a:r>
            <a:endParaRPr b="0" i="0" sz="1950" u="none" cap="none" strike="noStrike">
              <a:solidFill>
                <a:schemeClr val="dk1"/>
              </a:solidFill>
              <a:latin typeface="Calibri"/>
              <a:ea typeface="Calibri"/>
              <a:cs typeface="Calibri"/>
              <a:sym typeface="Calibri"/>
            </a:endParaRPr>
          </a:p>
          <a:p>
            <a:pPr indent="-396240" lvl="0" marL="396240" marR="0" rtl="0" algn="l">
              <a:lnSpc>
                <a:spcPct val="133000"/>
              </a:lnSpc>
              <a:spcBef>
                <a:spcPts val="0"/>
              </a:spcBef>
              <a:spcAft>
                <a:spcPts val="0"/>
              </a:spcAft>
              <a:buClr>
                <a:srgbClr val="CAD6DE"/>
              </a:buClr>
              <a:buSzPts val="1950"/>
              <a:buFont typeface="Cabin"/>
              <a:buChar char="•"/>
            </a:pPr>
            <a:r>
              <a:rPr b="0" i="0" lang="en-US" sz="1950" u="none" cap="none" strike="noStrike">
                <a:solidFill>
                  <a:srgbClr val="CAD6DE"/>
                </a:solidFill>
                <a:latin typeface="Cabin"/>
                <a:ea typeface="Cabin"/>
                <a:cs typeface="Cabin"/>
                <a:sym typeface="Cabin"/>
              </a:rPr>
              <a:t>Safety guarantees for state transitions</a:t>
            </a:r>
            <a:endParaRPr b="0" i="0" sz="1950" u="none" cap="none" strike="noStrike">
              <a:solidFill>
                <a:schemeClr val="dk1"/>
              </a:solidFill>
              <a:latin typeface="Calibri"/>
              <a:ea typeface="Calibri"/>
              <a:cs typeface="Calibri"/>
              <a:sym typeface="Calibri"/>
            </a:endParaRPr>
          </a:p>
        </p:txBody>
      </p:sp>
      <p:sp>
        <p:nvSpPr>
          <p:cNvPr id="906" name="Google Shape;906;p72"/>
          <p:cNvSpPr/>
          <p:nvPr/>
        </p:nvSpPr>
        <p:spPr>
          <a:xfrm>
            <a:off x="8027985" y="1534220"/>
            <a:ext cx="3465624" cy="4728865"/>
          </a:xfrm>
          <a:prstGeom prst="roundRect">
            <a:avLst>
              <a:gd fmla="val 863"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72"/>
          <p:cNvSpPr/>
          <p:nvPr/>
        </p:nvSpPr>
        <p:spPr>
          <a:xfrm>
            <a:off x="9461561" y="1733649"/>
            <a:ext cx="598373" cy="598388"/>
          </a:xfrm>
          <a:prstGeom prst="ellipse">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8" name="Google Shape;908;p72"/>
          <p:cNvPicPr preferRelativeResize="0"/>
          <p:nvPr/>
        </p:nvPicPr>
        <p:blipFill rotWithShape="1">
          <a:blip r:embed="rId5">
            <a:alphaModFix/>
          </a:blip>
          <a:srcRect b="0" l="0" r="0" t="0"/>
          <a:stretch/>
        </p:blipFill>
        <p:spPr>
          <a:xfrm>
            <a:off x="9626062" y="1898154"/>
            <a:ext cx="269273" cy="269280"/>
          </a:xfrm>
          <a:prstGeom prst="rect">
            <a:avLst/>
          </a:prstGeom>
          <a:noFill/>
          <a:ln>
            <a:noFill/>
          </a:ln>
        </p:spPr>
      </p:pic>
      <p:sp>
        <p:nvSpPr>
          <p:cNvPr id="909" name="Google Shape;909;p72"/>
          <p:cNvSpPr/>
          <p:nvPr/>
        </p:nvSpPr>
        <p:spPr>
          <a:xfrm>
            <a:off x="8227410" y="2531467"/>
            <a:ext cx="3066775" cy="879872"/>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AD6DE"/>
              </a:buClr>
              <a:buSzPts val="1800"/>
              <a:buFont typeface="Unbounded"/>
              <a:buNone/>
            </a:pPr>
            <a:r>
              <a:rPr b="1" i="0" lang="en-US" sz="1800" u="none" cap="none" strike="noStrike">
                <a:solidFill>
                  <a:srgbClr val="CAD6DE"/>
                </a:solidFill>
                <a:latin typeface="Unbounded"/>
                <a:ea typeface="Unbounded"/>
                <a:cs typeface="Unbounded"/>
                <a:sym typeface="Unbounded"/>
              </a:rPr>
              <a:t>Decentralized 3D Navigation &amp; Collision Avoidance</a:t>
            </a:r>
            <a:endParaRPr b="0" i="0" sz="1800" u="none" cap="none" strike="noStrike">
              <a:solidFill>
                <a:schemeClr val="dk1"/>
              </a:solidFill>
              <a:latin typeface="Calibri"/>
              <a:ea typeface="Calibri"/>
              <a:cs typeface="Calibri"/>
              <a:sym typeface="Calibri"/>
            </a:endParaRPr>
          </a:p>
        </p:txBody>
      </p:sp>
      <p:sp>
        <p:nvSpPr>
          <p:cNvPr id="910" name="Google Shape;910;p72"/>
          <p:cNvSpPr/>
          <p:nvPr/>
        </p:nvSpPr>
        <p:spPr>
          <a:xfrm>
            <a:off x="8227410" y="3530997"/>
            <a:ext cx="3066775" cy="2532658"/>
          </a:xfrm>
          <a:prstGeom prst="rect">
            <a:avLst/>
          </a:prstGeom>
          <a:noFill/>
          <a:ln>
            <a:noFill/>
          </a:ln>
        </p:spPr>
        <p:txBody>
          <a:bodyPr anchorCtr="0" anchor="t" bIns="0" lIns="0" spcFirstLastPara="1" rIns="0" wrap="square" tIns="99725">
            <a:noAutofit/>
          </a:bodyPr>
          <a:lstStyle/>
          <a:p>
            <a:pPr indent="-396240" lvl="0" marL="396240" marR="0" rtl="0" algn="l">
              <a:lnSpc>
                <a:spcPct val="133000"/>
              </a:lnSpc>
              <a:spcBef>
                <a:spcPts val="0"/>
              </a:spcBef>
              <a:spcAft>
                <a:spcPts val="0"/>
              </a:spcAft>
              <a:buClr>
                <a:srgbClr val="CAD6DE"/>
              </a:buClr>
              <a:buSzPts val="1950"/>
              <a:buFont typeface="Cabin"/>
              <a:buChar char="•"/>
            </a:pPr>
            <a:r>
              <a:rPr b="0" i="0" lang="en-US" sz="1950" u="none" cap="none" strike="noStrike">
                <a:solidFill>
                  <a:srgbClr val="CAD6DE"/>
                </a:solidFill>
                <a:latin typeface="Cabin"/>
                <a:ea typeface="Cabin"/>
                <a:cs typeface="Cabin"/>
                <a:sym typeface="Cabin"/>
              </a:rPr>
              <a:t>Real-time APF (Artificial Potential Fields)</a:t>
            </a:r>
            <a:endParaRPr b="0" i="0" sz="1950" u="none" cap="none" strike="noStrike">
              <a:solidFill>
                <a:schemeClr val="dk1"/>
              </a:solidFill>
              <a:latin typeface="Calibri"/>
              <a:ea typeface="Calibri"/>
              <a:cs typeface="Calibri"/>
              <a:sym typeface="Calibri"/>
            </a:endParaRPr>
          </a:p>
          <a:p>
            <a:pPr indent="-396240" lvl="0" marL="396240" marR="0" rtl="0" algn="l">
              <a:lnSpc>
                <a:spcPct val="133000"/>
              </a:lnSpc>
              <a:spcBef>
                <a:spcPts val="0"/>
              </a:spcBef>
              <a:spcAft>
                <a:spcPts val="0"/>
              </a:spcAft>
              <a:buClr>
                <a:srgbClr val="CAD6DE"/>
              </a:buClr>
              <a:buSzPts val="1950"/>
              <a:buFont typeface="Cabin"/>
              <a:buChar char="•"/>
            </a:pPr>
            <a:r>
              <a:rPr b="0" i="0" lang="en-US" sz="1950" u="none" cap="none" strike="noStrike">
                <a:solidFill>
                  <a:srgbClr val="CAD6DE"/>
                </a:solidFill>
                <a:latin typeface="Cabin"/>
                <a:ea typeface="Cabin"/>
                <a:cs typeface="Cabin"/>
                <a:sym typeface="Cabin"/>
              </a:rPr>
              <a:t>Autonomous obstacle avoidance</a:t>
            </a:r>
            <a:endParaRPr b="0" i="0" sz="1950" u="none" cap="none" strike="noStrike">
              <a:solidFill>
                <a:schemeClr val="dk1"/>
              </a:solidFill>
              <a:latin typeface="Calibri"/>
              <a:ea typeface="Calibri"/>
              <a:cs typeface="Calibri"/>
              <a:sym typeface="Calibri"/>
            </a:endParaRPr>
          </a:p>
          <a:p>
            <a:pPr indent="-396240" lvl="0" marL="396240" marR="0" rtl="0" algn="l">
              <a:lnSpc>
                <a:spcPct val="133000"/>
              </a:lnSpc>
              <a:spcBef>
                <a:spcPts val="0"/>
              </a:spcBef>
              <a:spcAft>
                <a:spcPts val="0"/>
              </a:spcAft>
              <a:buClr>
                <a:srgbClr val="CAD6DE"/>
              </a:buClr>
              <a:buSzPts val="1950"/>
              <a:buFont typeface="Cabin"/>
              <a:buChar char="•"/>
            </a:pPr>
            <a:r>
              <a:rPr b="0" i="0" lang="en-US" sz="1950" u="none" cap="none" strike="noStrike">
                <a:solidFill>
                  <a:srgbClr val="CAD6DE"/>
                </a:solidFill>
                <a:latin typeface="Cabin"/>
                <a:ea typeface="Cabin"/>
                <a:cs typeface="Cabin"/>
                <a:sym typeface="Cabin"/>
              </a:rPr>
              <a:t>Smart leader selection and reconfiguration</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73"/>
          <p:cNvSpPr/>
          <p:nvPr/>
        </p:nvSpPr>
        <p:spPr>
          <a:xfrm>
            <a:off x="698086" y="1597223"/>
            <a:ext cx="10795524" cy="161925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5100"/>
              <a:buFont typeface="Unbounded"/>
              <a:buNone/>
            </a:pPr>
            <a:r>
              <a:rPr b="0" i="0" lang="en-US" sz="5100" u="none" cap="none" strike="noStrike">
                <a:solidFill>
                  <a:srgbClr val="FFFFFF"/>
                </a:solidFill>
                <a:latin typeface="Unbounded"/>
                <a:ea typeface="Unbounded"/>
                <a:cs typeface="Unbounded"/>
                <a:sym typeface="Unbounded"/>
              </a:rPr>
              <a:t>Thanks for Your Attention</a:t>
            </a:r>
            <a:endParaRPr b="0" i="0" sz="5100" u="none" cap="none" strike="noStrike">
              <a:solidFill>
                <a:schemeClr val="dk1"/>
              </a:solidFill>
              <a:latin typeface="Calibri"/>
              <a:ea typeface="Calibri"/>
              <a:cs typeface="Calibri"/>
              <a:sym typeface="Calibri"/>
            </a:endParaRPr>
          </a:p>
        </p:txBody>
      </p:sp>
      <p:sp>
        <p:nvSpPr>
          <p:cNvPr id="917" name="Google Shape;917;p73"/>
          <p:cNvSpPr/>
          <p:nvPr/>
        </p:nvSpPr>
        <p:spPr>
          <a:xfrm>
            <a:off x="698086" y="3615432"/>
            <a:ext cx="10795524" cy="164524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A988B"/>
              </a:buClr>
              <a:buSzPts val="1950"/>
              <a:buFont typeface="Cabin"/>
              <a:buNone/>
            </a:pPr>
            <a:r>
              <a:rPr b="0" i="0" lang="en-US" sz="1950" u="none" cap="none" strike="noStrike">
                <a:solidFill>
                  <a:srgbClr val="0A988B"/>
                </a:solidFill>
                <a:latin typeface="Cabin"/>
                <a:ea typeface="Cabin"/>
                <a:cs typeface="Cabin"/>
                <a:sym typeface="Cabin"/>
              </a:rPr>
              <a:t>Student:</a:t>
            </a:r>
            <a:r>
              <a:rPr b="0" i="0" lang="en-US" sz="1950" u="none" cap="none" strike="noStrike">
                <a:solidFill>
                  <a:srgbClr val="CAD6DE"/>
                </a:solidFill>
                <a:latin typeface="Cabin"/>
                <a:ea typeface="Cabin"/>
                <a:cs typeface="Cabin"/>
                <a:sym typeface="Cabin"/>
              </a:rPr>
              <a:t> Francesco Raimondo</a:t>
            </a:r>
            <a:endParaRPr b="0" i="0" sz="1950" u="none" cap="none" strike="noStrike">
              <a:solidFill>
                <a:schemeClr val="dk1"/>
              </a:solidFill>
              <a:latin typeface="Calibri"/>
              <a:ea typeface="Calibri"/>
              <a:cs typeface="Calibri"/>
              <a:sym typeface="Calibri"/>
            </a:endParaRPr>
          </a:p>
          <a:p>
            <a:pPr indent="0" lvl="0" marL="0" marR="0" rtl="0" algn="l">
              <a:lnSpc>
                <a:spcPct val="133000"/>
              </a:lnSpc>
              <a:spcBef>
                <a:spcPts val="1750"/>
              </a:spcBef>
              <a:spcAft>
                <a:spcPts val="0"/>
              </a:spcAft>
              <a:buClr>
                <a:srgbClr val="0A988B"/>
              </a:buClr>
              <a:buSzPts val="1950"/>
              <a:buFont typeface="Cabin"/>
              <a:buNone/>
            </a:pPr>
            <a:r>
              <a:rPr b="0" i="0" lang="en-US" sz="1950" u="none" cap="none" strike="noStrike">
                <a:solidFill>
                  <a:srgbClr val="0A988B"/>
                </a:solidFill>
                <a:latin typeface="Cabin"/>
                <a:ea typeface="Cabin"/>
                <a:cs typeface="Cabin"/>
                <a:sym typeface="Cabin"/>
              </a:rPr>
              <a:t>Course:</a:t>
            </a:r>
            <a:r>
              <a:rPr b="0" i="0" lang="en-US" sz="1950" u="none" cap="none" strike="noStrike">
                <a:solidFill>
                  <a:srgbClr val="CAD6DE"/>
                </a:solidFill>
                <a:latin typeface="Cabin"/>
                <a:ea typeface="Cabin"/>
                <a:cs typeface="Cabin"/>
                <a:sym typeface="Cabin"/>
              </a:rPr>
              <a:t> Engineering in Computer Science, University of Messina</a:t>
            </a:r>
            <a:endParaRPr b="0" i="0" sz="1950" u="none" cap="none" strike="noStrike">
              <a:solidFill>
                <a:schemeClr val="dk1"/>
              </a:solidFill>
              <a:latin typeface="Calibri"/>
              <a:ea typeface="Calibri"/>
              <a:cs typeface="Calibri"/>
              <a:sym typeface="Calibri"/>
            </a:endParaRPr>
          </a:p>
          <a:p>
            <a:pPr indent="0" lvl="0" marL="0" marR="0" rtl="0" algn="l">
              <a:lnSpc>
                <a:spcPct val="133000"/>
              </a:lnSpc>
              <a:spcBef>
                <a:spcPts val="1750"/>
              </a:spcBef>
              <a:spcAft>
                <a:spcPts val="0"/>
              </a:spcAft>
              <a:buClr>
                <a:srgbClr val="0A988B"/>
              </a:buClr>
              <a:buSzPts val="1950"/>
              <a:buFont typeface="Cabin"/>
              <a:buNone/>
            </a:pPr>
            <a:r>
              <a:rPr b="0" i="0" lang="en-US" sz="1950" u="none" cap="none" strike="noStrike">
                <a:solidFill>
                  <a:srgbClr val="0A988B"/>
                </a:solidFill>
                <a:latin typeface="Cabin"/>
                <a:ea typeface="Cabin"/>
                <a:cs typeface="Cabin"/>
                <a:sym typeface="Cabin"/>
              </a:rPr>
              <a:t>GitHub Repository:</a:t>
            </a:r>
            <a:r>
              <a:rPr b="0" i="0" lang="en-US" sz="1950" u="none" cap="none" strike="noStrike">
                <a:solidFill>
                  <a:srgbClr val="FFFFFF"/>
                </a:solidFill>
                <a:latin typeface="Cabin"/>
                <a:ea typeface="Cabin"/>
                <a:cs typeface="Cabin"/>
                <a:sym typeface="Cabin"/>
              </a:rPr>
              <a:t> </a:t>
            </a:r>
            <a:r>
              <a:rPr b="1" i="0" lang="en-US" sz="1950" u="sng" cap="none" strike="noStrike">
                <a:solidFill>
                  <a:schemeClr val="hlink"/>
                </a:solidFill>
                <a:latin typeface="Cabin"/>
                <a:ea typeface="Cabin"/>
                <a:cs typeface="Cabin"/>
                <a:sym typeface="Cabin"/>
                <a:hlinkClick r:id="rId3"/>
              </a:rPr>
              <a:t>https://github.com/francesco-raimondo/iiot-drone-coordinator-rust-docker</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A988B"/>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A988B"/>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